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One question: when Qwen3-32B "knows" who wrote a paper, at which layer does that knowledge show up? 9,108 papers, every author name token, read out layer by layer.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Earlier labels: for about half of the papers the model cannot write the authors when asked openly, but picks the true author list in a 4-option multiple choice. We call these target papers. Control papers: cannot write, cannot pick. If recognition is already computed in middle layers, a lens should read the right names better for target than control there.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9,108 papers across 8 fields, years 1817-2020, citations 0 to 63,901 in 13 bins. Each author is scored alone: 33,811 author contexts, 149,999 name tokens.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 Prompt: Who are the authors of the paper titled "..." (year)? Authors: then one author name. Teacher forcing: at each name token we ask what rank the correct token gets. Readouts: logit lens, three Jacobian lenses (public from Neuronpedia, self100, fitA), and the real model output. Layers 24 to 62. Metric log10(1/rank): 0 = rank 1, -1 = rank 10. Each paper is also run with 5 matched false titles and with no title; title-specific signal = true minus mean of the false titles, so name guessability cancels 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Checks before trusting numbers: the fast path matches a per-prefix reference up to bf16 rounding; ranks match a previous stage on 972 tokens; punctuation tokens, which cannot depend on the title, show no title-specific signal. The parity tolerance was raised from 0.25 to 0.5 after seeing the results - say this openly.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readouts get better with depth. The logit lens reads almost nothing before L48 (ranks in the tens of thousands) and jumps at L62. Jacobian lenses read more from L40, fitA the most. The real output is best of all.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remove name guessability: true title minus false titles. Flat up to L48 for both groups. Starts at L56, big at L62 and the output. Target ends roughly twice as high as control.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slide. Target minus control within citation bins. Left: true title only - middle layers are even slightly negative for the Jacobian lens. Right: title-specific part - about zero until L56, then +0.21 to +0.23 at L62 and the output. The target advantage is late and almost entirely title-specific.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Fine layers L50 to L61 were added afterwards for the logit lens and the public lens. The target advantage does not switch on at L62: for the logit lens the title-specific target minus control difference is +0.007 at L50, +0.03 at L54, +0.07 at L56, +0.11 at L58, +0.18 at L60 and +0.23 at L62. The public lens is negative up to L54 and turns positive at L57. The steepest rise is L57 to L61. Both groups peak at L61.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11 turns the readout question into interventions. 593 target and 593 control papers, matched within citation bins. Patching: run the paper with its true title and with a matched false title, and copy the true run hidden state into the false run at one layer. Knockout: forbid attention to the title tokens from layer l to the end. Probe: train a linear map from the last title token to the output state. Chain: score every author after the previous ones.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causal curves. Left: copying the hidden states of the tokens after the title (closing quote, year, Authors:, the name) from the true run into the false run recovers 29 percent at L40, 83 percent at L48 and everything from L52. Copying only the last title token recovers about 12 percent. Right: blocking attention to the title from L0 removes 83 percent of the effect, from L32 37 percent, from L48 6 percent, from L52 nothing. Blocking only the colon and name positions removes at most 15 percent, so the information is routed through the tokens right after the title. Target and control follow the same curves.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the author readable at the title itself? With the lenses, barely: about 0.01 to 0.03 title-specific signal at the last title token. A linear probe trained across papers gets more, 0.04 at L16 rising to 0.08 at L56, and a little more for target papers. Caution: a probe trained across papers can also pick up topic-to-name associations, not only this paper.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Author chain. When the earlier authors are in the context, later authors become easier: plus 0.17 to 0.23 for target, 0.12 to 0.18 for control. But the title matters less: the title-specific signal drops from 0.45 to 0.26 for later target authors, because the co-authors already identify the paper. Target still beats control within bins, plus 0.11 to 0.15.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Comparing lenses. On readout quality fitA is best in most middle layers, self100 at L40; at L48 the Jacobian lenses put the right token in the top 10 for 15-18% of tokens versus 1% for the logit lens. At L62 the plain logit lens is best.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Jacobian lenses see paper-specific information the logit lens misses? A little: +0.01 to +0.03 more title-specific signal at L24-L48, CIs above zero, but tiny next to 0.44 at L62. And it is not bigger for target: target minus control of that extra is about zero, negative at L48 and L56.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Citations. Within both groups the title-specific signal rises steadily with citation bin: target from +0.35 in bin 0-2 to +0.64 in 4097+. Spearman with log citations: 0.45 overall, 0.33 within target, 0.19 within control. The level itself changes much less - names are not easier to guess for famous papers, the model just knows famous papers better.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the signal decided by the first token? It depends on the name format. Initial-first names: the initial carries little, the signal is on the later tokens that include the surname. Given-name-first names: the given name carries about as much as the rest. Note teacher forcing: later tokens already see the correct prefix in every condition, so their title-specific signal can only come from the title.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knowing the first word make the rest easier? For a full given name, yes: when it is in the top 10 the surname is +0.22 better at the output, +0.32 for the logit lens at L62. For an initial, no. Mixing both formats would even show a negative effect, because initials are easy and the surnames after them are hard.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title-specific signal by token role at the output - surname first token carries most, initials least, punctuation about zero (negative control). Right: across all unrecalled papers, the more multiple-choice orders right, the better the model output (Spearman 0.27).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the five findings.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Limits and next steps. Patching and knockout now fix when the title is read (L24-L50) but not what happens inside those layers. Next: patch single positions after the title, localise the computation inside L24-L50, and repeat on a second model.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 Id="rId4" Type="http://schemas.openxmlformats.org/officeDocument/2006/relationships/image" Target="../media/image14.png"/><Relationship Id="rId5"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10515600" cy="1097280"/>
          </a:xfrm>
          <a:prstGeom prst="rect">
            <a:avLst/>
          </a:prstGeom>
          <a:noFill/>
        </p:spPr>
        <p:txBody>
          <a:bodyPr wrap="square" lIns="0" rIns="0" tIns="0" bIns="0" anchor="t">
            <a:spAutoFit/>
          </a:bodyPr>
          <a:lstStyle/>
          <a:p>
            <a:pPr algn="l">
              <a:spcAft>
                <a:spcPts val="800"/>
              </a:spcAft>
            </a:pPr>
            <a:r>
              <a:rPr sz="6600" b="1">
                <a:solidFill>
                  <a:srgbClr val="2B2D42"/>
                </a:solidFill>
                <a:latin typeface="Caveat"/>
              </a:rPr>
              <a:t>Where does Qwen3-32B</a:t>
            </a:r>
          </a:p>
        </p:txBody>
      </p:sp>
      <p:sp>
        <p:nvSpPr>
          <p:cNvPr id="4" name="TextBox 3"/>
          <p:cNvSpPr txBox="1"/>
          <p:nvPr/>
        </p:nvSpPr>
        <p:spPr>
          <a:xfrm>
            <a:off x="822960" y="2423160"/>
            <a:ext cx="10515600" cy="1097280"/>
          </a:xfrm>
          <a:prstGeom prst="rect">
            <a:avLst/>
          </a:prstGeom>
          <a:noFill/>
        </p:spPr>
        <p:txBody>
          <a:bodyPr wrap="square" lIns="0" rIns="0" tIns="0" bIns="0" anchor="t">
            <a:spAutoFit/>
          </a:bodyPr>
          <a:lstStyle/>
          <a:p>
            <a:pPr algn="l">
              <a:spcAft>
                <a:spcPts val="800"/>
              </a:spcAft>
            </a:pPr>
            <a:r>
              <a:rPr sz="6600" b="1">
                <a:solidFill>
                  <a:srgbClr val="E07A2F"/>
                </a:solidFill>
                <a:latin typeface="Caveat"/>
              </a:rPr>
              <a:t>hold</a:t>
            </a:r>
            <a:r>
              <a:rPr sz="6600" b="1">
                <a:solidFill>
                  <a:srgbClr val="2B2D42"/>
                </a:solidFill>
                <a:latin typeface="Caveat"/>
              </a:rPr>
              <a:t> a paper's authors?</a:t>
            </a:r>
          </a:p>
        </p:txBody>
      </p:sp>
      <p:sp>
        <p:nvSpPr>
          <p:cNvPr id="5" name="TextBox 4"/>
          <p:cNvSpPr txBox="1"/>
          <p:nvPr/>
        </p:nvSpPr>
        <p:spPr>
          <a:xfrm>
            <a:off x="868680" y="3703320"/>
            <a:ext cx="9601200" cy="548640"/>
          </a:xfrm>
          <a:prstGeom prst="rect">
            <a:avLst/>
          </a:prstGeom>
          <a:noFill/>
        </p:spPr>
        <p:txBody>
          <a:bodyPr wrap="square" lIns="0" rIns="0" tIns="0" bIns="0" anchor="t">
            <a:spAutoFit/>
          </a:bodyPr>
          <a:lstStyle/>
          <a:p>
            <a:pPr algn="l">
              <a:spcAft>
                <a:spcPts val="800"/>
              </a:spcAft>
            </a:pPr>
            <a:r>
              <a:rPr sz="2600" b="0">
                <a:solidFill>
                  <a:srgbClr val="6E7080"/>
                </a:solidFill>
                <a:latin typeface="Patrick Hand"/>
              </a:rPr>
              <a:t>A layer-by-layer readout of author names for 9,108 papers</a:t>
            </a:r>
          </a:p>
        </p:txBody>
      </p:sp>
      <p:sp>
        <p:nvSpPr>
          <p:cNvPr id="6" name="Rectangle 5"/>
          <p:cNvSpPr/>
          <p:nvPr/>
        </p:nvSpPr>
        <p:spPr>
          <a:xfrm rot="120000">
            <a:off x="8138160" y="4572000"/>
            <a:ext cx="3291840" cy="132588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2000" b="1">
                <a:solidFill>
                  <a:srgbClr val="2B2D42"/>
                </a:solidFill>
                <a:latin typeface="Patrick Hand"/>
              </a:rPr>
              <a:t>Stage 10 · jlens</a:t>
            </a:r>
          </a:p>
          <a:p>
            <a:pPr algn="l">
              <a:spcAft>
                <a:spcPts val="900"/>
              </a:spcAft>
            </a:pPr>
            <a:r>
              <a:rPr sz="2000" b="0">
                <a:solidFill>
                  <a:srgbClr val="2B2D42"/>
                </a:solidFill>
                <a:latin typeface="Patrick Hand"/>
              </a:rPr>
              <a:t>Qwen3-32B · 2026-10-26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The question</a:t>
            </a:r>
          </a:p>
        </p:txBody>
      </p:sp>
      <p:sp>
        <p:nvSpPr>
          <p:cNvPr id="4" name="Rounded Rectangle 3"/>
          <p:cNvSpPr/>
          <p:nvPr/>
        </p:nvSpPr>
        <p:spPr>
          <a:xfrm rot="21540000">
            <a:off x="822960" y="1737360"/>
            <a:ext cx="4846320" cy="2011680"/>
          </a:xfrm>
          <a:prstGeom prst="roundRect">
            <a:avLst>
              <a:gd name="adj" fmla="val 8000"/>
            </a:avLst>
          </a:prstGeom>
          <a:noFill/>
          <a:ln w="28575">
            <a:solidFill>
              <a:srgbClr val="E07A2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1900" b="1">
                <a:solidFill>
                  <a:srgbClr val="E07A2F"/>
                </a:solidFill>
                <a:latin typeface="Patrick Hand"/>
              </a:rPr>
              <a:t>target  (4,621 papers)</a:t>
            </a:r>
          </a:p>
          <a:p>
            <a:pPr algn="ctr">
              <a:spcAft>
                <a:spcPts val="400"/>
              </a:spcAft>
            </a:pPr>
            <a:r>
              <a:rPr sz="1900" b="0">
                <a:solidFill>
                  <a:srgbClr val="E07A2F"/>
                </a:solidFill>
                <a:latin typeface="Patrick Hand"/>
              </a:rPr>
              <a:t>can't write the authors</a:t>
            </a:r>
          </a:p>
          <a:p>
            <a:pPr algn="ctr">
              <a:spcAft>
                <a:spcPts val="400"/>
              </a:spcAft>
            </a:pPr>
            <a:r>
              <a:rPr sz="1900" b="0">
                <a:solidFill>
                  <a:srgbClr val="E07A2F"/>
                </a:solidFill>
                <a:latin typeface="Patrick Hand"/>
              </a:rPr>
              <a:t>but picks the true list 4/4 times</a:t>
            </a:r>
          </a:p>
        </p:txBody>
      </p:sp>
      <p:sp>
        <p:nvSpPr>
          <p:cNvPr id="5" name="Rounded Rectangle 4"/>
          <p:cNvSpPr/>
          <p:nvPr/>
        </p:nvSpPr>
        <p:spPr>
          <a:xfrm rot="60000">
            <a:off x="822960" y="4069080"/>
            <a:ext cx="4846320" cy="1828800"/>
          </a:xfrm>
          <a:prstGeom prst="roundRect">
            <a:avLst>
              <a:gd name="adj" fmla="val 8000"/>
            </a:avLst>
          </a:prstGeom>
          <a:noFill/>
          <a:ln w="28575">
            <a:solidFill>
              <a:srgbClr val="3A6EA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1900" b="1">
                <a:solidFill>
                  <a:srgbClr val="3A6EA5"/>
                </a:solidFill>
                <a:latin typeface="Patrick Hand"/>
              </a:rPr>
              <a:t>control  (2,220 papers)</a:t>
            </a:r>
          </a:p>
          <a:p>
            <a:pPr algn="ctr">
              <a:spcAft>
                <a:spcPts val="400"/>
              </a:spcAft>
            </a:pPr>
            <a:r>
              <a:rPr sz="1900" b="0">
                <a:solidFill>
                  <a:srgbClr val="3A6EA5"/>
                </a:solidFill>
                <a:latin typeface="Patrick Hand"/>
              </a:rPr>
              <a:t>can't write the authors</a:t>
            </a:r>
          </a:p>
          <a:p>
            <a:pPr algn="ctr">
              <a:spcAft>
                <a:spcPts val="400"/>
              </a:spcAft>
            </a:pPr>
            <a:r>
              <a:rPr sz="1900" b="0">
                <a:solidFill>
                  <a:srgbClr val="3A6EA5"/>
                </a:solidFill>
                <a:latin typeface="Patrick Hand"/>
              </a:rPr>
              <a:t>and can't pick the true list</a:t>
            </a:r>
          </a:p>
        </p:txBody>
      </p:sp>
      <p:sp>
        <p:nvSpPr>
          <p:cNvPr id="6" name="TextBox 5"/>
          <p:cNvSpPr txBox="1"/>
          <p:nvPr/>
        </p:nvSpPr>
        <p:spPr>
          <a:xfrm>
            <a:off x="6309360" y="1828800"/>
            <a:ext cx="5303520" cy="3200400"/>
          </a:xfrm>
          <a:prstGeom prst="rect">
            <a:avLst/>
          </a:prstGeom>
          <a:noFill/>
        </p:spPr>
        <p:txBody>
          <a:bodyPr wrap="square" lIns="0" rIns="0" tIns="0" bIns="0" anchor="t">
            <a:spAutoFit/>
          </a:bodyPr>
          <a:lstStyle/>
          <a:p>
            <a:pPr algn="l">
              <a:spcAft>
                <a:spcPts val="1800"/>
              </a:spcAft>
            </a:pPr>
            <a:r>
              <a:rPr sz="2300" b="0">
                <a:solidFill>
                  <a:srgbClr val="2B2D42"/>
                </a:solidFill>
                <a:latin typeface="Patrick Hand"/>
              </a:rPr>
              <a:t>If the model already </a:t>
            </a:r>
            <a:r>
              <a:rPr sz="2300" b="1">
                <a:solidFill>
                  <a:srgbClr val="2B2D42"/>
                </a:solidFill>
                <a:latin typeface="Patrick Hand"/>
              </a:rPr>
              <a:t>knows</a:t>
            </a:r>
            <a:r>
              <a:rPr sz="2300" b="0">
                <a:solidFill>
                  <a:srgbClr val="2B2D42"/>
                </a:solidFill>
                <a:latin typeface="Patrick Hand"/>
              </a:rPr>
              <a:t> target authors in its middle layers and only fails to say them, a lens on those layers should read the right name </a:t>
            </a:r>
            <a:r>
              <a:rPr sz="2300" b="1">
                <a:solidFill>
                  <a:srgbClr val="E07A2F"/>
                </a:solidFill>
                <a:latin typeface="Patrick Hand"/>
              </a:rPr>
              <a:t>better for target than control</a:t>
            </a:r>
            <a:r>
              <a:rPr sz="2300" b="0">
                <a:solidFill>
                  <a:srgbClr val="2B2D42"/>
                </a:solidFill>
                <a:latin typeface="Patrick Hand"/>
              </a:rPr>
              <a:t>.</a:t>
            </a:r>
          </a:p>
          <a:p>
            <a:pPr algn="l">
              <a:spcAft>
                <a:spcPts val="1800"/>
              </a:spcAft>
            </a:pPr>
            <a:r>
              <a:rPr sz="2300" b="0">
                <a:solidFill>
                  <a:srgbClr val="2B2D42"/>
                </a:solidFill>
                <a:latin typeface="Patrick Hand"/>
              </a:rPr>
              <a:t>If the knowledge is only assembled at the end, the gap should appear only near the output.</a:t>
            </a:r>
          </a:p>
        </p:txBody>
      </p:sp>
      <p:sp>
        <p:nvSpPr>
          <p:cNvPr id="7" name="Rectangle 6"/>
          <p:cNvSpPr/>
          <p:nvPr/>
        </p:nvSpPr>
        <p:spPr>
          <a:xfrm rot="21480000">
            <a:off x="6766560" y="4800600"/>
            <a:ext cx="4206240" cy="109728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2000" b="1">
                <a:solidFill>
                  <a:srgbClr val="2B2D42"/>
                </a:solidFill>
                <a:latin typeface="Patrick Hand"/>
              </a:rPr>
              <a:t>So: at which layer does target pull ahead of control?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The data</a:t>
            </a:r>
          </a:p>
        </p:txBody>
      </p:sp>
      <p:sp>
        <p:nvSpPr>
          <p:cNvPr id="4" name="TextBox 3"/>
          <p:cNvSpPr txBox="1"/>
          <p:nvPr/>
        </p:nvSpPr>
        <p:spPr>
          <a:xfrm>
            <a:off x="822960" y="1600200"/>
            <a:ext cx="2651760" cy="914400"/>
          </a:xfrm>
          <a:prstGeom prst="rect">
            <a:avLst/>
          </a:prstGeom>
          <a:noFill/>
        </p:spPr>
        <p:txBody>
          <a:bodyPr wrap="square" lIns="0" rIns="0" tIns="0" bIns="0" anchor="t">
            <a:spAutoFit/>
          </a:bodyPr>
          <a:lstStyle/>
          <a:p>
            <a:pPr algn="l">
              <a:spcAft>
                <a:spcPts val="800"/>
              </a:spcAft>
            </a:pPr>
            <a:r>
              <a:rPr sz="5400" b="1">
                <a:solidFill>
                  <a:srgbClr val="E07A2F"/>
                </a:solidFill>
                <a:latin typeface="Caveat"/>
              </a:rPr>
              <a:t>9,108</a:t>
            </a:r>
          </a:p>
        </p:txBody>
      </p:sp>
      <p:sp>
        <p:nvSpPr>
          <p:cNvPr id="5" name="TextBox 4"/>
          <p:cNvSpPr txBox="1"/>
          <p:nvPr/>
        </p:nvSpPr>
        <p:spPr>
          <a:xfrm>
            <a:off x="822960" y="2514600"/>
            <a:ext cx="2560320" cy="54864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papers, 8 fields</a:t>
            </a:r>
          </a:p>
        </p:txBody>
      </p:sp>
      <p:sp>
        <p:nvSpPr>
          <p:cNvPr id="6" name="TextBox 5"/>
          <p:cNvSpPr txBox="1"/>
          <p:nvPr/>
        </p:nvSpPr>
        <p:spPr>
          <a:xfrm>
            <a:off x="3657600" y="1600200"/>
            <a:ext cx="2651760" cy="914400"/>
          </a:xfrm>
          <a:prstGeom prst="rect">
            <a:avLst/>
          </a:prstGeom>
          <a:noFill/>
        </p:spPr>
        <p:txBody>
          <a:bodyPr wrap="square" lIns="0" rIns="0" tIns="0" bIns="0" anchor="t">
            <a:spAutoFit/>
          </a:bodyPr>
          <a:lstStyle/>
          <a:p>
            <a:pPr algn="l">
              <a:spcAft>
                <a:spcPts val="800"/>
              </a:spcAft>
            </a:pPr>
            <a:r>
              <a:rPr sz="5400" b="1">
                <a:solidFill>
                  <a:srgbClr val="3A6EA5"/>
                </a:solidFill>
                <a:latin typeface="Caveat"/>
              </a:rPr>
              <a:t>33,811</a:t>
            </a:r>
          </a:p>
        </p:txBody>
      </p:sp>
      <p:sp>
        <p:nvSpPr>
          <p:cNvPr id="7" name="TextBox 6"/>
          <p:cNvSpPr txBox="1"/>
          <p:nvPr/>
        </p:nvSpPr>
        <p:spPr>
          <a:xfrm>
            <a:off x="3657600" y="2514600"/>
            <a:ext cx="2560320" cy="54864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author names</a:t>
            </a:r>
          </a:p>
        </p:txBody>
      </p:sp>
      <p:sp>
        <p:nvSpPr>
          <p:cNvPr id="8" name="TextBox 7"/>
          <p:cNvSpPr txBox="1"/>
          <p:nvPr/>
        </p:nvSpPr>
        <p:spPr>
          <a:xfrm>
            <a:off x="6492240" y="1600200"/>
            <a:ext cx="2651760" cy="914400"/>
          </a:xfrm>
          <a:prstGeom prst="rect">
            <a:avLst/>
          </a:prstGeom>
          <a:noFill/>
        </p:spPr>
        <p:txBody>
          <a:bodyPr wrap="square" lIns="0" rIns="0" tIns="0" bIns="0" anchor="t">
            <a:spAutoFit/>
          </a:bodyPr>
          <a:lstStyle/>
          <a:p>
            <a:pPr algn="l">
              <a:spcAft>
                <a:spcPts val="800"/>
              </a:spcAft>
            </a:pPr>
            <a:r>
              <a:rPr sz="5400" b="1">
                <a:solidFill>
                  <a:srgbClr val="3C8D5A"/>
                </a:solidFill>
                <a:latin typeface="Caveat"/>
              </a:rPr>
              <a:t>149,999</a:t>
            </a:r>
          </a:p>
        </p:txBody>
      </p:sp>
      <p:sp>
        <p:nvSpPr>
          <p:cNvPr id="9" name="TextBox 8"/>
          <p:cNvSpPr txBox="1"/>
          <p:nvPr/>
        </p:nvSpPr>
        <p:spPr>
          <a:xfrm>
            <a:off x="6492240" y="2514600"/>
            <a:ext cx="2560320" cy="54864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name tokens scored</a:t>
            </a:r>
          </a:p>
        </p:txBody>
      </p:sp>
      <p:sp>
        <p:nvSpPr>
          <p:cNvPr id="10" name="TextBox 9"/>
          <p:cNvSpPr txBox="1"/>
          <p:nvPr/>
        </p:nvSpPr>
        <p:spPr>
          <a:xfrm>
            <a:off x="9326880" y="1600200"/>
            <a:ext cx="2651760" cy="914400"/>
          </a:xfrm>
          <a:prstGeom prst="rect">
            <a:avLst/>
          </a:prstGeom>
          <a:noFill/>
        </p:spPr>
        <p:txBody>
          <a:bodyPr wrap="square" lIns="0" rIns="0" tIns="0" bIns="0" anchor="t">
            <a:spAutoFit/>
          </a:bodyPr>
          <a:lstStyle/>
          <a:p>
            <a:pPr algn="l">
              <a:spcAft>
                <a:spcPts val="800"/>
              </a:spcAft>
            </a:pPr>
            <a:r>
              <a:rPr sz="5400" b="1">
                <a:solidFill>
                  <a:srgbClr val="2B2D42"/>
                </a:solidFill>
                <a:latin typeface="Caveat"/>
              </a:rPr>
              <a:t>13</a:t>
            </a:r>
          </a:p>
        </p:txBody>
      </p:sp>
      <p:sp>
        <p:nvSpPr>
          <p:cNvPr id="11" name="TextBox 10"/>
          <p:cNvSpPr txBox="1"/>
          <p:nvPr/>
        </p:nvSpPr>
        <p:spPr>
          <a:xfrm>
            <a:off x="9326880" y="2514600"/>
            <a:ext cx="2560320" cy="54864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citation bins (0 to 63,901)</a:t>
            </a:r>
          </a:p>
        </p:txBody>
      </p:sp>
      <p:sp>
        <p:nvSpPr>
          <p:cNvPr id="12" name="TextBox 11"/>
          <p:cNvSpPr txBox="1"/>
          <p:nvPr/>
        </p:nvSpPr>
        <p:spPr>
          <a:xfrm>
            <a:off x="822960" y="3566160"/>
            <a:ext cx="6035040" cy="2560320"/>
          </a:xfrm>
          <a:prstGeom prst="rect">
            <a:avLst/>
          </a:prstGeom>
          <a:noFill/>
        </p:spPr>
        <p:txBody>
          <a:bodyPr wrap="square" lIns="0" rIns="0" tIns="0" bIns="0" anchor="t">
            <a:spAutoFit/>
          </a:bodyPr>
          <a:lstStyle/>
          <a:p>
            <a:pPr algn="l">
              <a:spcAft>
                <a:spcPts val="1200"/>
              </a:spcAft>
            </a:pPr>
            <a:r>
              <a:rPr sz="2000" b="1">
                <a:solidFill>
                  <a:srgbClr val="2B2D42"/>
                </a:solidFill>
                <a:latin typeface="Patrick Hand"/>
              </a:rPr>
              <a:t>Groups</a:t>
            </a:r>
            <a:r>
              <a:rPr sz="2000" b="0">
                <a:solidFill>
                  <a:srgbClr val="2B2D42"/>
                </a:solidFill>
                <a:latin typeface="Patrick Hand"/>
              </a:rPr>
              <a:t> (from an earlier labelling run of the same model)</a:t>
            </a:r>
          </a:p>
          <a:p>
            <a:pPr algn="l">
              <a:spcAft>
                <a:spcPts val="1200"/>
              </a:spcAft>
            </a:pPr>
            <a:r>
              <a:rPr sz="2000" b="1">
                <a:solidFill>
                  <a:srgbClr val="E07A2F"/>
                </a:solidFill>
                <a:latin typeface="Patrick Hand"/>
              </a:rPr>
              <a:t>target</a:t>
            </a:r>
            <a:r>
              <a:rPr sz="2000" b="0">
                <a:solidFill>
                  <a:srgbClr val="2B2D42"/>
                </a:solidFill>
                <a:latin typeface="Patrick Hand"/>
              </a:rPr>
              <a:t>  4,621   ·   </a:t>
            </a:r>
            <a:r>
              <a:rPr sz="2000" b="1">
                <a:solidFill>
                  <a:srgbClr val="3A6EA5"/>
                </a:solidFill>
                <a:latin typeface="Patrick Hand"/>
              </a:rPr>
              <a:t>control</a:t>
            </a:r>
            <a:r>
              <a:rPr sz="2000" b="0">
                <a:solidFill>
                  <a:srgbClr val="2B2D42"/>
                </a:solidFill>
                <a:latin typeface="Patrick Hand"/>
              </a:rPr>
              <a:t>  2,220</a:t>
            </a:r>
          </a:p>
          <a:p>
            <a:pPr algn="l">
              <a:spcAft>
                <a:spcPts val="1200"/>
              </a:spcAft>
            </a:pPr>
            <a:r>
              <a:rPr sz="2000" b="0">
                <a:solidFill>
                  <a:srgbClr val="2B2D42"/>
                </a:solidFill>
                <a:latin typeface="Patrick Hand"/>
              </a:rPr>
              <a:t>guard (writes the authors)  214   ·   excluded  2,053</a:t>
            </a:r>
          </a:p>
          <a:p>
            <a:pPr algn="l">
              <a:spcAft>
                <a:spcPts val="1200"/>
              </a:spcAft>
            </a:pPr>
            <a:r>
              <a:rPr sz="2000" b="0">
                <a:solidFill>
                  <a:srgbClr val="2B2D42"/>
                </a:solidFill>
                <a:latin typeface="Patrick Hand"/>
              </a:rPr>
              <a:t>Medicine, biology, CS, psychology, chemistry, maths, physics, materials science: ~1,100 papers each</a:t>
            </a:r>
          </a:p>
        </p:txBody>
      </p:sp>
      <p:sp>
        <p:nvSpPr>
          <p:cNvPr id="13" name="Rectangle 12"/>
          <p:cNvSpPr/>
          <p:nvPr/>
        </p:nvSpPr>
        <p:spPr>
          <a:xfrm rot="90000">
            <a:off x="7498079" y="3749039"/>
            <a:ext cx="3931920" cy="210312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900" b="1">
                <a:solidFill>
                  <a:srgbClr val="2B2D42"/>
                </a:solidFill>
                <a:latin typeface="Patrick Hand"/>
              </a:rPr>
              <a:t>Name formats</a:t>
            </a:r>
          </a:p>
          <a:p>
            <a:pPr algn="l">
              <a:spcAft>
                <a:spcPts val="900"/>
              </a:spcAft>
            </a:pPr>
            <a:r>
              <a:rPr sz="1900" b="0">
                <a:solidFill>
                  <a:srgbClr val="2B2D42"/>
                </a:solidFill>
                <a:latin typeface="Patrick Hand"/>
              </a:rPr>
              <a:t>73% start with an initial  ("S. Bree")</a:t>
            </a:r>
          </a:p>
          <a:p>
            <a:pPr algn="l">
              <a:spcAft>
                <a:spcPts val="900"/>
              </a:spcAft>
            </a:pPr>
            <a:r>
              <a:rPr sz="1900" b="0">
                <a:solidFill>
                  <a:srgbClr val="2B2D42"/>
                </a:solidFill>
                <a:latin typeface="Patrick Hand"/>
              </a:rPr>
              <a:t>26% start with a full given name  ("Yan Zhao")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How we read the model</a:t>
            </a:r>
          </a:p>
        </p:txBody>
      </p:sp>
      <p:sp>
        <p:nvSpPr>
          <p:cNvPr id="4" name="Rounded Rectangle 3"/>
          <p:cNvSpPr/>
          <p:nvPr/>
        </p:nvSpPr>
        <p:spPr>
          <a:xfrm rot="21540000">
            <a:off x="731520" y="1554480"/>
            <a:ext cx="3291840" cy="1463040"/>
          </a:xfrm>
          <a:prstGeom prst="roundRect">
            <a:avLst>
              <a:gd name="adj" fmla="val 8000"/>
            </a:avLst>
          </a:prstGeom>
          <a:noFill/>
          <a:ln w="28575">
            <a:solidFill>
              <a:srgbClr val="2B2D42"/>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1800" b="0">
                <a:solidFill>
                  <a:srgbClr val="2B2D42"/>
                </a:solidFill>
                <a:latin typeface="Patrick Hand"/>
              </a:rPr>
              <a:t>"Who are the authors of the paper titled </a:t>
            </a:r>
          </a:p>
          <a:p>
            <a:pPr algn="ctr">
              <a:spcAft>
                <a:spcPts val="400"/>
              </a:spcAft>
            </a:pPr>
            <a:r>
              <a:rPr sz="1800" b="1">
                <a:solidFill>
                  <a:srgbClr val="E07A2F"/>
                </a:solidFill>
                <a:latin typeface="Patrick Hand"/>
              </a:rPr>
              <a:t>"{title}"</a:t>
            </a:r>
            <a:r>
              <a:rPr sz="1800" b="0">
                <a:solidFill>
                  <a:srgbClr val="2B2D42"/>
                </a:solidFill>
                <a:latin typeface="Patrick Hand"/>
              </a:rPr>
              <a:t> ({year})? Authors: </a:t>
            </a:r>
          </a:p>
          <a:p>
            <a:pPr algn="ctr">
              <a:spcAft>
                <a:spcPts val="400"/>
              </a:spcAft>
            </a:pPr>
            <a:r>
              <a:rPr sz="1800" b="1">
                <a:solidFill>
                  <a:srgbClr val="3A6EA5"/>
                </a:solidFill>
                <a:latin typeface="Patrick Hand"/>
              </a:rPr>
              <a:t>S. Bree</a:t>
            </a:r>
          </a:p>
        </p:txBody>
      </p:sp>
      <p:cxnSp>
        <p:nvCxnSpPr>
          <p:cNvPr id="5" name="Connector 4"/>
          <p:cNvCxnSpPr/>
          <p:nvPr/>
        </p:nvCxnSpPr>
        <p:spPr>
          <a:xfrm>
            <a:off x="4114800" y="2286000"/>
            <a:ext cx="731520" cy="0"/>
          </a:xfrm>
          <a:prstGeom prst="line">
            <a:avLst/>
          </a:prstGeom>
          <a:ln w="28575">
            <a:solidFill>
              <a:srgbClr val="2B2D42"/>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937760" y="1554480"/>
            <a:ext cx="2743200" cy="1463040"/>
          </a:xfrm>
          <a:prstGeom prst="roundRect">
            <a:avLst>
              <a:gd name="adj" fmla="val 8000"/>
            </a:avLst>
          </a:prstGeom>
          <a:noFill/>
          <a:ln w="28575">
            <a:solidFill>
              <a:srgbClr val="2B2D42"/>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1900" b="1">
                <a:solidFill>
                  <a:srgbClr val="2B2D42"/>
                </a:solidFill>
                <a:latin typeface="Patrick Hand"/>
              </a:rPr>
              <a:t>hidden state</a:t>
            </a:r>
          </a:p>
          <a:p>
            <a:pPr algn="ctr">
              <a:spcAft>
                <a:spcPts val="400"/>
              </a:spcAft>
            </a:pPr>
            <a:r>
              <a:rPr sz="1900" b="0">
                <a:solidFill>
                  <a:srgbClr val="2B2D42"/>
                </a:solidFill>
                <a:latin typeface="Patrick Hand"/>
              </a:rPr>
              <a:t>layers 24 · 32 · 40</a:t>
            </a:r>
          </a:p>
          <a:p>
            <a:pPr algn="ctr">
              <a:spcAft>
                <a:spcPts val="400"/>
              </a:spcAft>
            </a:pPr>
            <a:r>
              <a:rPr sz="1900" b="0">
                <a:solidFill>
                  <a:srgbClr val="2B2D42"/>
                </a:solidFill>
                <a:latin typeface="Patrick Hand"/>
              </a:rPr>
              <a:t>48 · 56 · 62</a:t>
            </a:r>
          </a:p>
        </p:txBody>
      </p:sp>
      <p:cxnSp>
        <p:nvCxnSpPr>
          <p:cNvPr id="7" name="Connector 6"/>
          <p:cNvCxnSpPr/>
          <p:nvPr/>
        </p:nvCxnSpPr>
        <p:spPr>
          <a:xfrm>
            <a:off x="7772400" y="2286000"/>
            <a:ext cx="731520" cy="0"/>
          </a:xfrm>
          <a:prstGeom prst="line">
            <a:avLst/>
          </a:prstGeom>
          <a:ln w="28575">
            <a:solidFill>
              <a:srgbClr val="2B2D4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rot="60000">
            <a:off x="8595360" y="1417320"/>
            <a:ext cx="3017520" cy="1737360"/>
          </a:xfrm>
          <a:prstGeom prst="roundRect">
            <a:avLst>
              <a:gd name="adj" fmla="val 8000"/>
            </a:avLst>
          </a:prstGeom>
          <a:noFill/>
          <a:ln w="28575">
            <a:solidFill>
              <a:srgbClr val="2B2D42"/>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1800" b="1">
                <a:solidFill>
                  <a:srgbClr val="2B2D42"/>
                </a:solidFill>
                <a:latin typeface="Patrick Hand"/>
              </a:rPr>
              <a:t>readouts</a:t>
            </a:r>
          </a:p>
          <a:p>
            <a:pPr algn="ctr">
              <a:spcAft>
                <a:spcPts val="400"/>
              </a:spcAft>
            </a:pPr>
            <a:r>
              <a:rPr sz="1800" b="0">
                <a:solidFill>
                  <a:srgbClr val="2B2D42"/>
                </a:solidFill>
                <a:latin typeface="Patrick Hand"/>
              </a:rPr>
              <a:t>logit lens</a:t>
            </a:r>
          </a:p>
          <a:p>
            <a:pPr algn="ctr">
              <a:spcAft>
                <a:spcPts val="400"/>
              </a:spcAft>
            </a:pPr>
            <a:r>
              <a:rPr sz="1800" b="0">
                <a:solidFill>
                  <a:srgbClr val="2B2D42"/>
                </a:solidFill>
                <a:latin typeface="Patrick Hand"/>
              </a:rPr>
              <a:t>3 Jacobian lenses</a:t>
            </a:r>
          </a:p>
          <a:p>
            <a:pPr algn="ctr">
              <a:spcAft>
                <a:spcPts val="400"/>
              </a:spcAft>
            </a:pPr>
            <a:r>
              <a:rPr sz="1800" b="0">
                <a:solidFill>
                  <a:srgbClr val="2B2D42"/>
                </a:solidFill>
                <a:latin typeface="Patrick Hand"/>
              </a:rPr>
              <a:t>real output (L63)</a:t>
            </a:r>
          </a:p>
        </p:txBody>
      </p:sp>
      <p:sp>
        <p:nvSpPr>
          <p:cNvPr id="9" name="TextBox 8"/>
          <p:cNvSpPr txBox="1"/>
          <p:nvPr/>
        </p:nvSpPr>
        <p:spPr>
          <a:xfrm>
            <a:off x="777240" y="3520440"/>
            <a:ext cx="5394960" cy="2377440"/>
          </a:xfrm>
          <a:prstGeom prst="rect">
            <a:avLst/>
          </a:prstGeom>
          <a:noFill/>
        </p:spPr>
        <p:txBody>
          <a:bodyPr wrap="square" lIns="0" rIns="0" tIns="0" bIns="0" anchor="t">
            <a:spAutoFit/>
          </a:bodyPr>
          <a:lstStyle/>
          <a:p>
            <a:pPr algn="l">
              <a:spcAft>
                <a:spcPts val="1200"/>
              </a:spcAft>
            </a:pPr>
            <a:r>
              <a:rPr sz="2000" b="1">
                <a:solidFill>
                  <a:srgbClr val="2B2D42"/>
                </a:solidFill>
                <a:latin typeface="Patrick Hand"/>
              </a:rPr>
              <a:t>Score</a:t>
            </a:r>
            <a:r>
              <a:rPr sz="2000" b="0">
                <a:solidFill>
                  <a:srgbClr val="2B2D42"/>
                </a:solidFill>
                <a:latin typeface="Patrick Hand"/>
              </a:rPr>
              <a:t> = rank of the correct next name token,</a:t>
            </a:r>
          </a:p>
          <a:p>
            <a:pPr algn="l">
              <a:spcAft>
                <a:spcPts val="1200"/>
              </a:spcAft>
            </a:pPr>
            <a:r>
              <a:rPr sz="2000" b="0">
                <a:solidFill>
                  <a:srgbClr val="2B2D42"/>
                </a:solidFill>
                <a:latin typeface="Patrick Hand"/>
              </a:rPr>
              <a:t>as log10(1 / rank):  0 = rank 1,  -1 = rank 10</a:t>
            </a:r>
          </a:p>
          <a:p>
            <a:pPr algn="l">
              <a:spcAft>
                <a:spcPts val="1200"/>
              </a:spcAft>
            </a:pPr>
            <a:r>
              <a:rPr sz="2000" b="1">
                <a:solidFill>
                  <a:srgbClr val="2B2D42"/>
                </a:solidFill>
                <a:latin typeface="Patrick Hand"/>
              </a:rPr>
              <a:t>7 title conditions</a:t>
            </a:r>
            <a:r>
              <a:rPr sz="2000" b="0">
                <a:solidFill>
                  <a:srgbClr val="2B2D42"/>
                </a:solidFill>
                <a:latin typeface="Patrick Hand"/>
              </a:rPr>
              <a:t>: the true title, 5 matched false titles, no title</a:t>
            </a:r>
          </a:p>
        </p:txBody>
      </p:sp>
      <p:sp>
        <p:nvSpPr>
          <p:cNvPr id="10" name="Rectangle 9"/>
          <p:cNvSpPr/>
          <p:nvPr/>
        </p:nvSpPr>
        <p:spPr>
          <a:xfrm rot="21510000">
            <a:off x="6675120" y="3657600"/>
            <a:ext cx="4754880" cy="210312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2000" b="1">
                <a:solidFill>
                  <a:srgbClr val="2B2D42"/>
                </a:solidFill>
                <a:latin typeface="Patrick Hand"/>
              </a:rPr>
              <a:t>title-specific signal</a:t>
            </a:r>
          </a:p>
          <a:p>
            <a:pPr algn="l">
              <a:spcAft>
                <a:spcPts val="900"/>
              </a:spcAft>
            </a:pPr>
            <a:r>
              <a:rPr sz="2000" b="0">
                <a:solidFill>
                  <a:srgbClr val="2B2D42"/>
                </a:solidFill>
                <a:latin typeface="Patrick Hand"/>
              </a:rPr>
              <a:t>= true title  -  mean(5 false titles)</a:t>
            </a:r>
          </a:p>
          <a:p>
            <a:pPr algn="l">
              <a:spcAft>
                <a:spcPts val="900"/>
              </a:spcAft>
            </a:pPr>
            <a:r>
              <a:rPr sz="2000" b="0">
                <a:solidFill>
                  <a:srgbClr val="2B2D42"/>
                </a:solidFill>
                <a:latin typeface="Patrick Hand"/>
              </a:rPr>
              <a:t>Same name, same tokens: what is left is knowing </a:t>
            </a:r>
          </a:p>
          <a:p>
            <a:pPr algn="l">
              <a:spcAft>
                <a:spcPts val="900"/>
              </a:spcAft>
            </a:pPr>
            <a:r>
              <a:rPr sz="2000" b="1">
                <a:solidFill>
                  <a:srgbClr val="E07A2F"/>
                </a:solidFill>
                <a:latin typeface="Patrick Hand"/>
              </a:rPr>
              <a:t>this paper</a:t>
            </a:r>
          </a:p>
        </p:txBody>
      </p:sp>
      <p:sp>
        <p:nvSpPr>
          <p:cNvPr id="11" name="TextBox 10"/>
          <p:cNvSpPr txBox="1"/>
          <p:nvPr/>
        </p:nvSpPr>
        <p:spPr>
          <a:xfrm>
            <a:off x="713232" y="6355080"/>
            <a:ext cx="10789920" cy="320040"/>
          </a:xfrm>
          <a:prstGeom prst="rect">
            <a:avLst/>
          </a:prstGeom>
          <a:noFill/>
        </p:spPr>
        <p:txBody>
          <a:bodyPr wrap="square" lIns="0" rIns="0" tIns="0" bIns="0" anchor="t">
            <a:spAutoFit/>
          </a:bodyPr>
          <a:lstStyle/>
          <a:p>
            <a:pPr algn="l">
              <a:spcAft>
                <a:spcPts val="800"/>
              </a:spcAft>
            </a:pPr>
            <a:r>
              <a:rPr sz="1400" b="0">
                <a:solidFill>
                  <a:srgbClr val="6E7080"/>
                </a:solidFill>
                <a:latin typeface="Patrick Hand"/>
              </a:rPr>
              <a:t>Target vs control is always compared within a citation bin. 95% bootstrap CIs over papers (2,000 draws).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Can we trust the numbers?</a:t>
            </a:r>
          </a:p>
        </p:txBody>
      </p:sp>
      <p:sp>
        <p:nvSpPr>
          <p:cNvPr id="4" name="Rounded Rectangle 3"/>
          <p:cNvSpPr/>
          <p:nvPr/>
        </p:nvSpPr>
        <p:spPr>
          <a:xfrm rot="21540000">
            <a:off x="822960" y="1828800"/>
            <a:ext cx="3383280" cy="2377440"/>
          </a:xfrm>
          <a:prstGeom prst="roundRect">
            <a:avLst>
              <a:gd name="adj" fmla="val 8000"/>
            </a:avLst>
          </a:prstGeom>
          <a:noFill/>
          <a:ln w="28575">
            <a:solidFill>
              <a:srgbClr val="3A6EA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1900" b="1">
                <a:solidFill>
                  <a:srgbClr val="3A6EA5"/>
                </a:solidFill>
                <a:latin typeface="Patrick Hand"/>
              </a:rPr>
              <a:t>fast = slow</a:t>
            </a:r>
          </a:p>
          <a:p>
            <a:pPr algn="ctr">
              <a:spcAft>
                <a:spcPts val="400"/>
              </a:spcAft>
            </a:pPr>
            <a:r>
              <a:rPr sz="1900" b="0">
                <a:solidFill>
                  <a:srgbClr val="3A6EA5"/>
                </a:solidFill>
                <a:latin typeface="Patrick Hand"/>
              </a:rPr>
              <a:t>One forward pass vs one per prefix: max gap 0.37 logit (bf16 rounding); ranks 1-41 identical</a:t>
            </a:r>
          </a:p>
        </p:txBody>
      </p:sp>
      <p:sp>
        <p:nvSpPr>
          <p:cNvPr id="5" name="Rounded Rectangle 4"/>
          <p:cNvSpPr/>
          <p:nvPr/>
        </p:nvSpPr>
        <p:spPr>
          <a:xfrm rot="60000">
            <a:off x="4572000" y="1828800"/>
            <a:ext cx="3383280" cy="2377440"/>
          </a:xfrm>
          <a:prstGeom prst="roundRect">
            <a:avLst>
              <a:gd name="adj" fmla="val 8000"/>
            </a:avLst>
          </a:prstGeom>
          <a:noFill/>
          <a:ln w="28575">
            <a:solidFill>
              <a:srgbClr val="3C8D5A"/>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1900" b="1">
                <a:solidFill>
                  <a:srgbClr val="3C8D5A"/>
                </a:solidFill>
                <a:latin typeface="Patrick Hand"/>
              </a:rPr>
              <a:t>matches Stage 6</a:t>
            </a:r>
          </a:p>
          <a:p>
            <a:pPr algn="ctr">
              <a:spcAft>
                <a:spcPts val="400"/>
              </a:spcAft>
            </a:pPr>
            <a:r>
              <a:rPr sz="1900" b="0">
                <a:solidFill>
                  <a:srgbClr val="3C8D5A"/>
                </a:solidFill>
                <a:latin typeface="Patrick Hand"/>
              </a:rPr>
              <a:t>972 tokens: same token ids, median log-prob gap ~1e-5</a:t>
            </a:r>
          </a:p>
        </p:txBody>
      </p:sp>
      <p:sp>
        <p:nvSpPr>
          <p:cNvPr id="6" name="Rounded Rectangle 5"/>
          <p:cNvSpPr/>
          <p:nvPr/>
        </p:nvSpPr>
        <p:spPr>
          <a:xfrm rot="21570000">
            <a:off x="8321040" y="1828800"/>
            <a:ext cx="3383280" cy="2377440"/>
          </a:xfrm>
          <a:prstGeom prst="roundRect">
            <a:avLst>
              <a:gd name="adj" fmla="val 8000"/>
            </a:avLst>
          </a:prstGeom>
          <a:noFill/>
          <a:ln w="28575">
            <a:solidFill>
              <a:srgbClr val="E07A2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1900" b="1">
                <a:solidFill>
                  <a:srgbClr val="E07A2F"/>
                </a:solidFill>
                <a:latin typeface="Patrick Hand"/>
              </a:rPr>
              <a:t>negative control</a:t>
            </a:r>
          </a:p>
          <a:p>
            <a:pPr algn="ctr">
              <a:spcAft>
                <a:spcPts val="400"/>
              </a:spcAft>
            </a:pPr>
            <a:r>
              <a:rPr sz="1900" b="0">
                <a:solidFill>
                  <a:srgbClr val="E07A2F"/>
                </a:solidFill>
                <a:latin typeface="Patrick Hand"/>
              </a:rPr>
              <a:t>Punctuation tokens show ~0 title-specific signal at every layer</a:t>
            </a:r>
          </a:p>
        </p:txBody>
      </p:sp>
      <p:sp>
        <p:nvSpPr>
          <p:cNvPr id="7" name="Rectangle 6"/>
          <p:cNvSpPr/>
          <p:nvPr/>
        </p:nvSpPr>
        <p:spPr>
          <a:xfrm rot="21540000">
            <a:off x="2743200" y="4709160"/>
            <a:ext cx="6583680" cy="114300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900" b="1">
                <a:solidFill>
                  <a:srgbClr val="2B2D42"/>
                </a:solidFill>
                <a:latin typeface="Patrick Hand"/>
              </a:rPr>
              <a:t>Caveat: </a:t>
            </a:r>
            <a:r>
              <a:rPr sz="1900" b="0">
                <a:solidFill>
                  <a:srgbClr val="2B2D42"/>
                </a:solidFill>
                <a:latin typeface="Patrick Hand"/>
              </a:rPr>
              <a:t>the parity tolerance was raised 0.25 -&gt; 0.5 after seeing these bf16 gaps.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Names become readable late</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all 9,108 papers · true title</a:t>
            </a:r>
          </a:p>
        </p:txBody>
      </p:sp>
      <p:pic>
        <p:nvPicPr>
          <p:cNvPr id="5" name="Picture 4" descr="c1_level_by_layer.png"/>
          <p:cNvPicPr>
            <a:picLocks noChangeAspect="1"/>
          </p:cNvPicPr>
          <p:nvPr/>
        </p:nvPicPr>
        <p:blipFill>
          <a:blip r:embed="rId4"/>
          <a:stretch>
            <a:fillRect/>
          </a:stretch>
        </p:blipFill>
        <p:spPr>
          <a:xfrm>
            <a:off x="548640" y="1417320"/>
            <a:ext cx="7315200" cy="4528457"/>
          </a:xfrm>
          <a:prstGeom prst="rect">
            <a:avLst/>
          </a:prstGeom>
        </p:spPr>
      </p:pic>
      <p:sp>
        <p:nvSpPr>
          <p:cNvPr id="6" name="Rectangle 5"/>
          <p:cNvSpPr/>
          <p:nvPr/>
        </p:nvSpPr>
        <p:spPr>
          <a:xfrm rot="90000">
            <a:off x="8229600" y="1737360"/>
            <a:ext cx="3383280" cy="310896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900" b="0">
                <a:solidFill>
                  <a:srgbClr val="2B2D42"/>
                </a:solidFill>
                <a:latin typeface="Patrick Hand"/>
              </a:rPr>
              <a:t>Logit lens: almost nothing until </a:t>
            </a:r>
            <a:r>
              <a:rPr sz="1900" b="1">
                <a:solidFill>
                  <a:srgbClr val="3A6EA5"/>
                </a:solidFill>
                <a:latin typeface="Patrick Hand"/>
              </a:rPr>
              <a:t>L48</a:t>
            </a:r>
          </a:p>
          <a:p>
            <a:pPr algn="l">
              <a:spcAft>
                <a:spcPts val="900"/>
              </a:spcAft>
            </a:pPr>
            <a:r>
              <a:rPr sz="1900" b="0">
                <a:solidFill>
                  <a:srgbClr val="2B2D42"/>
                </a:solidFill>
                <a:latin typeface="Patrick Hand"/>
              </a:rPr>
              <a:t>Jacobian lenses read more from </a:t>
            </a:r>
            <a:r>
              <a:rPr sz="1900" b="1">
                <a:solidFill>
                  <a:srgbClr val="3C8D5A"/>
                </a:solidFill>
                <a:latin typeface="Patrick Hand"/>
              </a:rPr>
              <a:t>L40</a:t>
            </a:r>
          </a:p>
          <a:p>
            <a:pPr algn="l">
              <a:spcAft>
                <a:spcPts val="900"/>
              </a:spcAft>
            </a:pPr>
            <a:r>
              <a:rPr sz="1900" b="0">
                <a:solidFill>
                  <a:srgbClr val="2B2D42"/>
                </a:solidFill>
                <a:latin typeface="Patrick Hand"/>
              </a:rPr>
              <a:t>Everything jumps at </a:t>
            </a:r>
            <a:r>
              <a:rPr sz="1900" b="1">
                <a:solidFill>
                  <a:srgbClr val="E07A2F"/>
                </a:solidFill>
                <a:latin typeface="Patrick Hand"/>
              </a:rPr>
              <a:t>L62</a:t>
            </a:r>
            <a:r>
              <a:rPr sz="1900" b="0">
                <a:solidFill>
                  <a:srgbClr val="2B2D42"/>
                </a:solidFill>
                <a:latin typeface="Patrick Hand"/>
              </a:rPr>
              <a:t> (rank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Knowing the paper shows up only at the end</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title-specific signal · public Jacobian lens (lines) and model output (diamonds)</a:t>
            </a:r>
          </a:p>
        </p:txBody>
      </p:sp>
      <p:pic>
        <p:nvPicPr>
          <p:cNvPr id="5" name="Picture 4" descr="c2_spec_by_layer.png"/>
          <p:cNvPicPr>
            <a:picLocks noChangeAspect="1"/>
          </p:cNvPicPr>
          <p:nvPr/>
        </p:nvPicPr>
        <p:blipFill>
          <a:blip r:embed="rId4"/>
          <a:stretch>
            <a:fillRect/>
          </a:stretch>
        </p:blipFill>
        <p:spPr>
          <a:xfrm>
            <a:off x="548640" y="1463040"/>
            <a:ext cx="7315200" cy="4528457"/>
          </a:xfrm>
          <a:prstGeom prst="rect">
            <a:avLst/>
          </a:prstGeom>
        </p:spPr>
      </p:pic>
      <p:sp>
        <p:nvSpPr>
          <p:cNvPr id="6" name="Rectangle 5"/>
          <p:cNvSpPr/>
          <p:nvPr/>
        </p:nvSpPr>
        <p:spPr>
          <a:xfrm rot="21510000">
            <a:off x="8229600" y="1737360"/>
            <a:ext cx="3383280" cy="310896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900" b="1">
                <a:solidFill>
                  <a:srgbClr val="2B2D42"/>
                </a:solidFill>
                <a:latin typeface="Patrick Hand"/>
              </a:rPr>
              <a:t>L24-L48: ~0</a:t>
            </a:r>
            <a:r>
              <a:rPr sz="1900" b="0">
                <a:solidFill>
                  <a:srgbClr val="2B2D42"/>
                </a:solidFill>
                <a:latin typeface="Patrick Hand"/>
              </a:rPr>
              <a:t> for both groups</a:t>
            </a:r>
          </a:p>
          <a:p>
            <a:pPr algn="l">
              <a:spcAft>
                <a:spcPts val="900"/>
              </a:spcAft>
            </a:pPr>
            <a:r>
              <a:rPr sz="1900" b="0">
                <a:solidFill>
                  <a:srgbClr val="2B2D42"/>
                </a:solidFill>
                <a:latin typeface="Patrick Hand"/>
              </a:rPr>
              <a:t>rises at </a:t>
            </a:r>
            <a:r>
              <a:rPr sz="1900" b="1">
                <a:solidFill>
                  <a:srgbClr val="2B2D42"/>
                </a:solidFill>
                <a:latin typeface="Patrick Hand"/>
              </a:rPr>
              <a:t>L56</a:t>
            </a:r>
          </a:p>
          <a:p>
            <a:pPr algn="l">
              <a:spcAft>
                <a:spcPts val="900"/>
              </a:spcAft>
            </a:pPr>
            <a:r>
              <a:rPr sz="1900" b="0">
                <a:solidFill>
                  <a:srgbClr val="2B2D42"/>
                </a:solidFill>
                <a:latin typeface="Patrick Hand"/>
              </a:rPr>
              <a:t>L62: </a:t>
            </a:r>
            <a:r>
              <a:rPr sz="1900" b="1">
                <a:solidFill>
                  <a:srgbClr val="E07A2F"/>
                </a:solidFill>
                <a:latin typeface="Patrick Hand"/>
              </a:rPr>
              <a:t>target +0.56</a:t>
            </a:r>
            <a:r>
              <a:rPr sz="1900" b="0">
                <a:solidFill>
                  <a:srgbClr val="2B2D42"/>
                </a:solidFill>
                <a:latin typeface="Patrick Hand"/>
              </a:rPr>
              <a:t> vs </a:t>
            </a:r>
            <a:r>
              <a:rPr sz="1900" b="1">
                <a:solidFill>
                  <a:srgbClr val="3A6EA5"/>
                </a:solidFill>
                <a:latin typeface="Patrick Hand"/>
              </a:rPr>
              <a:t>control +0.24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Target pulls ahead only in the last layers</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target - control, within citation bin, 95% CI</a:t>
            </a:r>
          </a:p>
        </p:txBody>
      </p:sp>
      <p:pic>
        <p:nvPicPr>
          <p:cNvPr id="5" name="Picture 4" descr="c3_tc_by_layer.png"/>
          <p:cNvPicPr>
            <a:picLocks noChangeAspect="1"/>
          </p:cNvPicPr>
          <p:nvPr/>
        </p:nvPicPr>
        <p:blipFill>
          <a:blip r:embed="rId4"/>
          <a:stretch>
            <a:fillRect/>
          </a:stretch>
        </p:blipFill>
        <p:spPr>
          <a:xfrm>
            <a:off x="457200" y="1463040"/>
            <a:ext cx="8412480" cy="3963572"/>
          </a:xfrm>
          <a:prstGeom prst="rect">
            <a:avLst/>
          </a:prstGeom>
        </p:spPr>
      </p:pic>
      <p:sp>
        <p:nvSpPr>
          <p:cNvPr id="6" name="Rectangle 5"/>
          <p:cNvSpPr/>
          <p:nvPr/>
        </p:nvSpPr>
        <p:spPr>
          <a:xfrm rot="90000">
            <a:off x="9098280" y="1737360"/>
            <a:ext cx="2651760" cy="310896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900" b="0">
                <a:solidFill>
                  <a:srgbClr val="2B2D42"/>
                </a:solidFill>
                <a:latin typeface="Patrick Hand"/>
              </a:rPr>
              <a:t>Middle layers: </a:t>
            </a:r>
            <a:r>
              <a:rPr sz="1900" b="1">
                <a:solidFill>
                  <a:srgbClr val="2B2D42"/>
                </a:solidFill>
                <a:latin typeface="Patrick Hand"/>
              </a:rPr>
              <a:t>no head start</a:t>
            </a:r>
          </a:p>
          <a:p>
            <a:pPr algn="l">
              <a:spcAft>
                <a:spcPts val="900"/>
              </a:spcAft>
            </a:pPr>
            <a:r>
              <a:rPr sz="1900" b="0">
                <a:solidFill>
                  <a:srgbClr val="2B2D42"/>
                </a:solidFill>
                <a:latin typeface="Patrick Hand"/>
              </a:rPr>
              <a:t>L62 / output:</a:t>
            </a:r>
          </a:p>
          <a:p>
            <a:pPr algn="l">
              <a:spcAft>
                <a:spcPts val="900"/>
              </a:spcAft>
            </a:pPr>
            <a:r>
              <a:rPr sz="1900" b="1">
                <a:solidFill>
                  <a:srgbClr val="E07A2F"/>
                </a:solidFill>
                <a:latin typeface="Patrick Hand"/>
              </a:rPr>
              <a:t>+0.21 to +0.23</a:t>
            </a:r>
          </a:p>
          <a:p>
            <a:pPr algn="l">
              <a:spcAft>
                <a:spcPts val="900"/>
              </a:spcAft>
            </a:pPr>
            <a:r>
              <a:rPr sz="1900" b="0">
                <a:solidFill>
                  <a:srgbClr val="2B2D42"/>
                </a:solidFill>
                <a:latin typeface="Patrick Hand"/>
              </a:rPr>
              <a:t>almost all title-specific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It builds up over the last dozen layers</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fine layers L40-L62 · title-specific signal · 95% CI</a:t>
            </a:r>
          </a:p>
        </p:txBody>
      </p:sp>
      <p:pic>
        <p:nvPicPr>
          <p:cNvPr id="5" name="Picture 4" descr="c11_fine_layers.png"/>
          <p:cNvPicPr>
            <a:picLocks noChangeAspect="1"/>
          </p:cNvPicPr>
          <p:nvPr/>
        </p:nvPicPr>
        <p:blipFill>
          <a:blip r:embed="rId4"/>
          <a:stretch>
            <a:fillRect/>
          </a:stretch>
        </p:blipFill>
        <p:spPr>
          <a:xfrm>
            <a:off x="457200" y="1463040"/>
            <a:ext cx="8412480" cy="3963572"/>
          </a:xfrm>
          <a:prstGeom prst="rect">
            <a:avLst/>
          </a:prstGeom>
        </p:spPr>
      </p:pic>
      <p:sp>
        <p:nvSpPr>
          <p:cNvPr id="6" name="Rectangle 5"/>
          <p:cNvSpPr/>
          <p:nvPr/>
        </p:nvSpPr>
        <p:spPr>
          <a:xfrm rot="21510000">
            <a:off x="9098280" y="1737360"/>
            <a:ext cx="2651760" cy="310896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900" b="0">
                <a:solidFill>
                  <a:srgbClr val="2B2D42"/>
                </a:solidFill>
                <a:latin typeface="Patrick Hand"/>
              </a:rPr>
              <a:t>Logit lens: target - control</a:t>
            </a:r>
          </a:p>
          <a:p>
            <a:pPr algn="l">
              <a:spcAft>
                <a:spcPts val="900"/>
              </a:spcAft>
            </a:pPr>
            <a:r>
              <a:rPr sz="1900" b="1">
                <a:solidFill>
                  <a:srgbClr val="3A6EA5"/>
                </a:solidFill>
                <a:latin typeface="Patrick Hand"/>
              </a:rPr>
              <a:t>+0.007 at L50</a:t>
            </a:r>
          </a:p>
          <a:p>
            <a:pPr algn="l">
              <a:spcAft>
                <a:spcPts val="900"/>
              </a:spcAft>
            </a:pPr>
            <a:r>
              <a:rPr sz="1900" b="1">
                <a:solidFill>
                  <a:srgbClr val="E07A2F"/>
                </a:solidFill>
                <a:latin typeface="Patrick Hand"/>
              </a:rPr>
              <a:t>+0.23 at L62</a:t>
            </a:r>
          </a:p>
          <a:p>
            <a:pPr algn="l">
              <a:spcAft>
                <a:spcPts val="900"/>
              </a:spcAft>
            </a:pPr>
            <a:r>
              <a:rPr sz="1900" b="0">
                <a:solidFill>
                  <a:srgbClr val="2B2D42"/>
                </a:solidFill>
                <a:latin typeface="Patrick Hand"/>
              </a:rPr>
              <a:t>steepest rise </a:t>
            </a:r>
            <a:r>
              <a:rPr sz="1900" b="1">
                <a:solidFill>
                  <a:srgbClr val="2B2D42"/>
                </a:solidFill>
                <a:latin typeface="Patrick Hand"/>
              </a:rPr>
              <a:t>L57-L61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Stage 11: intervene, do not just read</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593 target + 593 control papers (balanced within citation bins) · all 9,108 for probe and chain</a:t>
            </a:r>
          </a:p>
        </p:txBody>
      </p:sp>
      <p:sp>
        <p:nvSpPr>
          <p:cNvPr id="5" name="Rounded Rectangle 4"/>
          <p:cNvSpPr/>
          <p:nvPr/>
        </p:nvSpPr>
        <p:spPr>
          <a:xfrm rot="21540000">
            <a:off x="822960" y="1737360"/>
            <a:ext cx="5120640" cy="1828800"/>
          </a:xfrm>
          <a:prstGeom prst="roundRect">
            <a:avLst>
              <a:gd name="adj" fmla="val 8000"/>
            </a:avLst>
          </a:prstGeom>
          <a:noFill/>
          <a:ln w="28575">
            <a:solidFill>
              <a:srgbClr val="E07A2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2000" b="1">
                <a:solidFill>
                  <a:srgbClr val="E07A2F"/>
                </a:solidFill>
                <a:latin typeface="Patrick Hand"/>
              </a:rPr>
              <a:t>patch</a:t>
            </a:r>
          </a:p>
          <a:p>
            <a:pPr algn="ctr">
              <a:spcAft>
                <a:spcPts val="400"/>
              </a:spcAft>
            </a:pPr>
            <a:r>
              <a:rPr sz="2000" b="0">
                <a:solidFill>
                  <a:srgbClr val="E07A2F"/>
                </a:solidFill>
                <a:latin typeface="Patrick Hand"/>
              </a:rPr>
              <a:t>copy the true-title hidden state into the false-title run at one layer</a:t>
            </a:r>
          </a:p>
        </p:txBody>
      </p:sp>
      <p:sp>
        <p:nvSpPr>
          <p:cNvPr id="6" name="Rounded Rectangle 5"/>
          <p:cNvSpPr/>
          <p:nvPr/>
        </p:nvSpPr>
        <p:spPr>
          <a:xfrm rot="60000">
            <a:off x="6400800" y="1737360"/>
            <a:ext cx="5120640" cy="1828800"/>
          </a:xfrm>
          <a:prstGeom prst="roundRect">
            <a:avLst>
              <a:gd name="adj" fmla="val 8000"/>
            </a:avLst>
          </a:prstGeom>
          <a:noFill/>
          <a:ln w="28575">
            <a:solidFill>
              <a:srgbClr val="3A6EA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2000" b="1">
                <a:solidFill>
                  <a:srgbClr val="3A6EA5"/>
                </a:solidFill>
                <a:latin typeface="Patrick Hand"/>
              </a:rPr>
              <a:t>knock out</a:t>
            </a:r>
          </a:p>
          <a:p>
            <a:pPr algn="ctr">
              <a:spcAft>
                <a:spcPts val="400"/>
              </a:spcAft>
            </a:pPr>
            <a:r>
              <a:rPr sz="2000" b="0">
                <a:solidFill>
                  <a:srgbClr val="3A6EA5"/>
                </a:solidFill>
                <a:latin typeface="Patrick Hand"/>
              </a:rPr>
              <a:t>block attention to the title tokens from layer l on</a:t>
            </a:r>
          </a:p>
        </p:txBody>
      </p:sp>
      <p:sp>
        <p:nvSpPr>
          <p:cNvPr id="7" name="Rounded Rectangle 6"/>
          <p:cNvSpPr/>
          <p:nvPr/>
        </p:nvSpPr>
        <p:spPr>
          <a:xfrm rot="21570000">
            <a:off x="822960" y="3886200"/>
            <a:ext cx="5120640" cy="1828800"/>
          </a:xfrm>
          <a:prstGeom prst="roundRect">
            <a:avLst>
              <a:gd name="adj" fmla="val 8000"/>
            </a:avLst>
          </a:prstGeom>
          <a:noFill/>
          <a:ln w="28575">
            <a:solidFill>
              <a:srgbClr val="3C8D5A"/>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2000" b="1">
                <a:solidFill>
                  <a:srgbClr val="3C8D5A"/>
                </a:solidFill>
                <a:latin typeface="Patrick Hand"/>
              </a:rPr>
              <a:t>probe</a:t>
            </a:r>
          </a:p>
          <a:p>
            <a:pPr algn="ctr">
              <a:spcAft>
                <a:spcPts val="400"/>
              </a:spcAft>
            </a:pPr>
            <a:r>
              <a:rPr sz="2000" b="0">
                <a:solidFill>
                  <a:srgbClr val="3C8D5A"/>
                </a:solidFill>
                <a:latin typeface="Patrick Hand"/>
              </a:rPr>
              <a:t>linear map from the last title token to the output state</a:t>
            </a:r>
          </a:p>
        </p:txBody>
      </p:sp>
      <p:sp>
        <p:nvSpPr>
          <p:cNvPr id="8" name="Rounded Rectangle 7"/>
          <p:cNvSpPr/>
          <p:nvPr/>
        </p:nvSpPr>
        <p:spPr>
          <a:xfrm rot="48000">
            <a:off x="6400800" y="3886200"/>
            <a:ext cx="5120640" cy="1828800"/>
          </a:xfrm>
          <a:prstGeom prst="roundRect">
            <a:avLst>
              <a:gd name="adj" fmla="val 8000"/>
            </a:avLst>
          </a:prstGeom>
          <a:noFill/>
          <a:ln w="28575">
            <a:solidFill>
              <a:srgbClr val="2B2D42"/>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spcAft>
                <a:spcPts val="400"/>
              </a:spcAft>
            </a:pPr>
            <a:r>
              <a:rPr sz="2000" b="1">
                <a:solidFill>
                  <a:srgbClr val="2B2D42"/>
                </a:solidFill>
                <a:latin typeface="Patrick Hand"/>
              </a:rPr>
              <a:t>chain</a:t>
            </a:r>
          </a:p>
          <a:p>
            <a:pPr algn="ctr">
              <a:spcAft>
                <a:spcPts val="400"/>
              </a:spcAft>
            </a:pPr>
            <a:r>
              <a:rPr sz="2000" b="0">
                <a:solidFill>
                  <a:srgbClr val="2B2D42"/>
                </a:solidFill>
                <a:latin typeface="Patrick Hand"/>
              </a:rPr>
              <a:t>"Authors: A1, A2, ..." instead of each author alone</a:t>
            </a:r>
          </a:p>
        </p:txBody>
      </p:sp>
      <p:sp>
        <p:nvSpPr>
          <p:cNvPr id="9" name="TextBox 8"/>
          <p:cNvSpPr txBox="1"/>
          <p:nvPr/>
        </p:nvSpPr>
        <p:spPr>
          <a:xfrm>
            <a:off x="713232" y="6355080"/>
            <a:ext cx="10789920" cy="320040"/>
          </a:xfrm>
          <a:prstGeom prst="rect">
            <a:avLst/>
          </a:prstGeom>
          <a:noFill/>
        </p:spPr>
        <p:txBody>
          <a:bodyPr wrap="square" lIns="0" rIns="0" tIns="0" bIns="0" anchor="t">
            <a:spAutoFit/>
          </a:bodyPr>
          <a:lstStyle/>
          <a:p>
            <a:pPr algn="l">
              <a:spcAft>
                <a:spcPts val="800"/>
              </a:spcAft>
            </a:pPr>
            <a:r>
              <a:rPr sz="1400" b="0">
                <a:solidFill>
                  <a:srgbClr val="6E7080"/>
                </a:solidFill>
                <a:latin typeface="Patrick Hand"/>
              </a:rPr>
              <a:t>Score: rank of the correct name token at the model output; "share of the true-false gap" = (intervened - false) / (true - false).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The title is read in L24-L50, early</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model output · share of the true-false gap · CIs about +/-0.02</a:t>
            </a:r>
          </a:p>
        </p:txBody>
      </p:sp>
      <p:pic>
        <p:nvPicPr>
          <p:cNvPr id="5" name="Picture 4" descr="c12_patch_knockout.png"/>
          <p:cNvPicPr>
            <a:picLocks noChangeAspect="1"/>
          </p:cNvPicPr>
          <p:nvPr/>
        </p:nvPicPr>
        <p:blipFill>
          <a:blip r:embed="rId4"/>
          <a:stretch>
            <a:fillRect/>
          </a:stretch>
        </p:blipFill>
        <p:spPr>
          <a:xfrm>
            <a:off x="457200" y="1463040"/>
            <a:ext cx="8412480" cy="3968150"/>
          </a:xfrm>
          <a:prstGeom prst="rect">
            <a:avLst/>
          </a:prstGeom>
        </p:spPr>
      </p:pic>
      <p:sp>
        <p:nvSpPr>
          <p:cNvPr id="6" name="Rectangle 5"/>
          <p:cNvSpPr/>
          <p:nvPr/>
        </p:nvSpPr>
        <p:spPr>
          <a:xfrm rot="90000">
            <a:off x="9098280" y="1737360"/>
            <a:ext cx="2651760" cy="329184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800" b="1">
                <a:solidFill>
                  <a:srgbClr val="E07A2F"/>
                </a:solidFill>
                <a:latin typeface="Patrick Hand"/>
              </a:rPr>
              <a:t>L52+</a:t>
            </a:r>
            <a:r>
              <a:rPr sz="1800" b="0">
                <a:solidFill>
                  <a:srgbClr val="2B2D42"/>
                </a:solidFill>
                <a:latin typeface="Patrick Hand"/>
              </a:rPr>
              <a:t>: title no longer needed</a:t>
            </a:r>
          </a:p>
          <a:p>
            <a:pPr algn="l">
              <a:spcAft>
                <a:spcPts val="900"/>
              </a:spcAft>
            </a:pPr>
            <a:r>
              <a:rPr sz="1800" b="0">
                <a:solidFill>
                  <a:srgbClr val="2B2D42"/>
                </a:solidFill>
                <a:latin typeface="Patrick Hand"/>
              </a:rPr>
              <a:t>info moved to the tokens </a:t>
            </a:r>
            <a:r>
              <a:rPr sz="1800" b="1">
                <a:solidFill>
                  <a:srgbClr val="2B2D42"/>
                </a:solidFill>
                <a:latin typeface="Patrick Hand"/>
              </a:rPr>
              <a:t>right after</a:t>
            </a:r>
            <a:r>
              <a:rPr sz="1800" b="0">
                <a:solidFill>
                  <a:srgbClr val="2B2D42"/>
                </a:solidFill>
                <a:latin typeface="Patrick Hand"/>
              </a:rPr>
              <a:t> the title</a:t>
            </a:r>
          </a:p>
          <a:p>
            <a:pPr algn="l">
              <a:spcAft>
                <a:spcPts val="900"/>
              </a:spcAft>
            </a:pPr>
            <a:r>
              <a:rPr sz="1800" b="0">
                <a:solidFill>
                  <a:srgbClr val="2B2D42"/>
                </a:solidFill>
                <a:latin typeface="Patrick Hand"/>
              </a:rPr>
              <a:t>same timing for target and control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Not readable at the title token itself</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title-specific signal at the last title token · all 9,108 papers</a:t>
            </a:r>
          </a:p>
        </p:txBody>
      </p:sp>
      <p:pic>
        <p:nvPicPr>
          <p:cNvPr id="5" name="Picture 4" descr="c13_title_position.png"/>
          <p:cNvPicPr>
            <a:picLocks noChangeAspect="1"/>
          </p:cNvPicPr>
          <p:nvPr/>
        </p:nvPicPr>
        <p:blipFill>
          <a:blip r:embed="rId4"/>
          <a:stretch>
            <a:fillRect/>
          </a:stretch>
        </p:blipFill>
        <p:spPr>
          <a:xfrm>
            <a:off x="457200" y="1463040"/>
            <a:ext cx="8412480" cy="3968150"/>
          </a:xfrm>
          <a:prstGeom prst="rect">
            <a:avLst/>
          </a:prstGeom>
        </p:spPr>
      </p:pic>
      <p:sp>
        <p:nvSpPr>
          <p:cNvPr id="6" name="Rectangle 5"/>
          <p:cNvSpPr/>
          <p:nvPr/>
        </p:nvSpPr>
        <p:spPr>
          <a:xfrm rot="21510000">
            <a:off x="9098280" y="1737360"/>
            <a:ext cx="2651760" cy="329184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800" b="0">
                <a:solidFill>
                  <a:srgbClr val="2B2D42"/>
                </a:solidFill>
                <a:latin typeface="Patrick Hand"/>
              </a:rPr>
              <a:t>lenses: </a:t>
            </a:r>
            <a:r>
              <a:rPr sz="1800" b="1">
                <a:solidFill>
                  <a:srgbClr val="2B2D42"/>
                </a:solidFill>
                <a:latin typeface="Patrick Hand"/>
              </a:rPr>
              <a:t>~0.01-0.03</a:t>
            </a:r>
          </a:p>
          <a:p>
            <a:pPr algn="l">
              <a:spcAft>
                <a:spcPts val="900"/>
              </a:spcAft>
            </a:pPr>
            <a:r>
              <a:rPr sz="1800" b="0">
                <a:solidFill>
                  <a:srgbClr val="2B2D42"/>
                </a:solidFill>
                <a:latin typeface="Patrick Hand"/>
              </a:rPr>
              <a:t>probe: </a:t>
            </a:r>
            <a:r>
              <a:rPr sz="1800" b="1">
                <a:solidFill>
                  <a:srgbClr val="3C8D5A"/>
                </a:solidFill>
                <a:latin typeface="Patrick Hand"/>
              </a:rPr>
              <a:t>0.04 -&gt; 0.08</a:t>
            </a:r>
          </a:p>
          <a:p>
            <a:pPr algn="l">
              <a:spcAft>
                <a:spcPts val="900"/>
              </a:spcAft>
            </a:pPr>
            <a:r>
              <a:rPr sz="1800" b="0">
                <a:solidFill>
                  <a:srgbClr val="2B2D42"/>
                </a:solidFill>
                <a:latin typeface="Patrick Hand"/>
              </a:rPr>
              <a:t>target a bit higher; may include topic -&gt; name associations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Co-authors help, and partly replace the title</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model output · all 9,108 papers · 95% CI</a:t>
            </a:r>
          </a:p>
        </p:txBody>
      </p:sp>
      <p:pic>
        <p:nvPicPr>
          <p:cNvPr id="5" name="Picture 4" descr="c14_author_chain.png"/>
          <p:cNvPicPr>
            <a:picLocks noChangeAspect="1"/>
          </p:cNvPicPr>
          <p:nvPr/>
        </p:nvPicPr>
        <p:blipFill>
          <a:blip r:embed="rId4"/>
          <a:stretch>
            <a:fillRect/>
          </a:stretch>
        </p:blipFill>
        <p:spPr>
          <a:xfrm>
            <a:off x="457200" y="1463040"/>
            <a:ext cx="8412480" cy="3968150"/>
          </a:xfrm>
          <a:prstGeom prst="rect">
            <a:avLst/>
          </a:prstGeom>
        </p:spPr>
      </p:pic>
      <p:sp>
        <p:nvSpPr>
          <p:cNvPr id="6" name="Rectangle 5"/>
          <p:cNvSpPr/>
          <p:nvPr/>
        </p:nvSpPr>
        <p:spPr>
          <a:xfrm rot="90000">
            <a:off x="9098280" y="1737360"/>
            <a:ext cx="2651760" cy="329184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800" b="0">
                <a:solidFill>
                  <a:srgbClr val="2B2D42"/>
                </a:solidFill>
                <a:latin typeface="Patrick Hand"/>
              </a:rPr>
              <a:t>later authors </a:t>
            </a:r>
            <a:r>
              <a:rPr sz="1800" b="1">
                <a:solidFill>
                  <a:srgbClr val="E07A2F"/>
                </a:solidFill>
                <a:latin typeface="Patrick Hand"/>
              </a:rPr>
              <a:t>+0.17 to +0.23</a:t>
            </a:r>
          </a:p>
          <a:p>
            <a:pPr algn="l">
              <a:spcAft>
                <a:spcPts val="900"/>
              </a:spcAft>
            </a:pPr>
            <a:r>
              <a:rPr sz="1800" b="0">
                <a:solidFill>
                  <a:srgbClr val="2B2D42"/>
                </a:solidFill>
                <a:latin typeface="Patrick Hand"/>
              </a:rPr>
              <a:t>title-specific part </a:t>
            </a:r>
            <a:r>
              <a:rPr sz="1800" b="1">
                <a:solidFill>
                  <a:srgbClr val="2B2D42"/>
                </a:solidFill>
                <a:latin typeface="Patrick Hand"/>
              </a:rPr>
              <a:t>shrinks</a:t>
            </a:r>
          </a:p>
          <a:p>
            <a:pPr algn="l">
              <a:spcAft>
                <a:spcPts val="900"/>
              </a:spcAft>
            </a:pPr>
            <a:r>
              <a:rPr sz="1800" b="0">
                <a:solidFill>
                  <a:srgbClr val="2B2D42"/>
                </a:solidFill>
                <a:latin typeface="Patrick Hand"/>
              </a:rPr>
              <a:t>target &gt; control still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Which lens reads best?</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all papers · true title</a:t>
            </a:r>
          </a:p>
        </p:txBody>
      </p:sp>
      <p:pic>
        <p:nvPicPr>
          <p:cNvPr id="5" name="Picture 4" descr="c4_lens_quality.png"/>
          <p:cNvPicPr>
            <a:picLocks noChangeAspect="1"/>
          </p:cNvPicPr>
          <p:nvPr/>
        </p:nvPicPr>
        <p:blipFill>
          <a:blip r:embed="rId4"/>
          <a:stretch>
            <a:fillRect/>
          </a:stretch>
        </p:blipFill>
        <p:spPr>
          <a:xfrm>
            <a:off x="457200" y="1463040"/>
            <a:ext cx="8412480" cy="3963572"/>
          </a:xfrm>
          <a:prstGeom prst="rect">
            <a:avLst/>
          </a:prstGeom>
        </p:spPr>
      </p:pic>
      <p:sp>
        <p:nvSpPr>
          <p:cNvPr id="6" name="Rectangle 5"/>
          <p:cNvSpPr/>
          <p:nvPr/>
        </p:nvSpPr>
        <p:spPr>
          <a:xfrm rot="21510000">
            <a:off x="9098280" y="1737360"/>
            <a:ext cx="2651760" cy="310896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900" b="1">
                <a:solidFill>
                  <a:srgbClr val="3C8D5A"/>
                </a:solidFill>
                <a:latin typeface="Patrick Hand"/>
              </a:rPr>
              <a:t>Middle layers:</a:t>
            </a:r>
          </a:p>
          <a:p>
            <a:pPr algn="l">
              <a:spcAft>
                <a:spcPts val="900"/>
              </a:spcAft>
            </a:pPr>
            <a:r>
              <a:rPr sz="1900" b="0">
                <a:solidFill>
                  <a:srgbClr val="2B2D42"/>
                </a:solidFill>
                <a:latin typeface="Patrick Hand"/>
              </a:rPr>
              <a:t>fitA best; at L48 15-18% top-10 vs 1% for logit</a:t>
            </a:r>
          </a:p>
          <a:p>
            <a:pPr algn="l">
              <a:spcAft>
                <a:spcPts val="900"/>
              </a:spcAft>
            </a:pPr>
            <a:r>
              <a:rPr sz="1900" b="1">
                <a:solidFill>
                  <a:srgbClr val="3A6EA5"/>
                </a:solidFill>
                <a:latin typeface="Patrick Hand"/>
              </a:rPr>
              <a:t>L62:</a:t>
            </a:r>
            <a:r>
              <a:rPr sz="1900" b="0">
                <a:solidFill>
                  <a:srgbClr val="2B2D42"/>
                </a:solidFill>
                <a:latin typeface="Patrick Hand"/>
              </a:rPr>
              <a:t> logit lens best (59%)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Do lenses reveal hidden paper knowledge?</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paired differences, 95% CI</a:t>
            </a:r>
          </a:p>
        </p:txBody>
      </p:sp>
      <p:pic>
        <p:nvPicPr>
          <p:cNvPr id="5" name="Picture 4" descr="c5_lens_extra.png"/>
          <p:cNvPicPr>
            <a:picLocks noChangeAspect="1"/>
          </p:cNvPicPr>
          <p:nvPr/>
        </p:nvPicPr>
        <p:blipFill>
          <a:blip r:embed="rId4"/>
          <a:stretch>
            <a:fillRect/>
          </a:stretch>
        </p:blipFill>
        <p:spPr>
          <a:xfrm>
            <a:off x="457200" y="1463040"/>
            <a:ext cx="8412480" cy="3963572"/>
          </a:xfrm>
          <a:prstGeom prst="rect">
            <a:avLst/>
          </a:prstGeom>
        </p:spPr>
      </p:pic>
      <p:sp>
        <p:nvSpPr>
          <p:cNvPr id="6" name="Rectangle 5"/>
          <p:cNvSpPr/>
          <p:nvPr/>
        </p:nvSpPr>
        <p:spPr>
          <a:xfrm rot="90000">
            <a:off x="9098280" y="1737360"/>
            <a:ext cx="2651760" cy="310896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900" b="0">
                <a:solidFill>
                  <a:srgbClr val="2B2D42"/>
                </a:solidFill>
                <a:latin typeface="Patrick Hand"/>
              </a:rPr>
              <a:t>Extra signal: </a:t>
            </a:r>
            <a:r>
              <a:rPr sz="1900" b="1">
                <a:solidFill>
                  <a:srgbClr val="2B2D42"/>
                </a:solidFill>
                <a:latin typeface="Patrick Hand"/>
              </a:rPr>
              <a:t>+0.01 to +0.03</a:t>
            </a:r>
          </a:p>
          <a:p>
            <a:pPr algn="l">
              <a:spcAft>
                <a:spcPts val="900"/>
              </a:spcAft>
            </a:pPr>
            <a:r>
              <a:rPr sz="1900" b="0">
                <a:solidFill>
                  <a:srgbClr val="2B2D42"/>
                </a:solidFill>
                <a:latin typeface="Patrick Hand"/>
              </a:rPr>
              <a:t>vs ~0.44 at L62</a:t>
            </a:r>
          </a:p>
          <a:p>
            <a:pPr algn="l">
              <a:spcAft>
                <a:spcPts val="900"/>
              </a:spcAft>
            </a:pPr>
            <a:r>
              <a:rPr sz="1900" b="1">
                <a:solidFill>
                  <a:srgbClr val="E07A2F"/>
                </a:solidFill>
                <a:latin typeface="Patrick Hand"/>
              </a:rPr>
              <a:t>Not bigger for target</a:t>
            </a:r>
            <a:r>
              <a:rPr sz="1900" b="0">
                <a:solidFill>
                  <a:srgbClr val="2B2D42"/>
                </a:solidFill>
                <a:latin typeface="Patrick Hand"/>
              </a:rPr>
              <a:t> (even negative at L48-56)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More citations, more paper knowledge</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model output · bins with &lt; 10 papers omitted</a:t>
            </a:r>
          </a:p>
        </p:txBody>
      </p:sp>
      <p:pic>
        <p:nvPicPr>
          <p:cNvPr id="5" name="Picture 4" descr="c6_citation.png"/>
          <p:cNvPicPr>
            <a:picLocks noChangeAspect="1"/>
          </p:cNvPicPr>
          <p:nvPr/>
        </p:nvPicPr>
        <p:blipFill>
          <a:blip r:embed="rId4"/>
          <a:stretch>
            <a:fillRect/>
          </a:stretch>
        </p:blipFill>
        <p:spPr>
          <a:xfrm>
            <a:off x="457200" y="1463040"/>
            <a:ext cx="8412480" cy="3894666"/>
          </a:xfrm>
          <a:prstGeom prst="rect">
            <a:avLst/>
          </a:prstGeom>
        </p:spPr>
      </p:pic>
      <p:sp>
        <p:nvSpPr>
          <p:cNvPr id="6" name="Rectangle 5"/>
          <p:cNvSpPr/>
          <p:nvPr/>
        </p:nvSpPr>
        <p:spPr>
          <a:xfrm rot="21510000">
            <a:off x="9098280" y="1737360"/>
            <a:ext cx="2651760" cy="310896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800" b="0">
                <a:solidFill>
                  <a:srgbClr val="2B2D42"/>
                </a:solidFill>
                <a:latin typeface="Patrick Hand"/>
              </a:rPr>
              <a:t>Target: </a:t>
            </a:r>
            <a:r>
              <a:rPr sz="1800" b="1">
                <a:solidFill>
                  <a:srgbClr val="E07A2F"/>
                </a:solidFill>
                <a:latin typeface="Patrick Hand"/>
              </a:rPr>
              <a:t>+0.35 -&gt; +0.64</a:t>
            </a:r>
          </a:p>
          <a:p>
            <a:pPr algn="l">
              <a:spcAft>
                <a:spcPts val="900"/>
              </a:spcAft>
            </a:pPr>
            <a:r>
              <a:rPr sz="1800" b="0">
                <a:solidFill>
                  <a:srgbClr val="2B2D42"/>
                </a:solidFill>
                <a:latin typeface="Patrick Hand"/>
              </a:rPr>
              <a:t>Spearman (title-specific)</a:t>
            </a:r>
          </a:p>
          <a:p>
            <a:pPr algn="l">
              <a:spcAft>
                <a:spcPts val="900"/>
              </a:spcAft>
            </a:pPr>
            <a:r>
              <a:rPr sz="1800" b="1">
                <a:solidFill>
                  <a:srgbClr val="2B2D42"/>
                </a:solidFill>
                <a:latin typeface="Patrick Hand"/>
              </a:rPr>
              <a:t>0.45</a:t>
            </a:r>
            <a:r>
              <a:rPr sz="1800" b="0">
                <a:solidFill>
                  <a:srgbClr val="2B2D42"/>
                </a:solidFill>
                <a:latin typeface="Patrick Hand"/>
              </a:rPr>
              <a:t> all · 0.33 target · 0.19 control</a:t>
            </a:r>
          </a:p>
          <a:p>
            <a:pPr algn="l">
              <a:spcAft>
                <a:spcPts val="900"/>
              </a:spcAft>
            </a:pPr>
            <a:r>
              <a:rPr sz="1800" b="0">
                <a:solidFill>
                  <a:srgbClr val="2B2D42"/>
                </a:solidFill>
                <a:latin typeface="Patrick Hand"/>
              </a:rPr>
              <a:t>Target &gt; control in every bin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First token or the rest of the name?</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model output · split by name format</a:t>
            </a:r>
          </a:p>
        </p:txBody>
      </p:sp>
      <p:pic>
        <p:nvPicPr>
          <p:cNvPr id="5" name="Picture 4" descr="c7_format_position.png"/>
          <p:cNvPicPr>
            <a:picLocks noChangeAspect="1"/>
          </p:cNvPicPr>
          <p:nvPr/>
        </p:nvPicPr>
        <p:blipFill>
          <a:blip r:embed="rId4"/>
          <a:stretch>
            <a:fillRect/>
          </a:stretch>
        </p:blipFill>
        <p:spPr>
          <a:xfrm>
            <a:off x="457200" y="1463040"/>
            <a:ext cx="8412480" cy="3963572"/>
          </a:xfrm>
          <a:prstGeom prst="rect">
            <a:avLst/>
          </a:prstGeom>
        </p:spPr>
      </p:pic>
      <p:sp>
        <p:nvSpPr>
          <p:cNvPr id="6" name="Rectangle 5"/>
          <p:cNvSpPr/>
          <p:nvPr/>
        </p:nvSpPr>
        <p:spPr>
          <a:xfrm rot="90000">
            <a:off x="9098280" y="1737360"/>
            <a:ext cx="2651760" cy="310896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900" b="1">
                <a:solidFill>
                  <a:srgbClr val="3A6EA5"/>
                </a:solidFill>
                <a:latin typeface="Patrick Hand"/>
              </a:rPr>
              <a:t>Initial:</a:t>
            </a:r>
            <a:r>
              <a:rPr sz="1900" b="0">
                <a:solidFill>
                  <a:srgbClr val="2B2D42"/>
                </a:solidFill>
                <a:latin typeface="Patrick Hand"/>
              </a:rPr>
              <a:t> carries little; signal is on the surname</a:t>
            </a:r>
          </a:p>
          <a:p>
            <a:pPr algn="l">
              <a:spcAft>
                <a:spcPts val="900"/>
              </a:spcAft>
            </a:pPr>
            <a:r>
              <a:rPr sz="1900" b="1">
                <a:solidFill>
                  <a:srgbClr val="E07A2F"/>
                </a:solidFill>
                <a:latin typeface="Patrick Hand"/>
              </a:rPr>
              <a:t>Full given name:</a:t>
            </a:r>
            <a:r>
              <a:rPr sz="1900" b="0">
                <a:solidFill>
                  <a:srgbClr val="2B2D42"/>
                </a:solidFill>
                <a:latin typeface="Patrick Hand"/>
              </a:rPr>
              <a:t> carries about as much as the surname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Knowing the given name helps with the surname</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true title · later words when the first word is / is not in the top 10</a:t>
            </a:r>
          </a:p>
        </p:txBody>
      </p:sp>
      <p:pic>
        <p:nvPicPr>
          <p:cNvPr id="5" name="Picture 4" descr="c8_first_word_helps.png"/>
          <p:cNvPicPr>
            <a:picLocks noChangeAspect="1"/>
          </p:cNvPicPr>
          <p:nvPr/>
        </p:nvPicPr>
        <p:blipFill>
          <a:blip r:embed="rId4"/>
          <a:stretch>
            <a:fillRect/>
          </a:stretch>
        </p:blipFill>
        <p:spPr>
          <a:xfrm>
            <a:off x="548640" y="1463040"/>
            <a:ext cx="7315200" cy="4354285"/>
          </a:xfrm>
          <a:prstGeom prst="rect">
            <a:avLst/>
          </a:prstGeom>
        </p:spPr>
      </p:pic>
      <p:sp>
        <p:nvSpPr>
          <p:cNvPr id="6" name="Rectangle 5"/>
          <p:cNvSpPr/>
          <p:nvPr/>
        </p:nvSpPr>
        <p:spPr>
          <a:xfrm rot="21510000">
            <a:off x="8229600" y="1737360"/>
            <a:ext cx="3383280" cy="310896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900" b="1">
                <a:solidFill>
                  <a:srgbClr val="E07A2F"/>
                </a:solidFill>
                <a:latin typeface="Patrick Hand"/>
              </a:rPr>
              <a:t>Given name in top 10</a:t>
            </a:r>
          </a:p>
          <a:p>
            <a:pPr algn="l">
              <a:spcAft>
                <a:spcPts val="900"/>
              </a:spcAft>
            </a:pPr>
            <a:r>
              <a:rPr sz="1900" b="0">
                <a:solidFill>
                  <a:srgbClr val="2B2D42"/>
                </a:solidFill>
                <a:latin typeface="Patrick Hand"/>
              </a:rPr>
              <a:t>surname +0.22 (output)</a:t>
            </a:r>
          </a:p>
          <a:p>
            <a:pPr algn="l">
              <a:spcAft>
                <a:spcPts val="900"/>
              </a:spcAft>
            </a:pPr>
            <a:r>
              <a:rPr sz="1900" b="0">
                <a:solidFill>
                  <a:srgbClr val="2B2D42"/>
                </a:solidFill>
                <a:latin typeface="Patrick Hand"/>
              </a:rPr>
              <a:t>+0.32 (logit L62)</a:t>
            </a:r>
          </a:p>
          <a:p>
            <a:pPr algn="l">
              <a:spcAft>
                <a:spcPts val="900"/>
              </a:spcAft>
            </a:pPr>
            <a:r>
              <a:rPr sz="1900" b="1">
                <a:solidFill>
                  <a:srgbClr val="3A6EA5"/>
                </a:solidFill>
                <a:latin typeface="Patrick Hand"/>
              </a:rPr>
              <a:t>Initial in top 10</a:t>
            </a:r>
            <a:r>
              <a:rPr sz="1900" b="0">
                <a:solidFill>
                  <a:srgbClr val="2B2D42"/>
                </a:solidFill>
                <a:latin typeface="Patrick Hand"/>
              </a:rPr>
              <a:t>: no help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Where the signal sits, and a dose-response</a:t>
            </a:r>
          </a:p>
        </p:txBody>
      </p:sp>
      <p:sp>
        <p:nvSpPr>
          <p:cNvPr id="4" name="TextBox 3"/>
          <p:cNvSpPr txBox="1"/>
          <p:nvPr/>
        </p:nvSpPr>
        <p:spPr>
          <a:xfrm>
            <a:off x="713232" y="987552"/>
            <a:ext cx="10881360" cy="411480"/>
          </a:xfrm>
          <a:prstGeom prst="rect">
            <a:avLst/>
          </a:prstGeom>
          <a:noFill/>
        </p:spPr>
        <p:txBody>
          <a:bodyPr wrap="square" lIns="0" rIns="0" tIns="0" bIns="0" anchor="t">
            <a:spAutoFit/>
          </a:bodyPr>
          <a:lstStyle/>
          <a:p>
            <a:pPr algn="l">
              <a:spcAft>
                <a:spcPts val="800"/>
              </a:spcAft>
            </a:pPr>
            <a:r>
              <a:rPr sz="1900" b="0">
                <a:solidFill>
                  <a:srgbClr val="6E7080"/>
                </a:solidFill>
                <a:latin typeface="Patrick Hand"/>
              </a:rPr>
              <a:t>model output</a:t>
            </a:r>
          </a:p>
        </p:txBody>
      </p:sp>
      <p:pic>
        <p:nvPicPr>
          <p:cNvPr id="5" name="Picture 4" descr="c9_roles.png"/>
          <p:cNvPicPr>
            <a:picLocks noChangeAspect="1"/>
          </p:cNvPicPr>
          <p:nvPr/>
        </p:nvPicPr>
        <p:blipFill>
          <a:blip r:embed="rId4"/>
          <a:stretch>
            <a:fillRect/>
          </a:stretch>
        </p:blipFill>
        <p:spPr>
          <a:xfrm>
            <a:off x="365760" y="1463040"/>
            <a:ext cx="6675120" cy="3973285"/>
          </a:xfrm>
          <a:prstGeom prst="rect">
            <a:avLst/>
          </a:prstGeom>
        </p:spPr>
      </p:pic>
      <p:pic>
        <p:nvPicPr>
          <p:cNvPr id="6" name="Picture 5" descr="c10_graded.png"/>
          <p:cNvPicPr>
            <a:picLocks noChangeAspect="1"/>
          </p:cNvPicPr>
          <p:nvPr/>
        </p:nvPicPr>
        <p:blipFill>
          <a:blip r:embed="rId5"/>
          <a:stretch>
            <a:fillRect/>
          </a:stretch>
        </p:blipFill>
        <p:spPr>
          <a:xfrm>
            <a:off x="7223760" y="1737360"/>
            <a:ext cx="4572000" cy="3282553"/>
          </a:xfrm>
          <a:prstGeom prst="rect">
            <a:avLst/>
          </a:prstGeom>
        </p:spPr>
      </p:pic>
      <p:sp>
        <p:nvSpPr>
          <p:cNvPr id="7" name="TextBox 6"/>
          <p:cNvSpPr txBox="1"/>
          <p:nvPr/>
        </p:nvSpPr>
        <p:spPr>
          <a:xfrm>
            <a:off x="713232" y="6355080"/>
            <a:ext cx="10789920" cy="320040"/>
          </a:xfrm>
          <a:prstGeom prst="rect">
            <a:avLst/>
          </a:prstGeom>
          <a:noFill/>
        </p:spPr>
        <p:txBody>
          <a:bodyPr wrap="square" lIns="0" rIns="0" tIns="0" bIns="0" anchor="t">
            <a:spAutoFit/>
          </a:bodyPr>
          <a:lstStyle/>
          <a:p>
            <a:pPr algn="l">
              <a:spcAft>
                <a:spcPts val="800"/>
              </a:spcAft>
            </a:pPr>
            <a:r>
              <a:rPr sz="1400" b="0">
                <a:solidFill>
                  <a:srgbClr val="6E7080"/>
                </a:solidFill>
                <a:latin typeface="Patrick Hand"/>
              </a:rPr>
              <a:t>Right: R0/R1 papers, centred within citation bin; Spearman rho = 0.27, p &lt; 0.001.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What we learned</a:t>
            </a:r>
          </a:p>
        </p:txBody>
      </p:sp>
      <p:sp>
        <p:nvSpPr>
          <p:cNvPr id="4" name="TextBox 3"/>
          <p:cNvSpPr txBox="1"/>
          <p:nvPr/>
        </p:nvSpPr>
        <p:spPr>
          <a:xfrm>
            <a:off x="822960" y="1325880"/>
            <a:ext cx="2834640" cy="777240"/>
          </a:xfrm>
          <a:prstGeom prst="rect">
            <a:avLst/>
          </a:prstGeom>
          <a:noFill/>
        </p:spPr>
        <p:txBody>
          <a:bodyPr wrap="square" lIns="0" rIns="0" tIns="0" bIns="0" anchor="t">
            <a:spAutoFit/>
          </a:bodyPr>
          <a:lstStyle/>
          <a:p>
            <a:pPr algn="l">
              <a:spcAft>
                <a:spcPts val="800"/>
              </a:spcAft>
            </a:pPr>
            <a:r>
              <a:rPr sz="2800" b="1">
                <a:solidFill>
                  <a:srgbClr val="E07A2F"/>
                </a:solidFill>
                <a:latin typeface="Caveat"/>
              </a:rPr>
              <a:t>Late</a:t>
            </a:r>
          </a:p>
        </p:txBody>
      </p:sp>
      <p:sp>
        <p:nvSpPr>
          <p:cNvPr id="5" name="TextBox 4"/>
          <p:cNvSpPr txBox="1"/>
          <p:nvPr/>
        </p:nvSpPr>
        <p:spPr>
          <a:xfrm>
            <a:off x="3657600" y="1417320"/>
            <a:ext cx="7863840" cy="777240"/>
          </a:xfrm>
          <a:prstGeom prst="rect">
            <a:avLst/>
          </a:prstGeom>
          <a:noFill/>
        </p:spPr>
        <p:txBody>
          <a:bodyPr wrap="square" lIns="0" rIns="0" tIns="0" bIns="0" anchor="t">
            <a:spAutoFit/>
          </a:bodyPr>
          <a:lstStyle/>
          <a:p>
            <a:pPr algn="l">
              <a:spcAft>
                <a:spcPts val="800"/>
              </a:spcAft>
            </a:pPr>
            <a:r>
              <a:rPr sz="2000" b="0">
                <a:solidFill>
                  <a:srgbClr val="2B2D42"/>
                </a:solidFill>
                <a:latin typeface="Patrick Hand"/>
              </a:rPr>
              <a:t>Paper-specific author knowledge builds up from about L50, fastest over L57-L61, peaking at L61-L62.</a:t>
            </a:r>
          </a:p>
        </p:txBody>
      </p:sp>
      <p:sp>
        <p:nvSpPr>
          <p:cNvPr id="6" name="TextBox 5"/>
          <p:cNvSpPr txBox="1"/>
          <p:nvPr/>
        </p:nvSpPr>
        <p:spPr>
          <a:xfrm>
            <a:off x="822960" y="2167128"/>
            <a:ext cx="2834640" cy="777240"/>
          </a:xfrm>
          <a:prstGeom prst="rect">
            <a:avLst/>
          </a:prstGeom>
          <a:noFill/>
        </p:spPr>
        <p:txBody>
          <a:bodyPr wrap="square" lIns="0" rIns="0" tIns="0" bIns="0" anchor="t">
            <a:spAutoFit/>
          </a:bodyPr>
          <a:lstStyle/>
          <a:p>
            <a:pPr algn="l">
              <a:spcAft>
                <a:spcPts val="800"/>
              </a:spcAft>
            </a:pPr>
            <a:r>
              <a:rPr sz="2800" b="1">
                <a:solidFill>
                  <a:srgbClr val="3C8D5A"/>
                </a:solidFill>
                <a:latin typeface="Caveat"/>
              </a:rPr>
              <a:t>Read early</a:t>
            </a:r>
          </a:p>
        </p:txBody>
      </p:sp>
      <p:sp>
        <p:nvSpPr>
          <p:cNvPr id="7" name="TextBox 6"/>
          <p:cNvSpPr txBox="1"/>
          <p:nvPr/>
        </p:nvSpPr>
        <p:spPr>
          <a:xfrm>
            <a:off x="3657600" y="2258568"/>
            <a:ext cx="7863840" cy="777240"/>
          </a:xfrm>
          <a:prstGeom prst="rect">
            <a:avLst/>
          </a:prstGeom>
          <a:noFill/>
        </p:spPr>
        <p:txBody>
          <a:bodyPr wrap="square" lIns="0" rIns="0" tIns="0" bIns="0" anchor="t">
            <a:spAutoFit/>
          </a:bodyPr>
          <a:lstStyle/>
          <a:p>
            <a:pPr algn="l">
              <a:spcAft>
                <a:spcPts val="800"/>
              </a:spcAft>
            </a:pPr>
            <a:r>
              <a:rPr sz="2000" b="0">
                <a:solidFill>
                  <a:srgbClr val="2B2D42"/>
                </a:solidFill>
                <a:latin typeface="Patrick Hand"/>
              </a:rPr>
              <a:t>Causally, the title is read in L24-L50 and moved into the tokens after it; after L52 it is no longer needed.</a:t>
            </a:r>
          </a:p>
        </p:txBody>
      </p:sp>
      <p:sp>
        <p:nvSpPr>
          <p:cNvPr id="8" name="TextBox 7"/>
          <p:cNvSpPr txBox="1"/>
          <p:nvPr/>
        </p:nvSpPr>
        <p:spPr>
          <a:xfrm>
            <a:off x="822960" y="3008376"/>
            <a:ext cx="2834640" cy="777240"/>
          </a:xfrm>
          <a:prstGeom prst="rect">
            <a:avLst/>
          </a:prstGeom>
          <a:noFill/>
        </p:spPr>
        <p:txBody>
          <a:bodyPr wrap="square" lIns="0" rIns="0" tIns="0" bIns="0" anchor="t">
            <a:spAutoFit/>
          </a:bodyPr>
          <a:lstStyle/>
          <a:p>
            <a:pPr algn="l">
              <a:spcAft>
                <a:spcPts val="800"/>
              </a:spcAft>
            </a:pPr>
            <a:r>
              <a:rPr sz="2800" b="1">
                <a:solidFill>
                  <a:srgbClr val="3A6EA5"/>
                </a:solidFill>
                <a:latin typeface="Caveat"/>
              </a:rPr>
              <a:t>No head start</a:t>
            </a:r>
          </a:p>
        </p:txBody>
      </p:sp>
      <p:sp>
        <p:nvSpPr>
          <p:cNvPr id="9" name="TextBox 8"/>
          <p:cNvSpPr txBox="1"/>
          <p:nvPr/>
        </p:nvSpPr>
        <p:spPr>
          <a:xfrm>
            <a:off x="3657600" y="3099816"/>
            <a:ext cx="7863840" cy="777240"/>
          </a:xfrm>
          <a:prstGeom prst="rect">
            <a:avLst/>
          </a:prstGeom>
          <a:noFill/>
        </p:spPr>
        <p:txBody>
          <a:bodyPr wrap="square" lIns="0" rIns="0" tIns="0" bIns="0" anchor="t">
            <a:spAutoFit/>
          </a:bodyPr>
          <a:lstStyle/>
          <a:p>
            <a:pPr algn="l">
              <a:spcAft>
                <a:spcPts val="800"/>
              </a:spcAft>
            </a:pPr>
            <a:r>
              <a:rPr sz="2000" b="0">
                <a:solidFill>
                  <a:srgbClr val="2B2D42"/>
                </a:solidFill>
                <a:latin typeface="Patrick Hand"/>
              </a:rPr>
              <a:t>Target papers are not ahead of control in middle layers; the +0.21 gap is at the end.</a:t>
            </a:r>
          </a:p>
        </p:txBody>
      </p:sp>
      <p:sp>
        <p:nvSpPr>
          <p:cNvPr id="10" name="TextBox 9"/>
          <p:cNvSpPr txBox="1"/>
          <p:nvPr/>
        </p:nvSpPr>
        <p:spPr>
          <a:xfrm>
            <a:off x="822960" y="3849624"/>
            <a:ext cx="2834640" cy="777240"/>
          </a:xfrm>
          <a:prstGeom prst="rect">
            <a:avLst/>
          </a:prstGeom>
          <a:noFill/>
        </p:spPr>
        <p:txBody>
          <a:bodyPr wrap="square" lIns="0" rIns="0" tIns="0" bIns="0" anchor="t">
            <a:spAutoFit/>
          </a:bodyPr>
          <a:lstStyle/>
          <a:p>
            <a:pPr algn="l">
              <a:spcAft>
                <a:spcPts val="800"/>
              </a:spcAft>
            </a:pPr>
            <a:r>
              <a:rPr sz="2800" b="1">
                <a:solidFill>
                  <a:srgbClr val="3C8D5A"/>
                </a:solidFill>
                <a:latin typeface="Caveat"/>
              </a:rPr>
              <a:t>Real knowledge</a:t>
            </a:r>
          </a:p>
        </p:txBody>
      </p:sp>
      <p:sp>
        <p:nvSpPr>
          <p:cNvPr id="11" name="TextBox 10"/>
          <p:cNvSpPr txBox="1"/>
          <p:nvPr/>
        </p:nvSpPr>
        <p:spPr>
          <a:xfrm>
            <a:off x="3657600" y="3941063"/>
            <a:ext cx="7863840" cy="777240"/>
          </a:xfrm>
          <a:prstGeom prst="rect">
            <a:avLst/>
          </a:prstGeom>
          <a:noFill/>
        </p:spPr>
        <p:txBody>
          <a:bodyPr wrap="square" lIns="0" rIns="0" tIns="0" bIns="0" anchor="t">
            <a:spAutoFit/>
          </a:bodyPr>
          <a:lstStyle/>
          <a:p>
            <a:pPr algn="l">
              <a:spcAft>
                <a:spcPts val="800"/>
              </a:spcAft>
            </a:pPr>
            <a:r>
              <a:rPr sz="2000" b="0">
                <a:solidFill>
                  <a:srgbClr val="2B2D42"/>
                </a:solidFill>
                <a:latin typeface="Patrick Hand"/>
              </a:rPr>
              <a:t>The gap is title-specific and grows with citations, so it is not name guessing.</a:t>
            </a:r>
          </a:p>
        </p:txBody>
      </p:sp>
      <p:sp>
        <p:nvSpPr>
          <p:cNvPr id="12" name="TextBox 11"/>
          <p:cNvSpPr txBox="1"/>
          <p:nvPr/>
        </p:nvSpPr>
        <p:spPr>
          <a:xfrm>
            <a:off x="822960" y="4690872"/>
            <a:ext cx="2834640" cy="777240"/>
          </a:xfrm>
          <a:prstGeom prst="rect">
            <a:avLst/>
          </a:prstGeom>
          <a:noFill/>
        </p:spPr>
        <p:txBody>
          <a:bodyPr wrap="square" lIns="0" rIns="0" tIns="0" bIns="0" anchor="t">
            <a:spAutoFit/>
          </a:bodyPr>
          <a:lstStyle/>
          <a:p>
            <a:pPr algn="l">
              <a:spcAft>
                <a:spcPts val="800"/>
              </a:spcAft>
            </a:pPr>
            <a:r>
              <a:rPr sz="2800" b="1">
                <a:solidFill>
                  <a:srgbClr val="2B2D42"/>
                </a:solidFill>
                <a:latin typeface="Caveat"/>
              </a:rPr>
              <a:t>Lenses agree</a:t>
            </a:r>
          </a:p>
        </p:txBody>
      </p:sp>
      <p:sp>
        <p:nvSpPr>
          <p:cNvPr id="13" name="TextBox 12"/>
          <p:cNvSpPr txBox="1"/>
          <p:nvPr/>
        </p:nvSpPr>
        <p:spPr>
          <a:xfrm>
            <a:off x="3657600" y="4782312"/>
            <a:ext cx="7863840" cy="777240"/>
          </a:xfrm>
          <a:prstGeom prst="rect">
            <a:avLst/>
          </a:prstGeom>
          <a:noFill/>
        </p:spPr>
        <p:txBody>
          <a:bodyPr wrap="square" lIns="0" rIns="0" tIns="0" bIns="0" anchor="t">
            <a:spAutoFit/>
          </a:bodyPr>
          <a:lstStyle/>
          <a:p>
            <a:pPr algn="l">
              <a:spcAft>
                <a:spcPts val="800"/>
              </a:spcAft>
            </a:pPr>
            <a:r>
              <a:rPr sz="2000" b="0">
                <a:solidFill>
                  <a:srgbClr val="2B2D42"/>
                </a:solidFill>
                <a:latin typeface="Patrick Hand"/>
              </a:rPr>
              <a:t>Jacobian lenses read more in middle layers, but nothing target-specific.</a:t>
            </a:r>
          </a:p>
        </p:txBody>
      </p:sp>
      <p:sp>
        <p:nvSpPr>
          <p:cNvPr id="14" name="TextBox 13"/>
          <p:cNvSpPr txBox="1"/>
          <p:nvPr/>
        </p:nvSpPr>
        <p:spPr>
          <a:xfrm>
            <a:off x="822960" y="5532120"/>
            <a:ext cx="2834640" cy="777240"/>
          </a:xfrm>
          <a:prstGeom prst="rect">
            <a:avLst/>
          </a:prstGeom>
          <a:noFill/>
        </p:spPr>
        <p:txBody>
          <a:bodyPr wrap="square" lIns="0" rIns="0" tIns="0" bIns="0" anchor="t">
            <a:spAutoFit/>
          </a:bodyPr>
          <a:lstStyle/>
          <a:p>
            <a:pPr algn="l">
              <a:spcAft>
                <a:spcPts val="800"/>
              </a:spcAft>
            </a:pPr>
            <a:r>
              <a:rPr sz="2800" b="1">
                <a:solidFill>
                  <a:srgbClr val="E07A2F"/>
                </a:solidFill>
                <a:latin typeface="Caveat"/>
              </a:rPr>
              <a:t>Name format</a:t>
            </a:r>
          </a:p>
        </p:txBody>
      </p:sp>
      <p:sp>
        <p:nvSpPr>
          <p:cNvPr id="15" name="TextBox 14"/>
          <p:cNvSpPr txBox="1"/>
          <p:nvPr/>
        </p:nvSpPr>
        <p:spPr>
          <a:xfrm>
            <a:off x="3657600" y="5623560"/>
            <a:ext cx="7863840" cy="777240"/>
          </a:xfrm>
          <a:prstGeom prst="rect">
            <a:avLst/>
          </a:prstGeom>
          <a:noFill/>
        </p:spPr>
        <p:txBody>
          <a:bodyPr wrap="square" lIns="0" rIns="0" tIns="0" bIns="0" anchor="t">
            <a:spAutoFit/>
          </a:bodyPr>
          <a:lstStyle/>
          <a:p>
            <a:pPr algn="l">
              <a:spcAft>
                <a:spcPts val="800"/>
              </a:spcAft>
            </a:pPr>
            <a:r>
              <a:rPr sz="2000" b="0">
                <a:solidFill>
                  <a:srgbClr val="2B2D42"/>
                </a:solidFill>
                <a:latin typeface="Patrick Hand"/>
              </a:rPr>
              <a:t>Initials carry little; full given names carry as much as surnames and help predict them.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274320"/>
            <a:ext cx="10881360" cy="822960"/>
          </a:xfrm>
          <a:prstGeom prst="rect">
            <a:avLst/>
          </a:prstGeom>
          <a:noFill/>
        </p:spPr>
        <p:txBody>
          <a:bodyPr wrap="square" lIns="0" rIns="0" tIns="0" bIns="0" anchor="t">
            <a:spAutoFit/>
          </a:bodyPr>
          <a:lstStyle/>
          <a:p>
            <a:pPr algn="l">
              <a:spcAft>
                <a:spcPts val="800"/>
              </a:spcAft>
            </a:pPr>
            <a:r>
              <a:rPr sz="4600" b="1">
                <a:solidFill>
                  <a:srgbClr val="2B2D42"/>
                </a:solidFill>
                <a:latin typeface="Caveat"/>
              </a:rPr>
              <a:t>Caveats and next steps</a:t>
            </a:r>
          </a:p>
        </p:txBody>
      </p:sp>
      <p:sp>
        <p:nvSpPr>
          <p:cNvPr id="4" name="TextBox 3"/>
          <p:cNvSpPr txBox="1"/>
          <p:nvPr/>
        </p:nvSpPr>
        <p:spPr>
          <a:xfrm>
            <a:off x="822960" y="1463040"/>
            <a:ext cx="5486400" cy="4389120"/>
          </a:xfrm>
          <a:prstGeom prst="rect">
            <a:avLst/>
          </a:prstGeom>
          <a:noFill/>
        </p:spPr>
        <p:txBody>
          <a:bodyPr wrap="square" lIns="0" rIns="0" tIns="0" bIns="0" anchor="t">
            <a:spAutoFit/>
          </a:bodyPr>
          <a:lstStyle/>
          <a:p>
            <a:pPr algn="l">
              <a:spcAft>
                <a:spcPts val="1000"/>
              </a:spcAft>
            </a:pPr>
            <a:r>
              <a:rPr sz="2100" b="1">
                <a:solidFill>
                  <a:srgbClr val="2B2D42"/>
                </a:solidFill>
                <a:latin typeface="Patrick Hand"/>
              </a:rPr>
              <a:t>Caveats</a:t>
            </a:r>
          </a:p>
          <a:p>
            <a:pPr algn="l">
              <a:spcAft>
                <a:spcPts val="1000"/>
              </a:spcAft>
            </a:pPr>
            <a:r>
              <a:rPr sz="2100" b="0">
                <a:solidFill>
                  <a:srgbClr val="2B2D42"/>
                </a:solidFill>
                <a:latin typeface="Patrick Hand"/>
              </a:rPr>
              <a:t>- Readout is correlational; patching/knockout fix the timing, not the mechanism inside L24-L50</a:t>
            </a:r>
          </a:p>
          <a:p>
            <a:pPr algn="l">
              <a:spcAft>
                <a:spcPts val="1000"/>
              </a:spcAft>
            </a:pPr>
            <a:r>
              <a:rPr sz="2100" b="0">
                <a:solidFill>
                  <a:srgbClr val="2B2D42"/>
                </a:solidFill>
                <a:latin typeface="Patrick Hand"/>
              </a:rPr>
              <a:t>- Parity tolerance raised 0.25 -&gt; 0.5 after the fact</a:t>
            </a:r>
          </a:p>
          <a:p>
            <a:pPr algn="l">
              <a:spcAft>
                <a:spcPts val="1000"/>
              </a:spcAft>
            </a:pPr>
            <a:r>
              <a:rPr sz="2100" b="0">
                <a:solidFill>
                  <a:srgbClr val="2B2D42"/>
                </a:solidFill>
                <a:latin typeface="Patrick Hand"/>
              </a:rPr>
              <a:t>- Groups are model-specific; low-citation "recognition" is near chance</a:t>
            </a:r>
          </a:p>
          <a:p>
            <a:pPr algn="l">
              <a:spcAft>
                <a:spcPts val="1000"/>
              </a:spcAft>
            </a:pPr>
            <a:r>
              <a:rPr sz="2100" b="0">
                <a:solidFill>
                  <a:srgbClr val="2B2D42"/>
                </a:solidFill>
                <a:latin typeface="Patrick Hand"/>
              </a:rPr>
              <a:t>- Few control papers above 1,000 citations</a:t>
            </a:r>
          </a:p>
        </p:txBody>
      </p:sp>
      <p:sp>
        <p:nvSpPr>
          <p:cNvPr id="5" name="Rectangle 4"/>
          <p:cNvSpPr/>
          <p:nvPr/>
        </p:nvSpPr>
        <p:spPr>
          <a:xfrm rot="90000">
            <a:off x="6766560" y="1554480"/>
            <a:ext cx="4663440" cy="3291840"/>
          </a:xfrm>
          <a:prstGeom prst="rect">
            <a:avLst/>
          </a:prstGeom>
          <a:solidFill>
            <a:srgbClr val="FFF1A8"/>
          </a:solidFill>
          <a:ln w="12700">
            <a:solidFill>
              <a:srgbClr val="E2D37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900"/>
              </a:spcAft>
            </a:pPr>
            <a:r>
              <a:rPr sz="1900" b="1">
                <a:solidFill>
                  <a:srgbClr val="2B2D42"/>
                </a:solidFill>
                <a:latin typeface="Patrick Hand"/>
              </a:rPr>
              <a:t>Next</a:t>
            </a:r>
          </a:p>
          <a:p>
            <a:pPr algn="l">
              <a:spcAft>
                <a:spcPts val="900"/>
              </a:spcAft>
            </a:pPr>
            <a:r>
              <a:rPr sz="1900" b="0">
                <a:solidFill>
                  <a:srgbClr val="2B2D42"/>
                </a:solidFill>
                <a:latin typeface="Patrick Hand"/>
              </a:rPr>
              <a:t>1. Patch single positions (quote, year, "Authors:") to find which token carries the paper</a:t>
            </a:r>
          </a:p>
          <a:p>
            <a:pPr algn="l">
              <a:spcAft>
                <a:spcPts val="900"/>
              </a:spcAft>
            </a:pPr>
            <a:r>
              <a:rPr sz="1900" b="0">
                <a:solidFill>
                  <a:srgbClr val="2B2D42"/>
                </a:solidFill>
                <a:latin typeface="Patrick Hand"/>
              </a:rPr>
              <a:t>2. Patch / probe per layer inside L24-L50 to see when it is computed</a:t>
            </a:r>
          </a:p>
          <a:p>
            <a:pPr algn="l">
              <a:spcAft>
                <a:spcPts val="900"/>
              </a:spcAft>
            </a:pPr>
            <a:r>
              <a:rPr sz="1900" b="0">
                <a:solidFill>
                  <a:srgbClr val="2B2D42"/>
                </a:solidFill>
                <a:latin typeface="Patrick Hand"/>
              </a:rPr>
              <a:t>3. Repeat on a second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