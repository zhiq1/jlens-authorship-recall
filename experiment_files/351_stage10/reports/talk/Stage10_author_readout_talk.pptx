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authors when asked openly,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9,108 papers across 8 fields, years 1817-2020, citations 0 to 63,901 in 13 bins.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0.04 at L16 rising to 0.08 at L56, and a little more for target papers. The controls on the next slide show this probe signal is specific to the paper, not a topic-to-name association.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gets even stronger.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the five findings.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now fix when the title is read (L24-L50) but not what happens inside those layers. Next: patch single positions after the title, localise the computation inside L24-L50, and repeat on a second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 10 · jlens</a:t>
            </a:r>
          </a:p>
          <a:p>
            <a:pPr algn="l">
              <a:spcAft>
                <a:spcPts val="900"/>
              </a:spcAft>
            </a:pPr>
            <a:r>
              <a:rPr sz="2000" b="0">
                <a:solidFill>
                  <a:srgbClr val="2B2D42"/>
                </a:solidFill>
                <a:latin typeface="Patrick Hand"/>
              </a:rPr>
              <a:t>Qwen3-32B · 2026-10-26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authors</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authors</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566160"/>
            <a:ext cx="6035040" cy="256032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(from an earlier labelling run of the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3" name="Rectangle 12"/>
          <p:cNvSpPr/>
          <p:nvPr/>
        </p:nvSpPr>
        <p:spPr>
          <a:xfrm rot="90000">
            <a:off x="7498079" y="3749039"/>
            <a:ext cx="393192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Target vs control is always compared within a citation bin. 95% bootstrap CIs over papers (2,000 draws).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Middle layers: </a:t>
            </a:r>
            <a:r>
              <a:rPr sz="1900" b="1">
                <a:solidFill>
                  <a:srgbClr val="2B2D42"/>
                </a:solidFill>
                <a:latin typeface="Patrick Hand"/>
              </a:rPr>
              <a:t>no head start</a:t>
            </a:r>
          </a:p>
          <a:p>
            <a:pPr algn="l">
              <a:spcAft>
                <a:spcPts val="900"/>
              </a:spcAft>
            </a:pPr>
            <a:r>
              <a:rPr sz="1900" b="0">
                <a:solidFill>
                  <a:srgbClr val="2B2D42"/>
                </a:solidFill>
                <a:latin typeface="Patrick Hand"/>
              </a:rPr>
              <a:t>L62 / output:</a:t>
            </a:r>
          </a:p>
          <a:p>
            <a:pPr algn="l">
              <a:spcAft>
                <a:spcPts val="900"/>
              </a:spcAft>
            </a:pPr>
            <a:r>
              <a:rPr sz="1900" b="1">
                <a:solidFill>
                  <a:srgbClr val="E07A2F"/>
                </a:solidFill>
                <a:latin typeface="Patrick Hand"/>
              </a:rPr>
              <a:t>+0.21 to +0.23</a:t>
            </a:r>
          </a:p>
          <a:p>
            <a:pPr algn="l">
              <a:spcAft>
                <a:spcPts val="900"/>
              </a:spcAft>
            </a:pPr>
            <a:r>
              <a:rPr sz="1900" b="0">
                <a:solidFill>
                  <a:srgbClr val="2B2D42"/>
                </a:solidFill>
                <a:latin typeface="Patrick Hand"/>
              </a:rPr>
              <a:t>almost all title-specific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target + 593 control papers (balanced within citation bins)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from layer l on</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Lenses cannot read it at the title token</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all 9,108 papers</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0.04 -&gt; 0.08</a:t>
            </a:r>
          </a:p>
          <a:p>
            <a:pPr algn="l">
              <a:spcAft>
                <a:spcPts val="900"/>
              </a:spcAft>
            </a:pPr>
            <a:r>
              <a:rPr sz="1800" b="0">
                <a:solidFill>
                  <a:srgbClr val="2B2D42"/>
                </a:solidFill>
                <a:latin typeface="Patrick Hand"/>
              </a:rPr>
              <a:t>target higher; paper-specific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controls · all 9,108 papers</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Late</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Paper-specific author knowledge builds up from about L50, fastest over L57-L61, peaking at L61-L62.</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Read early</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head start</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Target papers are not ahead of control in middle layers; the +0.21 gap is at the end.</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p:txBody>
      </p:sp>
      <p:sp>
        <p:nvSpPr>
          <p:cNvPr id="5" name="Rectangle 4"/>
          <p:cNvSpPr/>
          <p:nvPr/>
        </p:nvSpPr>
        <p:spPr>
          <a:xfrm rot="90000">
            <a:off x="6766560" y="1554480"/>
            <a:ext cx="466344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Next</a:t>
            </a:r>
          </a:p>
          <a:p>
            <a:pPr algn="l">
              <a:spcAft>
                <a:spcPts val="900"/>
              </a:spcAft>
            </a:pPr>
            <a:r>
              <a:rPr sz="1900" b="0">
                <a:solidFill>
                  <a:srgbClr val="2B2D42"/>
                </a:solidFill>
                <a:latin typeface="Patrick Hand"/>
              </a:rPr>
              <a:t>1. Patch single positions (quote, year, "Authors:") to find which token carries the paper</a:t>
            </a:r>
          </a:p>
          <a:p>
            <a:pPr algn="l">
              <a:spcAft>
                <a:spcPts val="900"/>
              </a:spcAft>
            </a:pPr>
            <a:r>
              <a:rPr sz="1900" b="0">
                <a:solidFill>
                  <a:srgbClr val="2B2D42"/>
                </a:solidFill>
                <a:latin typeface="Patrick Hand"/>
              </a:rPr>
              <a:t>2. Patch / probe per layer inside L24-L50 to see when it is computed</a:t>
            </a:r>
          </a:p>
          <a:p>
            <a:pPr algn="l">
              <a:spcAft>
                <a:spcPts val="900"/>
              </a:spcAft>
            </a:pPr>
            <a:r>
              <a:rPr sz="1900" b="0">
                <a:solidFill>
                  <a:srgbClr val="2B2D42"/>
                </a:solidFill>
                <a:latin typeface="Patrick Hand"/>
              </a:rPr>
              <a:t>3. Repeat on a second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