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3" r:id="rId15"/>
    <p:sldId id="264" r:id="rId16"/>
    <p:sldId id="265" r:id="rId17"/>
    <p:sldId id="266" r:id="rId18"/>
    <p:sldId id="267" r:id="rId19"/>
    <p:sldId id="268" r:id="rId20"/>
    <p:sldId id="270" r:id="rId22"/>
    <p:sldId id="280" r:id="rId32"/>
    <p:sldId id="278" r:id="rId30"/>
    <p:sldId id="279" r:id="rId31"/>
    <p:sldId id="282" r:id="rId34"/>
    <p:sldId id="261" r:id="rId13"/>
    <p:sldId id="262" r:id="rId14"/>
    <p:sldId id="269" r:id="rId21"/>
    <p:sldId id="281" r:id="rId33"/>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One question: when Qwen3-32B "knows" who wrote a paper, at which layer does that knowledge show up? 9,108 papers, every author name token, read out layer by layer.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labels: for about half of the papers the model cannot write the author list when asked openly (R0: no true author, or R1: a few right but HR2 above 0.5), but picks the true author list in a 4-option multiple choice. We call these target papers. Control papers: cannot write, cannot pick. If recognition is already computed in middle layers, a lens should read the right names better for target than control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the evaluation set of the Dreaming Up Authors study, reused as is. It started from 9,999,863 random OAG v2 records, enriched with Semantic Scholar (citations, canonical names, fields, September 2025) and filtered: journal and conference papers, 1 to 19 authors, English (FastText at least 0.8), clean person names, title and first-author surname agreeing between OAG and Semantic Scholar. 1.92 million papers remained. 8 fields chosen by frequency (77 percent of the data), 13 exponential citation bins, up to 100 papers per field and bin: 9,108 papers. Each author is scored alone: 33,811 author contexts, 149,999 name tokens.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behind every number. Open answer: greedy decoding inside the chat template; a deterministic fuzzy name match counts matched, hallucinated and unretrieved authors; HR2 = (H+U)/(M+H+U); R2 if HR2 is at most 0.5, otherwise R0 if nothing matched and R1 if something did. No human or model judge. Multiple choice: the true list against the real teams of 3 other papers from the same field, with similar team size, the same citation bin and a similar year; 4 orders; the letter probabilities come from the next-token distribution, A and space-A summed, not renormalised (mass is 1.00 on average). Target: 4 of 4 orders right and mean true-letter probability at least 0.5; control: at most 1 of 4. False titles: 5 per paper from the same field, year kept, minimum-cost matching on year, author count, title length and citation bin, no shared surname, word Jaccard at most 0.6; 79 percent strict tier. Statistics: target versus control only within citation bins with at least 30 papers per group, weighted n_t n_c over n_t plus n_c; bootstrap over papers 2,000 times; sensitivity without bins 0-4.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Prompt: Who are the authors of the paper titled "..." (year)? Authors: then one author name. Teacher forcing: at each name token we ask what rank the correct token gets. Readouts: logit lens, three Jacobian lenses (public from Neuronpedia, self100, fitA), and the real model output. Layers 24 to 62. Metric log10(1/rank): 0 = rank 1, -1 = rank 10. Each paper is also run with 5 matched false titles and with no title; title-specific signal = true minus mean of the false titles, so name guessability cancels 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Checks before trusting numbers: the fast path matches a per-prefix reference up to bf16 rounding; ranks match a previous stage on 972 tokens; punctuation tokens, which cannot depend on the title, show no title-specific signal. The parity tolerance was raised from 0.25 to 0.5 after seeing the results - say this openly.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readouts get better with depth. The logit lens reads almost nothing before L48 (ranks in the tens of thousands) and jumps at L62. Jacobian lenses read more from L40, fitA the most. The real output is best of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remove name guessability: true title minus false titles. Flat up to L48 for both groups. Starts at L56, big at L62 and the output. Target ends roughly twice as high as control.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slide. Target minus control within citation bins. Left: true title only - middle layers are even slightly negative for the Jacobian lens. Right: title-specific part - about zero until L56, then +0.21 to +0.23 at L62 and the output. Robustness: 11 percent of target papers are R1 (a few authors right) against 1.5 percent of controls; keeping R0 papers only in both groups, the output difference is +0.199 instead of +0.207 and every layer looks the same, and the Stage 11 curves do not change either. The target advantage is late and almost entirely title-specific.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 layers L50 to L61 were added afterwards for the logit lens and the public lens. The target advantage does not switch on at L62: for the logit lens the title-specific target minus control difference is +0.007 at L50, +0.03 at L54, +0.07 at L56, +0.11 at L58, +0.18 at L60 and +0.23 at L62. The public lens is negative up to L54 and turns positive at L57. The steepest rise is L57 to L61. Both groups peak at L61.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11 turns the readout question into interventions. 593 target and 593 control papers, matched within citation bins. Patching: run the paper with its true title and with a matched false title, and copy the true run hidden state into the false run at one layer. Knockout: forbid attention to the title tokens from layer l to the end. Probe: train a linear map from the last title token to the output state. Chain: score every author after the previous ones.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causal curves. Left: copying the hidden states of the tokens after the title (closing quote, year, Authors:, the name) from the true run into the false run recovers 29 percent at L40, 83 percent at L48 and everything from L52. Copying only the last title token recovers about 12 percent. Right: blocking attention to the title from L0 removes 83 percent of the effect, from L32 37 percent, from L48 6 percent, from L52 nothing. Blocking only the colon and name positions removes at most 15 percent, so the information is routed through the tokens right after the title. Target and control follow the same curves.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the author readable at the title itself? With the lenses, barely: about 0.01 to 0.03 title-specific signal at the last title token. A linear probe trained across papers gets more: re-checked with author-team folds and with papers whose prompt title the probe saw in training removed, about 0.05 at L24 rising to 0.08 at L56, and 0.04 to 0.08 more for target papers. The controls (appendix) show this probe signal is specific to the paper, not a topic-to-name association. This is not in conflict with the lens result: the title is read early, at the title token, but names only become readable at the name positions in L57 to L61. Read early, spoken late.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 chain. When the earlier authors are in the context, later authors become easier: plus 0.17 to 0.23 for target, 0.12 to 0.18 for control. But the title matters less: the title-specific signal drops from 0.45 to 0.26 for later target authors, because the co-authors already identify the paper. Target still beats control within bins, plus 0.11 to 0.15.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is just the name prior? We score the same names with no title at all. Without a title the correct name already sits around rank 12 on average: punctuation and the rest of a surname are easy once the prefix is given. The true title improves the surname first token the most: for target papers from about rank 146 to rank 24. Split the target minus control gap within citation bins: about 0.09 is already there without a title (target names are a bit easier to guess), false titles take back 0.05, and 0.21 is paper-specific. On the surname first token the prior part is about zero and 0.42 is paper-specific. The prior barely tracks multiple-choice recognition (Spearman 0.09 vs 0.33 for the paper-specific part).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the probe at the title token reading real paper knowledge, or just topic to name associations? If we score its output against the authors of another paper, or of another paper in the same field, the signal drops to zero. If we train it only on false-title pairs it gives a similar signal (the earlier even-stronger result came from a leak: the same donor title in training and test). So the last title token carries linearly decodable, paper-specific author information already at L24, more for target papers, even though the lenses cannot read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lenses. On readout quality fitA is best in most middle layers, self100 at L40; at L48 the Jacobian lenses put the right token in the top 10 for 15-18% of tokens versus 1% for the logit lens. At L62 the plain logit lens is best.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Jacobian lenses see paper-specific information the logit lens misses? A little: +0.01 to +0.03 more title-specific signal at L24-L48, CIs above zero, but tiny next to 0.44 at L62. And it is not bigger for target: target minus control of that extra is about zero, negative at L48 and L56.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Citations. Within both groups the title-specific signal rises steadily with citation bin: target from +0.35 in bin 0-2 to +0.64 in 4097+. Spearman with log citations: 0.45 overall, 0.33 within target, 0.19 within control. The level itself changes much less - names are not easier to guess for famous papers, the model just knows famous papers better.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the signal decided by the first token? It depends on the name format. Initial-first names: the initial carries little, the signal is on the later tokens that include the surname. Given-name-first names: the given name carries about as much as the rest. Note teacher forcing: later tokens already see the correct prefix in every condition, so their title-specific signal can only come from the title.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knowing the first word make the rest easier? For a full given name, yes: when it is in the top 10 the surname is +0.22 better at the output, +0.32 for the logit lens at L62. For an initial, no. Mixing both formats would even show a negative effect, because initials are easy and the surnames after them are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title-specific signal by token role at the output - surname first token carries most, initials least, punctuation about zero (negative control). Right: across all unrecalled papers, the more multiple-choice orders right, the better the model output (Spearman 0.27).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One line: read early, spoken late. The title is taken in during L24 to L50 (patching, knockout, probe at the title token), but the author names only become readable at the name positions in L57 to L61. The lens result (no middle-layer lead for target) and the probe result (a small target lead at the title token) are about different positions and do not conflict.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Limits and next steps. Patching and knockout fix when the title is read (L24-L50) but not what happens inside those layers. Stage 12 is running: single-position patching, attention versus MLP patching, a lens fitted on author prompts, and two name-prior baselines. A second model is out of scope: the groups come from the group lead labelling run of Qwen3-32B.</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the target advantage just the R1 papers? Target pools R0 papers, where the open answer named no true author, and R1 papers, where it named a few; 11 percent of target papers are R1 but only 1.5 percent of controls. Left: three views of target minus control within citation bins. R0 only (groups A versus B, the Stage 1 to 9 comparison) gives +0.199 at the output against +0.207 pooled, and the curve has the same shape. R1 target papers against R0 controls give +0.37: they know their papers better, but they also only pull ahead after L52. Control R1 has only 34 papers, so it is described, not tested. Right: Stage 11 patching by recall level; R1 targets (36 papers) recover a little later but are complete by L52. The title-position probe gives the same picture: R0 view +0.02 to +0.04. Conclusion unchanged.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R1 papers the open answer got some authors right and missed others. The label package only counts matches, so we rebuilt which authors matched; the rebuilt count equals the package count for 99.3 percent of R1 papers. In 495 papers with both kinds, the authors the model wrote correctly carry more title-specific signal at the output, +0.20, and the same holds without first authors. But the difference is zero up to L52 and grows from L54: even for authors the model actually produces, the paper-specific signal appears only in the last layers. They are also somewhat easier to guess without a title, +0.10.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backup slides for questions - checks, readout levels, the author chain, probe controls, lens comparisons, citations and name formats.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 Id="rId4" Type="http://schemas.openxmlformats.org/officeDocument/2006/relationships/image" Target="../media/image16.png"/><Relationship Id="rId5"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10515600" cy="1097280"/>
          </a:xfrm>
          <a:prstGeom prst="rect">
            <a:avLst/>
          </a:prstGeom>
          <a:noFill/>
        </p:spPr>
        <p:txBody>
          <a:bodyPr wrap="square" lIns="0" rIns="0" tIns="0" bIns="0" anchor="t">
            <a:spAutoFit/>
          </a:bodyPr>
          <a:lstStyle/>
          <a:p>
            <a:pPr algn="l">
              <a:spcAft>
                <a:spcPts val="800"/>
              </a:spcAft>
            </a:pPr>
            <a:r>
              <a:rPr sz="6600" b="1">
                <a:solidFill>
                  <a:srgbClr val="2B2D42"/>
                </a:solidFill>
                <a:latin typeface="Caveat"/>
              </a:rPr>
              <a:t>Where does Qwen3-32B</a:t>
            </a:r>
          </a:p>
        </p:txBody>
      </p:sp>
      <p:sp>
        <p:nvSpPr>
          <p:cNvPr id="4" name="TextBox 3"/>
          <p:cNvSpPr txBox="1"/>
          <p:nvPr/>
        </p:nvSpPr>
        <p:spPr>
          <a:xfrm>
            <a:off x="822960" y="2423160"/>
            <a:ext cx="10515600" cy="1097280"/>
          </a:xfrm>
          <a:prstGeom prst="rect">
            <a:avLst/>
          </a:prstGeom>
          <a:noFill/>
        </p:spPr>
        <p:txBody>
          <a:bodyPr wrap="square" lIns="0" rIns="0" tIns="0" bIns="0" anchor="t">
            <a:spAutoFit/>
          </a:bodyPr>
          <a:lstStyle/>
          <a:p>
            <a:pPr algn="l">
              <a:spcAft>
                <a:spcPts val="800"/>
              </a:spcAft>
            </a:pPr>
            <a:r>
              <a:rPr sz="6600" b="1">
                <a:solidFill>
                  <a:srgbClr val="E07A2F"/>
                </a:solidFill>
                <a:latin typeface="Caveat"/>
              </a:rPr>
              <a:t>hold</a:t>
            </a:r>
            <a:r>
              <a:rPr sz="6600" b="1">
                <a:solidFill>
                  <a:srgbClr val="2B2D42"/>
                </a:solidFill>
                <a:latin typeface="Caveat"/>
              </a:rPr>
              <a:t> a paper's authors?</a:t>
            </a:r>
          </a:p>
        </p:txBody>
      </p:sp>
      <p:sp>
        <p:nvSpPr>
          <p:cNvPr id="5" name="TextBox 4"/>
          <p:cNvSpPr txBox="1"/>
          <p:nvPr/>
        </p:nvSpPr>
        <p:spPr>
          <a:xfrm>
            <a:off x="868680" y="3703320"/>
            <a:ext cx="9601200" cy="548640"/>
          </a:xfrm>
          <a:prstGeom prst="rect">
            <a:avLst/>
          </a:prstGeom>
          <a:noFill/>
        </p:spPr>
        <p:txBody>
          <a:bodyPr wrap="square" lIns="0" rIns="0" tIns="0" bIns="0" anchor="t">
            <a:spAutoFit/>
          </a:bodyPr>
          <a:lstStyle/>
          <a:p>
            <a:pPr algn="l">
              <a:spcAft>
                <a:spcPts val="800"/>
              </a:spcAft>
            </a:pPr>
            <a:r>
              <a:rPr sz="2600" b="0">
                <a:solidFill>
                  <a:srgbClr val="6E7080"/>
                </a:solidFill>
                <a:latin typeface="Patrick Hand"/>
              </a:rPr>
              <a:t>A layer-by-layer readout of author names for 9,108 papers</a:t>
            </a:r>
          </a:p>
        </p:txBody>
      </p:sp>
      <p:sp>
        <p:nvSpPr>
          <p:cNvPr id="6" name="Rectangle 5"/>
          <p:cNvSpPr/>
          <p:nvPr/>
        </p:nvSpPr>
        <p:spPr>
          <a:xfrm rot="120000">
            <a:off x="8138160" y="4572000"/>
            <a:ext cx="3291840" cy="132588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2000" b="1">
                <a:solidFill>
                  <a:srgbClr val="2B2D42"/>
                </a:solidFill>
                <a:latin typeface="Patrick Hand"/>
              </a:rPr>
              <a:t>Stages 10-11 · jlens</a:t>
            </a:r>
          </a:p>
          <a:p>
            <a:pPr algn="l">
              <a:spcAft>
                <a:spcPts val="900"/>
              </a:spcAft>
            </a:pPr>
            <a:r>
              <a:rPr sz="2000" b="0">
                <a:solidFill>
                  <a:srgbClr val="2B2D42"/>
                </a:solidFill>
                <a:latin typeface="Patrick Hand"/>
              </a:rPr>
              <a:t>Qwen3-32B · 2026-10-27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The question</a:t>
            </a:r>
          </a:p>
        </p:txBody>
      </p:sp>
      <p:sp>
        <p:nvSpPr>
          <p:cNvPr id="4" name="Rounded Rectangle 3"/>
          <p:cNvSpPr/>
          <p:nvPr/>
        </p:nvSpPr>
        <p:spPr>
          <a:xfrm rot="21540000">
            <a:off x="822960" y="1737360"/>
            <a:ext cx="4846320" cy="2011680"/>
          </a:xfrm>
          <a:prstGeom prst="roundRect">
            <a:avLst>
              <a:gd name="adj" fmla="val 8000"/>
            </a:avLst>
          </a:prstGeom>
          <a:noFill/>
          <a:ln w="28575">
            <a:solidFill>
              <a:srgbClr val="E07A2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E07A2F"/>
                </a:solidFill>
                <a:latin typeface="Patrick Hand"/>
              </a:rPr>
              <a:t>target  (4,621 papers)</a:t>
            </a:r>
          </a:p>
          <a:p>
            <a:pPr algn="ctr">
              <a:spcAft>
                <a:spcPts val="400"/>
              </a:spcAft>
            </a:pPr>
            <a:r>
              <a:rPr sz="1900" b="0">
                <a:solidFill>
                  <a:srgbClr val="E07A2F"/>
                </a:solidFill>
                <a:latin typeface="Patrick Hand"/>
              </a:rPr>
              <a:t>can't write the list (R0/R1)</a:t>
            </a:r>
          </a:p>
          <a:p>
            <a:pPr algn="ctr">
              <a:spcAft>
                <a:spcPts val="400"/>
              </a:spcAft>
            </a:pPr>
            <a:r>
              <a:rPr sz="1900" b="0">
                <a:solidFill>
                  <a:srgbClr val="E07A2F"/>
                </a:solidFill>
                <a:latin typeface="Patrick Hand"/>
              </a:rPr>
              <a:t>but picks the true list 4/4 times</a:t>
            </a:r>
          </a:p>
        </p:txBody>
      </p:sp>
      <p:sp>
        <p:nvSpPr>
          <p:cNvPr id="5" name="Rounded Rectangle 4"/>
          <p:cNvSpPr/>
          <p:nvPr/>
        </p:nvSpPr>
        <p:spPr>
          <a:xfrm rot="60000">
            <a:off x="822960" y="4069080"/>
            <a:ext cx="4846320" cy="1828800"/>
          </a:xfrm>
          <a:prstGeom prst="roundRect">
            <a:avLst>
              <a:gd name="adj" fmla="val 8000"/>
            </a:avLst>
          </a:prstGeom>
          <a:noFill/>
          <a:ln w="28575">
            <a:solidFill>
              <a:srgbClr val="3A6EA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3A6EA5"/>
                </a:solidFill>
                <a:latin typeface="Patrick Hand"/>
              </a:rPr>
              <a:t>control  (2,220 papers)</a:t>
            </a:r>
          </a:p>
          <a:p>
            <a:pPr algn="ctr">
              <a:spcAft>
                <a:spcPts val="400"/>
              </a:spcAft>
            </a:pPr>
            <a:r>
              <a:rPr sz="1900" b="0">
                <a:solidFill>
                  <a:srgbClr val="3A6EA5"/>
                </a:solidFill>
                <a:latin typeface="Patrick Hand"/>
              </a:rPr>
              <a:t>can't write the list (R0/R1)</a:t>
            </a:r>
          </a:p>
          <a:p>
            <a:pPr algn="ctr">
              <a:spcAft>
                <a:spcPts val="400"/>
              </a:spcAft>
            </a:pPr>
            <a:r>
              <a:rPr sz="1900" b="0">
                <a:solidFill>
                  <a:srgbClr val="3A6EA5"/>
                </a:solidFill>
                <a:latin typeface="Patrick Hand"/>
              </a:rPr>
              <a:t>and can't pick the true list</a:t>
            </a:r>
          </a:p>
        </p:txBody>
      </p:sp>
      <p:sp>
        <p:nvSpPr>
          <p:cNvPr id="6" name="TextBox 5"/>
          <p:cNvSpPr txBox="1"/>
          <p:nvPr/>
        </p:nvSpPr>
        <p:spPr>
          <a:xfrm>
            <a:off x="6309360" y="1828800"/>
            <a:ext cx="5303520" cy="3200400"/>
          </a:xfrm>
          <a:prstGeom prst="rect">
            <a:avLst/>
          </a:prstGeom>
          <a:noFill/>
        </p:spPr>
        <p:txBody>
          <a:bodyPr wrap="square" lIns="0" rIns="0" tIns="0" bIns="0" anchor="t">
            <a:spAutoFit/>
          </a:bodyPr>
          <a:lstStyle/>
          <a:p>
            <a:pPr algn="l">
              <a:spcAft>
                <a:spcPts val="1800"/>
              </a:spcAft>
            </a:pPr>
            <a:r>
              <a:rPr sz="2300" b="0">
                <a:solidFill>
                  <a:srgbClr val="2B2D42"/>
                </a:solidFill>
                <a:latin typeface="Patrick Hand"/>
              </a:rPr>
              <a:t>If the model already </a:t>
            </a:r>
            <a:r>
              <a:rPr sz="2300" b="1">
                <a:solidFill>
                  <a:srgbClr val="2B2D42"/>
                </a:solidFill>
                <a:latin typeface="Patrick Hand"/>
              </a:rPr>
              <a:t>knows</a:t>
            </a:r>
            <a:r>
              <a:rPr sz="2300" b="0">
                <a:solidFill>
                  <a:srgbClr val="2B2D42"/>
                </a:solidFill>
                <a:latin typeface="Patrick Hand"/>
              </a:rPr>
              <a:t> target authors in its middle layers and only fails to say them, a lens on those layers should read the right name </a:t>
            </a:r>
            <a:r>
              <a:rPr sz="2300" b="1">
                <a:solidFill>
                  <a:srgbClr val="E07A2F"/>
                </a:solidFill>
                <a:latin typeface="Patrick Hand"/>
              </a:rPr>
              <a:t>better for target than control</a:t>
            </a:r>
            <a:r>
              <a:rPr sz="2300" b="0">
                <a:solidFill>
                  <a:srgbClr val="2B2D42"/>
                </a:solidFill>
                <a:latin typeface="Patrick Hand"/>
              </a:rPr>
              <a:t>.</a:t>
            </a:r>
          </a:p>
          <a:p>
            <a:pPr algn="l">
              <a:spcAft>
                <a:spcPts val="1800"/>
              </a:spcAft>
            </a:pPr>
            <a:r>
              <a:rPr sz="2300" b="0">
                <a:solidFill>
                  <a:srgbClr val="2B2D42"/>
                </a:solidFill>
                <a:latin typeface="Patrick Hand"/>
              </a:rPr>
              <a:t>If the knowledge is only assembled at the end, the gap should appear only near the output.</a:t>
            </a:r>
          </a:p>
        </p:txBody>
      </p:sp>
      <p:sp>
        <p:nvSpPr>
          <p:cNvPr id="7" name="Rectangle 6"/>
          <p:cNvSpPr/>
          <p:nvPr/>
        </p:nvSpPr>
        <p:spPr>
          <a:xfrm rot="21480000">
            <a:off x="6766560" y="4800600"/>
            <a:ext cx="4206240" cy="109728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2000" b="1">
                <a:solidFill>
                  <a:srgbClr val="2B2D42"/>
                </a:solidFill>
                <a:latin typeface="Patrick Hand"/>
              </a:rPr>
              <a:t>So: at which layer does target pull ahead of control?</a:t>
            </a:r>
          </a:p>
        </p:txBody>
      </p:sp>
      <p:sp>
        <p:nvSpPr>
          <p:cNvPr id="8" name="Rounded Rectangle 7"/>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The data</a:t>
            </a:r>
          </a:p>
        </p:txBody>
      </p:sp>
      <p:sp>
        <p:nvSpPr>
          <p:cNvPr id="4" name="TextBox 3"/>
          <p:cNvSpPr txBox="1"/>
          <p:nvPr/>
        </p:nvSpPr>
        <p:spPr>
          <a:xfrm>
            <a:off x="822960" y="1600200"/>
            <a:ext cx="2651760" cy="914400"/>
          </a:xfrm>
          <a:prstGeom prst="rect">
            <a:avLst/>
          </a:prstGeom>
          <a:noFill/>
        </p:spPr>
        <p:txBody>
          <a:bodyPr wrap="square" lIns="0" rIns="0" tIns="0" bIns="0" anchor="t">
            <a:spAutoFit/>
          </a:bodyPr>
          <a:lstStyle/>
          <a:p>
            <a:pPr algn="l">
              <a:spcAft>
                <a:spcPts val="800"/>
              </a:spcAft>
            </a:pPr>
            <a:r>
              <a:rPr sz="5400" b="1">
                <a:solidFill>
                  <a:srgbClr val="E07A2F"/>
                </a:solidFill>
                <a:latin typeface="Caveat"/>
              </a:rPr>
              <a:t>9,108</a:t>
            </a:r>
          </a:p>
        </p:txBody>
      </p:sp>
      <p:sp>
        <p:nvSpPr>
          <p:cNvPr id="5" name="TextBox 4"/>
          <p:cNvSpPr txBox="1"/>
          <p:nvPr/>
        </p:nvSpPr>
        <p:spPr>
          <a:xfrm>
            <a:off x="82296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papers, 8 fields</a:t>
            </a:r>
          </a:p>
        </p:txBody>
      </p:sp>
      <p:sp>
        <p:nvSpPr>
          <p:cNvPr id="6" name="TextBox 5"/>
          <p:cNvSpPr txBox="1"/>
          <p:nvPr/>
        </p:nvSpPr>
        <p:spPr>
          <a:xfrm>
            <a:off x="3657600" y="1600200"/>
            <a:ext cx="2651760" cy="914400"/>
          </a:xfrm>
          <a:prstGeom prst="rect">
            <a:avLst/>
          </a:prstGeom>
          <a:noFill/>
        </p:spPr>
        <p:txBody>
          <a:bodyPr wrap="square" lIns="0" rIns="0" tIns="0" bIns="0" anchor="t">
            <a:spAutoFit/>
          </a:bodyPr>
          <a:lstStyle/>
          <a:p>
            <a:pPr algn="l">
              <a:spcAft>
                <a:spcPts val="800"/>
              </a:spcAft>
            </a:pPr>
            <a:r>
              <a:rPr sz="5400" b="1">
                <a:solidFill>
                  <a:srgbClr val="3A6EA5"/>
                </a:solidFill>
                <a:latin typeface="Caveat"/>
              </a:rPr>
              <a:t>33,811</a:t>
            </a:r>
          </a:p>
        </p:txBody>
      </p:sp>
      <p:sp>
        <p:nvSpPr>
          <p:cNvPr id="7" name="TextBox 6"/>
          <p:cNvSpPr txBox="1"/>
          <p:nvPr/>
        </p:nvSpPr>
        <p:spPr>
          <a:xfrm>
            <a:off x="365760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author names</a:t>
            </a:r>
          </a:p>
        </p:txBody>
      </p:sp>
      <p:sp>
        <p:nvSpPr>
          <p:cNvPr id="8" name="TextBox 7"/>
          <p:cNvSpPr txBox="1"/>
          <p:nvPr/>
        </p:nvSpPr>
        <p:spPr>
          <a:xfrm>
            <a:off x="6492240" y="1600200"/>
            <a:ext cx="2651760" cy="914400"/>
          </a:xfrm>
          <a:prstGeom prst="rect">
            <a:avLst/>
          </a:prstGeom>
          <a:noFill/>
        </p:spPr>
        <p:txBody>
          <a:bodyPr wrap="square" lIns="0" rIns="0" tIns="0" bIns="0" anchor="t">
            <a:spAutoFit/>
          </a:bodyPr>
          <a:lstStyle/>
          <a:p>
            <a:pPr algn="l">
              <a:spcAft>
                <a:spcPts val="800"/>
              </a:spcAft>
            </a:pPr>
            <a:r>
              <a:rPr sz="5400" b="1">
                <a:solidFill>
                  <a:srgbClr val="3C8D5A"/>
                </a:solidFill>
                <a:latin typeface="Caveat"/>
              </a:rPr>
              <a:t>149,999</a:t>
            </a:r>
          </a:p>
        </p:txBody>
      </p:sp>
      <p:sp>
        <p:nvSpPr>
          <p:cNvPr id="9" name="TextBox 8"/>
          <p:cNvSpPr txBox="1"/>
          <p:nvPr/>
        </p:nvSpPr>
        <p:spPr>
          <a:xfrm>
            <a:off x="649224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name tokens scored</a:t>
            </a:r>
          </a:p>
        </p:txBody>
      </p:sp>
      <p:sp>
        <p:nvSpPr>
          <p:cNvPr id="10" name="TextBox 9"/>
          <p:cNvSpPr txBox="1"/>
          <p:nvPr/>
        </p:nvSpPr>
        <p:spPr>
          <a:xfrm>
            <a:off x="9326880" y="1600200"/>
            <a:ext cx="2651760" cy="914400"/>
          </a:xfrm>
          <a:prstGeom prst="rect">
            <a:avLst/>
          </a:prstGeom>
          <a:noFill/>
        </p:spPr>
        <p:txBody>
          <a:bodyPr wrap="square" lIns="0" rIns="0" tIns="0" bIns="0" anchor="t">
            <a:spAutoFit/>
          </a:bodyPr>
          <a:lstStyle/>
          <a:p>
            <a:pPr algn="l">
              <a:spcAft>
                <a:spcPts val="800"/>
              </a:spcAft>
            </a:pPr>
            <a:r>
              <a:rPr sz="5400" b="1">
                <a:solidFill>
                  <a:srgbClr val="2B2D42"/>
                </a:solidFill>
                <a:latin typeface="Caveat"/>
              </a:rPr>
              <a:t>13</a:t>
            </a:r>
          </a:p>
        </p:txBody>
      </p:sp>
      <p:sp>
        <p:nvSpPr>
          <p:cNvPr id="11" name="TextBox 10"/>
          <p:cNvSpPr txBox="1"/>
          <p:nvPr/>
        </p:nvSpPr>
        <p:spPr>
          <a:xfrm>
            <a:off x="932688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citation bins (0 to 63,901)</a:t>
            </a:r>
          </a:p>
        </p:txBody>
      </p:sp>
      <p:sp>
        <p:nvSpPr>
          <p:cNvPr id="12" name="TextBox 11"/>
          <p:cNvSpPr txBox="1"/>
          <p:nvPr/>
        </p:nvSpPr>
        <p:spPr>
          <a:xfrm>
            <a:off x="822960" y="3246120"/>
            <a:ext cx="10607040" cy="731520"/>
          </a:xfrm>
          <a:prstGeom prst="rect">
            <a:avLst/>
          </a:prstGeom>
          <a:noFill/>
        </p:spPr>
        <p:txBody>
          <a:bodyPr wrap="square" lIns="0" rIns="0" tIns="0" bIns="0" anchor="t">
            <a:spAutoFit/>
          </a:bodyPr>
          <a:lstStyle/>
          <a:p>
            <a:pPr algn="l">
              <a:spcAft>
                <a:spcPts val="800"/>
              </a:spcAft>
            </a:pPr>
            <a:r>
              <a:rPr sz="1800" b="1">
                <a:solidFill>
                  <a:srgbClr val="2B2D42"/>
                </a:solidFill>
                <a:latin typeface="Patrick Hand"/>
              </a:rPr>
              <a:t>Source: </a:t>
            </a:r>
            <a:r>
              <a:rPr sz="1800" b="0">
                <a:solidFill>
                  <a:srgbClr val="2B2D42"/>
                </a:solidFill>
                <a:latin typeface="Patrick Hand"/>
              </a:rPr>
              <a:t>the </a:t>
            </a:r>
            <a:r>
              <a:rPr sz="1800" b="1">
                <a:solidFill>
                  <a:srgbClr val="2B2D42"/>
                </a:solidFill>
                <a:latin typeface="Patrick Hand"/>
              </a:rPr>
              <a:t>Dreaming Up Authors</a:t>
            </a:r>
            <a:r>
              <a:rPr sz="1800" b="0">
                <a:solidFill>
                  <a:srgbClr val="2B2D42"/>
                </a:solidFill>
                <a:latin typeface="Patrick Hand"/>
              </a:rPr>
              <a:t> evaluation set. 9,999,863 random OAG v2 records + Semantic Scholar metadata (Sep 2025) -&gt; quality filters -&gt; 1.92 M papers -&gt; up to 100 per field x citation bin</a:t>
            </a:r>
          </a:p>
        </p:txBody>
      </p:sp>
      <p:sp>
        <p:nvSpPr>
          <p:cNvPr id="13" name="TextBox 12"/>
          <p:cNvSpPr txBox="1"/>
          <p:nvPr/>
        </p:nvSpPr>
        <p:spPr>
          <a:xfrm>
            <a:off x="822960" y="4069080"/>
            <a:ext cx="6035040" cy="2194560"/>
          </a:xfrm>
          <a:prstGeom prst="rect">
            <a:avLst/>
          </a:prstGeom>
          <a:noFill/>
        </p:spPr>
        <p:txBody>
          <a:bodyPr wrap="square" lIns="0" rIns="0" tIns="0" bIns="0" anchor="t">
            <a:spAutoFit/>
          </a:bodyPr>
          <a:lstStyle/>
          <a:p>
            <a:pPr algn="l">
              <a:spcAft>
                <a:spcPts val="1200"/>
              </a:spcAft>
            </a:pPr>
            <a:r>
              <a:rPr sz="2000" b="1">
                <a:solidFill>
                  <a:srgbClr val="2B2D42"/>
                </a:solidFill>
                <a:latin typeface="Patrick Hand"/>
              </a:rPr>
              <a:t>Groups</a:t>
            </a:r>
            <a:r>
              <a:rPr sz="2000" b="0">
                <a:solidFill>
                  <a:srgbClr val="2B2D42"/>
                </a:solidFill>
                <a:latin typeface="Patrick Hand"/>
              </a:rPr>
              <a:t> (group lead's labelling run, same model)</a:t>
            </a:r>
          </a:p>
          <a:p>
            <a:pPr algn="l">
              <a:spcAft>
                <a:spcPts val="1200"/>
              </a:spcAft>
            </a:pPr>
            <a:r>
              <a:rPr sz="2000" b="1">
                <a:solidFill>
                  <a:srgbClr val="E07A2F"/>
                </a:solidFill>
                <a:latin typeface="Patrick Hand"/>
              </a:rPr>
              <a:t>target</a:t>
            </a:r>
            <a:r>
              <a:rPr sz="2000" b="0">
                <a:solidFill>
                  <a:srgbClr val="2B2D42"/>
                </a:solidFill>
                <a:latin typeface="Patrick Hand"/>
              </a:rPr>
              <a:t>  4,621   ·   </a:t>
            </a:r>
            <a:r>
              <a:rPr sz="2000" b="1">
                <a:solidFill>
                  <a:srgbClr val="3A6EA5"/>
                </a:solidFill>
                <a:latin typeface="Patrick Hand"/>
              </a:rPr>
              <a:t>control</a:t>
            </a:r>
            <a:r>
              <a:rPr sz="2000" b="0">
                <a:solidFill>
                  <a:srgbClr val="2B2D42"/>
                </a:solidFill>
                <a:latin typeface="Patrick Hand"/>
              </a:rPr>
              <a:t>  2,220</a:t>
            </a:r>
          </a:p>
          <a:p>
            <a:pPr algn="l">
              <a:spcAft>
                <a:spcPts val="1200"/>
              </a:spcAft>
            </a:pPr>
            <a:r>
              <a:rPr sz="2000" b="0">
                <a:solidFill>
                  <a:srgbClr val="2B2D42"/>
                </a:solidFill>
                <a:latin typeface="Patrick Hand"/>
              </a:rPr>
              <a:t>guard (writes the authors)  214   ·   excluded  2,053</a:t>
            </a:r>
          </a:p>
          <a:p>
            <a:pPr algn="l">
              <a:spcAft>
                <a:spcPts val="1200"/>
              </a:spcAft>
            </a:pPr>
            <a:r>
              <a:rPr sz="2000" b="0">
                <a:solidFill>
                  <a:srgbClr val="2B2D42"/>
                </a:solidFill>
                <a:latin typeface="Patrick Hand"/>
              </a:rPr>
              <a:t>Medicine, biology, CS, psychology, chemistry, maths, physics, materials science: ~1,100 papers each</a:t>
            </a:r>
          </a:p>
        </p:txBody>
      </p:sp>
      <p:sp>
        <p:nvSpPr>
          <p:cNvPr id="14" name="Rectangle 13"/>
          <p:cNvSpPr/>
          <p:nvPr/>
        </p:nvSpPr>
        <p:spPr>
          <a:xfrm rot="90000">
            <a:off x="7498079" y="4160520"/>
            <a:ext cx="3931920" cy="19202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Name formats</a:t>
            </a:r>
          </a:p>
          <a:p>
            <a:pPr algn="l">
              <a:spcAft>
                <a:spcPts val="900"/>
              </a:spcAft>
            </a:pPr>
            <a:r>
              <a:rPr sz="1900" b="0">
                <a:solidFill>
                  <a:srgbClr val="2B2D42"/>
                </a:solidFill>
                <a:latin typeface="Patrick Hand"/>
              </a:rPr>
              <a:t>73% start with an initial  ("S. Bree")</a:t>
            </a:r>
          </a:p>
          <a:p>
            <a:pPr algn="l">
              <a:spcAft>
                <a:spcPts val="900"/>
              </a:spcAft>
            </a:pPr>
            <a:r>
              <a:rPr sz="1900" b="0">
                <a:solidFill>
                  <a:srgbClr val="2B2D42"/>
                </a:solidFill>
                <a:latin typeface="Patrick Hand"/>
              </a:rPr>
              <a:t>26% start with a full given name  ("Yan Zhao")</a:t>
            </a:r>
          </a:p>
        </p:txBody>
      </p:sp>
      <p:sp>
        <p:nvSpPr>
          <p:cNvPr id="15" name="Rounded Rectangle 14"/>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How groups and contrasts are built</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labels: group lead's pipeline on the same Qwen3-32B · we use them unchanged</a:t>
            </a:r>
          </a:p>
        </p:txBody>
      </p:sp>
      <p:sp>
        <p:nvSpPr>
          <p:cNvPr id="5" name="Rounded Rectangle 4"/>
          <p:cNvSpPr/>
          <p:nvPr/>
        </p:nvSpPr>
        <p:spPr>
          <a:xfrm rot="21564000">
            <a:off x="685800" y="1508760"/>
            <a:ext cx="5349240" cy="228600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600" b="1">
                <a:solidFill>
                  <a:srgbClr val="2B2D42"/>
                </a:solidFill>
                <a:latin typeface="Patrick Hand"/>
              </a:rPr>
              <a:t>open answer -&gt; R0 / R1 / R2</a:t>
            </a:r>
          </a:p>
          <a:p>
            <a:pPr algn="ctr">
              <a:spcAft>
                <a:spcPts val="400"/>
              </a:spcAft>
            </a:pPr>
            <a:r>
              <a:rPr sz="1600" b="0">
                <a:solidFill>
                  <a:srgbClr val="2B2D42"/>
                </a:solidFill>
                <a:latin typeface="Patrick Hand"/>
              </a:rPr>
              <a:t>greedy, chat template</a:t>
            </a:r>
          </a:p>
          <a:p>
            <a:pPr algn="ctr">
              <a:spcAft>
                <a:spcPts val="400"/>
              </a:spcAft>
            </a:pPr>
            <a:r>
              <a:rPr sz="1600" b="0">
                <a:solidFill>
                  <a:srgbClr val="2B2D42"/>
                </a:solidFill>
                <a:latin typeface="Patrick Hand"/>
              </a:rPr>
              <a:t>fuzzy name match: M, H, U</a:t>
            </a:r>
          </a:p>
          <a:p>
            <a:pPr algn="ctr">
              <a:spcAft>
                <a:spcPts val="400"/>
              </a:spcAft>
            </a:pPr>
            <a:r>
              <a:rPr sz="1600" b="0">
                <a:solidFill>
                  <a:srgbClr val="2B2D42"/>
                </a:solidFill>
                <a:latin typeface="Patrick Hand"/>
              </a:rPr>
              <a:t>HR2 = (H+U) / (M+H+U)</a:t>
            </a:r>
          </a:p>
          <a:p>
            <a:pPr algn="ctr">
              <a:spcAft>
                <a:spcPts val="400"/>
              </a:spcAft>
            </a:pPr>
            <a:r>
              <a:rPr sz="1600" b="0">
                <a:solidFill>
                  <a:srgbClr val="2B2D42"/>
                </a:solidFill>
                <a:latin typeface="Patrick Hand"/>
              </a:rPr>
              <a:t>R2: HR2 &lt;= 0.5 · R0: M = 0 · R1: M &gt; 0</a:t>
            </a:r>
          </a:p>
          <a:p>
            <a:pPr algn="ctr">
              <a:spcAft>
                <a:spcPts val="400"/>
              </a:spcAft>
            </a:pPr>
            <a:r>
              <a:rPr sz="1600" b="0">
                <a:solidFill>
                  <a:srgbClr val="2B2D42"/>
                </a:solidFill>
                <a:latin typeface="Patrick Hand"/>
              </a:rPr>
              <a:t>a fixed rule, no human or model judge</a:t>
            </a:r>
          </a:p>
        </p:txBody>
      </p:sp>
      <p:sp>
        <p:nvSpPr>
          <p:cNvPr id="6" name="Rounded Rectangle 5"/>
          <p:cNvSpPr/>
          <p:nvPr/>
        </p:nvSpPr>
        <p:spPr>
          <a:xfrm rot="36000">
            <a:off x="6309360" y="1508760"/>
            <a:ext cx="5349240" cy="2286000"/>
          </a:xfrm>
          <a:prstGeom prst="roundRect">
            <a:avLst>
              <a:gd name="adj" fmla="val 8000"/>
            </a:avLst>
          </a:prstGeom>
          <a:noFill/>
          <a:ln w="28575">
            <a:solidFill>
              <a:srgbClr val="E07A2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600" b="1">
                <a:solidFill>
                  <a:srgbClr val="E07A2F"/>
                </a:solidFill>
                <a:latin typeface="Patrick Hand"/>
              </a:rPr>
              <a:t>multiple choice -&gt; target / control</a:t>
            </a:r>
          </a:p>
          <a:p>
            <a:pPr algn="ctr">
              <a:spcAft>
                <a:spcPts val="400"/>
              </a:spcAft>
            </a:pPr>
            <a:r>
              <a:rPr sz="1600" b="0">
                <a:solidFill>
                  <a:srgbClr val="E07A2F"/>
                </a:solidFill>
                <a:latin typeface="Patrick Hand"/>
              </a:rPr>
              <a:t>true list + 3 real teams of other papers</a:t>
            </a:r>
          </a:p>
          <a:p>
            <a:pPr algn="ctr">
              <a:spcAft>
                <a:spcPts val="400"/>
              </a:spcAft>
            </a:pPr>
            <a:r>
              <a:rPr sz="1600" b="0">
                <a:solidFill>
                  <a:srgbClr val="E07A2F"/>
                </a:solidFill>
                <a:latin typeface="Patrick Hand"/>
              </a:rPr>
              <a:t>(same field, team size, citation bin, ~year)</a:t>
            </a:r>
          </a:p>
          <a:p>
            <a:pPr algn="ctr">
              <a:spcAft>
                <a:spcPts val="400"/>
              </a:spcAft>
            </a:pPr>
            <a:r>
              <a:rPr sz="1600" b="0">
                <a:solidFill>
                  <a:srgbClr val="E07A2F"/>
                </a:solidFill>
                <a:latin typeface="Patrick Hand"/>
              </a:rPr>
              <a:t>4 orders · p(letter) from next token</a:t>
            </a:r>
          </a:p>
          <a:p>
            <a:pPr algn="ctr">
              <a:spcAft>
                <a:spcPts val="400"/>
              </a:spcAft>
            </a:pPr>
            <a:r>
              <a:rPr sz="1600" b="0">
                <a:solidFill>
                  <a:srgbClr val="E07A2F"/>
                </a:solidFill>
                <a:latin typeface="Patrick Hand"/>
              </a:rPr>
              <a:t>target: 4/4 and mean p(true) &gt;= 0.5</a:t>
            </a:r>
          </a:p>
          <a:p>
            <a:pPr algn="ctr">
              <a:spcAft>
                <a:spcPts val="400"/>
              </a:spcAft>
            </a:pPr>
            <a:r>
              <a:rPr sz="1600" b="0">
                <a:solidFill>
                  <a:srgbClr val="E07A2F"/>
                </a:solidFill>
                <a:latin typeface="Patrick Hand"/>
              </a:rPr>
              <a:t>control: &lt;= 1/4</a:t>
            </a:r>
          </a:p>
        </p:txBody>
      </p:sp>
      <p:sp>
        <p:nvSpPr>
          <p:cNvPr id="7" name="Rounded Rectangle 6"/>
          <p:cNvSpPr/>
          <p:nvPr/>
        </p:nvSpPr>
        <p:spPr>
          <a:xfrm rot="30000">
            <a:off x="685800" y="3977639"/>
            <a:ext cx="5349240" cy="2286000"/>
          </a:xfrm>
          <a:prstGeom prst="roundRect">
            <a:avLst>
              <a:gd name="adj" fmla="val 8000"/>
            </a:avLst>
          </a:prstGeom>
          <a:noFill/>
          <a:ln w="28575">
            <a:solidFill>
              <a:srgbClr val="3A6EA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600" b="1">
                <a:solidFill>
                  <a:srgbClr val="3A6EA5"/>
                </a:solidFill>
                <a:latin typeface="Patrick Hand"/>
              </a:rPr>
              <a:t>5 false titles per paper</a:t>
            </a:r>
          </a:p>
          <a:p>
            <a:pPr algn="ctr">
              <a:spcAft>
                <a:spcPts val="400"/>
              </a:spcAft>
            </a:pPr>
            <a:r>
              <a:rPr sz="1600" b="0">
                <a:solidFill>
                  <a:srgbClr val="3A6EA5"/>
                </a:solidFill>
                <a:latin typeface="Patrick Hand"/>
              </a:rPr>
              <a:t>same field, own year kept</a:t>
            </a:r>
          </a:p>
          <a:p>
            <a:pPr algn="ctr">
              <a:spcAft>
                <a:spcPts val="400"/>
              </a:spcAft>
            </a:pPr>
            <a:r>
              <a:rPr sz="1600" b="0">
                <a:solidFill>
                  <a:srgbClr val="3A6EA5"/>
                </a:solidFill>
                <a:latin typeface="Patrick Hand"/>
              </a:rPr>
              <a:t>min-cost on |dyear|/5 + |dauthors|</a:t>
            </a:r>
          </a:p>
          <a:p>
            <a:pPr algn="ctr">
              <a:spcAft>
                <a:spcPts val="400"/>
              </a:spcAft>
            </a:pPr>
            <a:r>
              <a:rPr sz="1600" b="0">
                <a:solidFill>
                  <a:srgbClr val="3A6EA5"/>
                </a:solidFill>
                <a:latin typeface="Patrick Hand"/>
              </a:rPr>
              <a:t>+ |dtitle tokens| + 1.5 |dcitation bin|</a:t>
            </a:r>
          </a:p>
          <a:p>
            <a:pPr algn="ctr">
              <a:spcAft>
                <a:spcPts val="400"/>
              </a:spcAft>
            </a:pPr>
            <a:r>
              <a:rPr sz="1600" b="0">
                <a:solidFill>
                  <a:srgbClr val="3A6EA5"/>
                </a:solidFill>
                <a:latin typeface="Patrick Hand"/>
              </a:rPr>
              <a:t>no shared surname, Jaccard &lt;= 0.6</a:t>
            </a:r>
          </a:p>
          <a:p>
            <a:pPr algn="ctr">
              <a:spcAft>
                <a:spcPts val="400"/>
              </a:spcAft>
            </a:pPr>
            <a:r>
              <a:rPr sz="1600" b="0">
                <a:solidFill>
                  <a:srgbClr val="3A6EA5"/>
                </a:solidFill>
                <a:latin typeface="Patrick Hand"/>
              </a:rPr>
              <a:t>79% strict tier</a:t>
            </a:r>
          </a:p>
        </p:txBody>
      </p:sp>
      <p:sp>
        <p:nvSpPr>
          <p:cNvPr id="8" name="Rounded Rectangle 7"/>
          <p:cNvSpPr/>
          <p:nvPr/>
        </p:nvSpPr>
        <p:spPr>
          <a:xfrm rot="21570000">
            <a:off x="6309360" y="3977639"/>
            <a:ext cx="5349240" cy="2286000"/>
          </a:xfrm>
          <a:prstGeom prst="roundRect">
            <a:avLst>
              <a:gd name="adj" fmla="val 8000"/>
            </a:avLst>
          </a:prstGeom>
          <a:noFill/>
          <a:ln w="28575">
            <a:solidFill>
              <a:srgbClr val="3C8D5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600" b="1">
                <a:solidFill>
                  <a:srgbClr val="3C8D5A"/>
                </a:solidFill>
                <a:latin typeface="Patrick Hand"/>
              </a:rPr>
              <a:t>statistics</a:t>
            </a:r>
          </a:p>
          <a:p>
            <a:pPr algn="ctr">
              <a:spcAft>
                <a:spcPts val="400"/>
              </a:spcAft>
            </a:pPr>
            <a:r>
              <a:rPr sz="1600" b="0">
                <a:solidFill>
                  <a:srgbClr val="3C8D5A"/>
                </a:solidFill>
                <a:latin typeface="Patrick Hand"/>
              </a:rPr>
              <a:t>target vs control only within citation bin</a:t>
            </a:r>
          </a:p>
          <a:p>
            <a:pPr algn="ctr">
              <a:spcAft>
                <a:spcPts val="400"/>
              </a:spcAft>
            </a:pPr>
            <a:r>
              <a:rPr sz="1600" b="0">
                <a:solidFill>
                  <a:srgbClr val="3C8D5A"/>
                </a:solidFill>
                <a:latin typeface="Patrick Hand"/>
              </a:rPr>
              <a:t>10 bins with &gt;= 30 per group</a:t>
            </a:r>
          </a:p>
          <a:p>
            <a:pPr algn="ctr">
              <a:spcAft>
                <a:spcPts val="400"/>
              </a:spcAft>
            </a:pPr>
            <a:r>
              <a:rPr sz="1600" b="0">
                <a:solidFill>
                  <a:srgbClr val="3C8D5A"/>
                </a:solidFill>
                <a:latin typeface="Patrick Hand"/>
              </a:rPr>
              <a:t>weight n_t n_c / (n_t + n_c)</a:t>
            </a:r>
          </a:p>
          <a:p>
            <a:pPr algn="ctr">
              <a:spcAft>
                <a:spcPts val="400"/>
              </a:spcAft>
            </a:pPr>
            <a:r>
              <a:rPr sz="1600" b="0">
                <a:solidFill>
                  <a:srgbClr val="3C8D5A"/>
                </a:solidFill>
                <a:latin typeface="Patrick Hand"/>
              </a:rPr>
              <a:t>95% bootstrap over papers, 2,000</a:t>
            </a:r>
          </a:p>
          <a:p>
            <a:pPr algn="ctr">
              <a:spcAft>
                <a:spcPts val="400"/>
              </a:spcAft>
            </a:pPr>
            <a:r>
              <a:rPr sz="1600" b="0">
                <a:solidFill>
                  <a:srgbClr val="3C8D5A"/>
                </a:solidFill>
                <a:latin typeface="Patrick Hand"/>
              </a:rPr>
              <a:t>sensitivity: drop bins 0-4</a:t>
            </a:r>
          </a:p>
        </p:txBody>
      </p:sp>
      <p:sp>
        <p:nvSpPr>
          <p:cNvPr id="9" name="Rounded Rectangle 8"/>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How we read the model</a:t>
            </a:r>
          </a:p>
        </p:txBody>
      </p:sp>
      <p:sp>
        <p:nvSpPr>
          <p:cNvPr id="4" name="Rounded Rectangle 3"/>
          <p:cNvSpPr/>
          <p:nvPr/>
        </p:nvSpPr>
        <p:spPr>
          <a:xfrm rot="21540000">
            <a:off x="731520" y="1554480"/>
            <a:ext cx="3291840" cy="146304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800" b="0">
                <a:solidFill>
                  <a:srgbClr val="2B2D42"/>
                </a:solidFill>
                <a:latin typeface="Patrick Hand"/>
              </a:rPr>
              <a:t>"Who are the authors of the paper titled </a:t>
            </a:r>
          </a:p>
          <a:p>
            <a:pPr algn="ctr">
              <a:spcAft>
                <a:spcPts val="400"/>
              </a:spcAft>
            </a:pPr>
            <a:r>
              <a:rPr sz="1800" b="1">
                <a:solidFill>
                  <a:srgbClr val="E07A2F"/>
                </a:solidFill>
                <a:latin typeface="Patrick Hand"/>
              </a:rPr>
              <a:t>"{title}"</a:t>
            </a:r>
            <a:r>
              <a:rPr sz="1800" b="0">
                <a:solidFill>
                  <a:srgbClr val="2B2D42"/>
                </a:solidFill>
                <a:latin typeface="Patrick Hand"/>
              </a:rPr>
              <a:t> ({year})? Authors: </a:t>
            </a:r>
          </a:p>
          <a:p>
            <a:pPr algn="ctr">
              <a:spcAft>
                <a:spcPts val="400"/>
              </a:spcAft>
            </a:pPr>
            <a:r>
              <a:rPr sz="1800" b="1">
                <a:solidFill>
                  <a:srgbClr val="3A6EA5"/>
                </a:solidFill>
                <a:latin typeface="Patrick Hand"/>
              </a:rPr>
              <a:t>S. Bree</a:t>
            </a:r>
          </a:p>
        </p:txBody>
      </p:sp>
      <p:cxnSp>
        <p:nvCxnSpPr>
          <p:cNvPr id="5" name="Connector 4"/>
          <p:cNvCxnSpPr/>
          <p:nvPr/>
        </p:nvCxnSpPr>
        <p:spPr>
          <a:xfrm>
            <a:off x="4114800" y="2286000"/>
            <a:ext cx="731520" cy="0"/>
          </a:xfrm>
          <a:prstGeom prst="line">
            <a:avLst/>
          </a:prstGeom>
          <a:ln w="28575">
            <a:solidFill>
              <a:srgbClr val="2B2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937760" y="1554480"/>
            <a:ext cx="2743200" cy="146304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2B2D42"/>
                </a:solidFill>
                <a:latin typeface="Patrick Hand"/>
              </a:rPr>
              <a:t>hidden state</a:t>
            </a:r>
          </a:p>
          <a:p>
            <a:pPr algn="ctr">
              <a:spcAft>
                <a:spcPts val="400"/>
              </a:spcAft>
            </a:pPr>
            <a:r>
              <a:rPr sz="1900" b="0">
                <a:solidFill>
                  <a:srgbClr val="2B2D42"/>
                </a:solidFill>
                <a:latin typeface="Patrick Hand"/>
              </a:rPr>
              <a:t>layers 24 · 32 · 40</a:t>
            </a:r>
          </a:p>
          <a:p>
            <a:pPr algn="ctr">
              <a:spcAft>
                <a:spcPts val="400"/>
              </a:spcAft>
            </a:pPr>
            <a:r>
              <a:rPr sz="1900" b="0">
                <a:solidFill>
                  <a:srgbClr val="2B2D42"/>
                </a:solidFill>
                <a:latin typeface="Patrick Hand"/>
              </a:rPr>
              <a:t>48 · 56 · 62</a:t>
            </a:r>
          </a:p>
        </p:txBody>
      </p:sp>
      <p:cxnSp>
        <p:nvCxnSpPr>
          <p:cNvPr id="7" name="Connector 6"/>
          <p:cNvCxnSpPr/>
          <p:nvPr/>
        </p:nvCxnSpPr>
        <p:spPr>
          <a:xfrm>
            <a:off x="7772400" y="2286000"/>
            <a:ext cx="731520" cy="0"/>
          </a:xfrm>
          <a:prstGeom prst="line">
            <a:avLst/>
          </a:prstGeom>
          <a:ln w="28575">
            <a:solidFill>
              <a:srgbClr val="2B2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rot="60000">
            <a:off x="8595360" y="1417320"/>
            <a:ext cx="3017520" cy="173736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800" b="1">
                <a:solidFill>
                  <a:srgbClr val="2B2D42"/>
                </a:solidFill>
                <a:latin typeface="Patrick Hand"/>
              </a:rPr>
              <a:t>readouts</a:t>
            </a:r>
          </a:p>
          <a:p>
            <a:pPr algn="ctr">
              <a:spcAft>
                <a:spcPts val="400"/>
              </a:spcAft>
            </a:pPr>
            <a:r>
              <a:rPr sz="1800" b="0">
                <a:solidFill>
                  <a:srgbClr val="2B2D42"/>
                </a:solidFill>
                <a:latin typeface="Patrick Hand"/>
              </a:rPr>
              <a:t>logit lens</a:t>
            </a:r>
          </a:p>
          <a:p>
            <a:pPr algn="ctr">
              <a:spcAft>
                <a:spcPts val="400"/>
              </a:spcAft>
            </a:pPr>
            <a:r>
              <a:rPr sz="1800" b="0">
                <a:solidFill>
                  <a:srgbClr val="2B2D42"/>
                </a:solidFill>
                <a:latin typeface="Patrick Hand"/>
              </a:rPr>
              <a:t>3 Jacobian lenses</a:t>
            </a:r>
          </a:p>
          <a:p>
            <a:pPr algn="ctr">
              <a:spcAft>
                <a:spcPts val="400"/>
              </a:spcAft>
            </a:pPr>
            <a:r>
              <a:rPr sz="1800" b="0">
                <a:solidFill>
                  <a:srgbClr val="2B2D42"/>
                </a:solidFill>
                <a:latin typeface="Patrick Hand"/>
              </a:rPr>
              <a:t>real output (L63)</a:t>
            </a:r>
          </a:p>
        </p:txBody>
      </p:sp>
      <p:sp>
        <p:nvSpPr>
          <p:cNvPr id="9" name="TextBox 8"/>
          <p:cNvSpPr txBox="1"/>
          <p:nvPr/>
        </p:nvSpPr>
        <p:spPr>
          <a:xfrm>
            <a:off x="777240" y="3520440"/>
            <a:ext cx="5394960" cy="2377440"/>
          </a:xfrm>
          <a:prstGeom prst="rect">
            <a:avLst/>
          </a:prstGeom>
          <a:noFill/>
        </p:spPr>
        <p:txBody>
          <a:bodyPr wrap="square" lIns="0" rIns="0" tIns="0" bIns="0" anchor="t">
            <a:spAutoFit/>
          </a:bodyPr>
          <a:lstStyle/>
          <a:p>
            <a:pPr algn="l">
              <a:spcAft>
                <a:spcPts val="1200"/>
              </a:spcAft>
            </a:pPr>
            <a:r>
              <a:rPr sz="2000" b="1">
                <a:solidFill>
                  <a:srgbClr val="2B2D42"/>
                </a:solidFill>
                <a:latin typeface="Patrick Hand"/>
              </a:rPr>
              <a:t>Score</a:t>
            </a:r>
            <a:r>
              <a:rPr sz="2000" b="0">
                <a:solidFill>
                  <a:srgbClr val="2B2D42"/>
                </a:solidFill>
                <a:latin typeface="Patrick Hand"/>
              </a:rPr>
              <a:t> = rank of the correct next name token,</a:t>
            </a:r>
          </a:p>
          <a:p>
            <a:pPr algn="l">
              <a:spcAft>
                <a:spcPts val="1200"/>
              </a:spcAft>
            </a:pPr>
            <a:r>
              <a:rPr sz="2000" b="0">
                <a:solidFill>
                  <a:srgbClr val="2B2D42"/>
                </a:solidFill>
                <a:latin typeface="Patrick Hand"/>
              </a:rPr>
              <a:t>as log10(1 / rank):  0 = rank 1,  -1 = rank 10</a:t>
            </a:r>
          </a:p>
          <a:p>
            <a:pPr algn="l">
              <a:spcAft>
                <a:spcPts val="1200"/>
              </a:spcAft>
            </a:pPr>
            <a:r>
              <a:rPr sz="2000" b="1">
                <a:solidFill>
                  <a:srgbClr val="2B2D42"/>
                </a:solidFill>
                <a:latin typeface="Patrick Hand"/>
              </a:rPr>
              <a:t>7 title conditions</a:t>
            </a:r>
            <a:r>
              <a:rPr sz="2000" b="0">
                <a:solidFill>
                  <a:srgbClr val="2B2D42"/>
                </a:solidFill>
                <a:latin typeface="Patrick Hand"/>
              </a:rPr>
              <a:t>: the true title, 5 matched false titles, no title</a:t>
            </a:r>
          </a:p>
        </p:txBody>
      </p:sp>
      <p:sp>
        <p:nvSpPr>
          <p:cNvPr id="10" name="Rectangle 9"/>
          <p:cNvSpPr/>
          <p:nvPr/>
        </p:nvSpPr>
        <p:spPr>
          <a:xfrm rot="21510000">
            <a:off x="6675120" y="3657600"/>
            <a:ext cx="4754880" cy="210312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2000" b="1">
                <a:solidFill>
                  <a:srgbClr val="2B2D42"/>
                </a:solidFill>
                <a:latin typeface="Patrick Hand"/>
              </a:rPr>
              <a:t>title-specific signal</a:t>
            </a:r>
          </a:p>
          <a:p>
            <a:pPr algn="l">
              <a:spcAft>
                <a:spcPts val="900"/>
              </a:spcAft>
            </a:pPr>
            <a:r>
              <a:rPr sz="2000" b="0">
                <a:solidFill>
                  <a:srgbClr val="2B2D42"/>
                </a:solidFill>
                <a:latin typeface="Patrick Hand"/>
              </a:rPr>
              <a:t>= true title  -  mean(5 false titles)</a:t>
            </a:r>
          </a:p>
          <a:p>
            <a:pPr algn="l">
              <a:spcAft>
                <a:spcPts val="900"/>
              </a:spcAft>
            </a:pPr>
            <a:r>
              <a:rPr sz="2000" b="0">
                <a:solidFill>
                  <a:srgbClr val="2B2D42"/>
                </a:solidFill>
                <a:latin typeface="Patrick Hand"/>
              </a:rPr>
              <a:t>Same name, same tokens: what is left is knowing </a:t>
            </a:r>
          </a:p>
          <a:p>
            <a:pPr algn="l">
              <a:spcAft>
                <a:spcPts val="900"/>
              </a:spcAft>
            </a:pPr>
            <a:r>
              <a:rPr sz="2000" b="1">
                <a:solidFill>
                  <a:srgbClr val="E07A2F"/>
                </a:solidFill>
                <a:latin typeface="Patrick Hand"/>
              </a:rPr>
              <a:t>this paper</a:t>
            </a:r>
          </a:p>
        </p:txBody>
      </p:sp>
      <p:sp>
        <p:nvSpPr>
          <p:cNvPr id="11" name="TextBox 10"/>
          <p:cNvSpPr txBox="1"/>
          <p:nvPr/>
        </p:nvSpPr>
        <p:spPr>
          <a:xfrm>
            <a:off x="713232" y="6126480"/>
            <a:ext cx="10789920" cy="320040"/>
          </a:xfrm>
          <a:prstGeom prst="rect">
            <a:avLst/>
          </a:prstGeom>
          <a:noFill/>
        </p:spPr>
        <p:txBody>
          <a:bodyPr wrap="square" lIns="0" rIns="0" tIns="0" bIns="0" anchor="t">
            <a:spAutoFit/>
          </a:bodyPr>
          <a:lstStyle/>
          <a:p>
            <a:pPr algn="l">
              <a:spcAft>
                <a:spcPts val="800"/>
              </a:spcAft>
            </a:pPr>
            <a:r>
              <a:rPr sz="1400" b="0">
                <a:solidFill>
                  <a:srgbClr val="6E7080"/>
                </a:solidFill>
                <a:latin typeface="Patrick Hand"/>
              </a:rPr>
              <a:t>Lenses (model weights never change; Jacobians to L63 averaged over prompts): public = 557 WikiText-103 prompts (Neuronpedia) · self100 = 100 frozen WikiText-103 prompts · fitA = 100 other WikiText-103 prompts (Stage 9: one skipped prompt replaced -&gt; 100 valid)</a:t>
            </a:r>
          </a:p>
        </p:txBody>
      </p:sp>
      <p:sp>
        <p:nvSpPr>
          <p:cNvPr id="12" name="Rounded Rectangle 11"/>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Can we trust the numbers?</a:t>
            </a:r>
          </a:p>
        </p:txBody>
      </p:sp>
      <p:sp>
        <p:nvSpPr>
          <p:cNvPr id="4" name="Rounded Rectangle 3"/>
          <p:cNvSpPr/>
          <p:nvPr/>
        </p:nvSpPr>
        <p:spPr>
          <a:xfrm rot="21540000">
            <a:off x="822960" y="1828800"/>
            <a:ext cx="3383280" cy="2377440"/>
          </a:xfrm>
          <a:prstGeom prst="roundRect">
            <a:avLst>
              <a:gd name="adj" fmla="val 8000"/>
            </a:avLst>
          </a:prstGeom>
          <a:noFill/>
          <a:ln w="28575">
            <a:solidFill>
              <a:srgbClr val="3A6EA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3A6EA5"/>
                </a:solidFill>
                <a:latin typeface="Patrick Hand"/>
              </a:rPr>
              <a:t>fast = slow</a:t>
            </a:r>
          </a:p>
          <a:p>
            <a:pPr algn="ctr">
              <a:spcAft>
                <a:spcPts val="400"/>
              </a:spcAft>
            </a:pPr>
            <a:r>
              <a:rPr sz="1900" b="0">
                <a:solidFill>
                  <a:srgbClr val="3A6EA5"/>
                </a:solidFill>
                <a:latin typeface="Patrick Hand"/>
              </a:rPr>
              <a:t>One forward pass vs one per prefix: max gap 0.37 logit (bf16 rounding); ranks 1-41 identical</a:t>
            </a:r>
          </a:p>
        </p:txBody>
      </p:sp>
      <p:sp>
        <p:nvSpPr>
          <p:cNvPr id="5" name="Rounded Rectangle 4"/>
          <p:cNvSpPr/>
          <p:nvPr/>
        </p:nvSpPr>
        <p:spPr>
          <a:xfrm rot="60000">
            <a:off x="4572000" y="1828800"/>
            <a:ext cx="3383280" cy="2377440"/>
          </a:xfrm>
          <a:prstGeom prst="roundRect">
            <a:avLst>
              <a:gd name="adj" fmla="val 8000"/>
            </a:avLst>
          </a:prstGeom>
          <a:noFill/>
          <a:ln w="28575">
            <a:solidFill>
              <a:srgbClr val="3C8D5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3C8D5A"/>
                </a:solidFill>
                <a:latin typeface="Patrick Hand"/>
              </a:rPr>
              <a:t>matches Stage 6</a:t>
            </a:r>
          </a:p>
          <a:p>
            <a:pPr algn="ctr">
              <a:spcAft>
                <a:spcPts val="400"/>
              </a:spcAft>
            </a:pPr>
            <a:r>
              <a:rPr sz="1900" b="0">
                <a:solidFill>
                  <a:srgbClr val="3C8D5A"/>
                </a:solidFill>
                <a:latin typeface="Patrick Hand"/>
              </a:rPr>
              <a:t>972 tokens: same token ids, median log-prob gap ~1e-5</a:t>
            </a:r>
          </a:p>
        </p:txBody>
      </p:sp>
      <p:sp>
        <p:nvSpPr>
          <p:cNvPr id="6" name="Rounded Rectangle 5"/>
          <p:cNvSpPr/>
          <p:nvPr/>
        </p:nvSpPr>
        <p:spPr>
          <a:xfrm rot="21570000">
            <a:off x="8321040" y="1828800"/>
            <a:ext cx="3383280" cy="2377440"/>
          </a:xfrm>
          <a:prstGeom prst="roundRect">
            <a:avLst>
              <a:gd name="adj" fmla="val 8000"/>
            </a:avLst>
          </a:prstGeom>
          <a:noFill/>
          <a:ln w="28575">
            <a:solidFill>
              <a:srgbClr val="E07A2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E07A2F"/>
                </a:solidFill>
                <a:latin typeface="Patrick Hand"/>
              </a:rPr>
              <a:t>negative control</a:t>
            </a:r>
          </a:p>
          <a:p>
            <a:pPr algn="ctr">
              <a:spcAft>
                <a:spcPts val="400"/>
              </a:spcAft>
            </a:pPr>
            <a:r>
              <a:rPr sz="1900" b="0">
                <a:solidFill>
                  <a:srgbClr val="E07A2F"/>
                </a:solidFill>
                <a:latin typeface="Patrick Hand"/>
              </a:rPr>
              <a:t>Punctuation tokens show ~0 title-specific signal at every layer</a:t>
            </a:r>
          </a:p>
        </p:txBody>
      </p:sp>
      <p:sp>
        <p:nvSpPr>
          <p:cNvPr id="7" name="Rectangle 6"/>
          <p:cNvSpPr/>
          <p:nvPr/>
        </p:nvSpPr>
        <p:spPr>
          <a:xfrm rot="21540000">
            <a:off x="2743200" y="4709160"/>
            <a:ext cx="6583680" cy="114300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Caveat: </a:t>
            </a:r>
            <a:r>
              <a:rPr sz="1900" b="0">
                <a:solidFill>
                  <a:srgbClr val="2B2D42"/>
                </a:solidFill>
                <a:latin typeface="Patrick Hand"/>
              </a:rPr>
              <a:t>the parity tolerance was raised 0.25 -&gt; 0.5 after seeing these bf16 gaps.</a:t>
            </a:r>
          </a:p>
        </p:txBody>
      </p:sp>
      <p:sp>
        <p:nvSpPr>
          <p:cNvPr id="8" name="Rounded Rectangle 7"/>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Names become readable late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all 9,108 papers · true title</a:t>
            </a:r>
          </a:p>
        </p:txBody>
      </p:sp>
      <p:pic>
        <p:nvPicPr>
          <p:cNvPr id="5" name="Picture 4" descr="c1_level_by_layer.png"/>
          <p:cNvPicPr>
            <a:picLocks noChangeAspect="1"/>
          </p:cNvPicPr>
          <p:nvPr/>
        </p:nvPicPr>
        <p:blipFill>
          <a:blip r:embed="rId4"/>
          <a:stretch>
            <a:fillRect/>
          </a:stretch>
        </p:blipFill>
        <p:spPr>
          <a:xfrm>
            <a:off x="548640" y="1417320"/>
            <a:ext cx="7315200" cy="4528457"/>
          </a:xfrm>
          <a:prstGeom prst="rect">
            <a:avLst/>
          </a:prstGeom>
        </p:spPr>
      </p:pic>
      <p:sp>
        <p:nvSpPr>
          <p:cNvPr id="6" name="Rectangle 5"/>
          <p:cNvSpPr/>
          <p:nvPr/>
        </p:nvSpPr>
        <p:spPr>
          <a:xfrm rot="90000">
            <a:off x="8229600" y="1737360"/>
            <a:ext cx="338328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0">
                <a:solidFill>
                  <a:srgbClr val="2B2D42"/>
                </a:solidFill>
                <a:latin typeface="Patrick Hand"/>
              </a:rPr>
              <a:t>Logit lens: almost nothing until </a:t>
            </a:r>
            <a:r>
              <a:rPr sz="1900" b="1">
                <a:solidFill>
                  <a:srgbClr val="3A6EA5"/>
                </a:solidFill>
                <a:latin typeface="Patrick Hand"/>
              </a:rPr>
              <a:t>L48</a:t>
            </a:r>
          </a:p>
          <a:p>
            <a:pPr algn="l">
              <a:spcAft>
                <a:spcPts val="900"/>
              </a:spcAft>
            </a:pPr>
            <a:r>
              <a:rPr sz="1900" b="0">
                <a:solidFill>
                  <a:srgbClr val="2B2D42"/>
                </a:solidFill>
                <a:latin typeface="Patrick Hand"/>
              </a:rPr>
              <a:t>Jacobian lenses read more from </a:t>
            </a:r>
            <a:r>
              <a:rPr sz="1900" b="1">
                <a:solidFill>
                  <a:srgbClr val="3C8D5A"/>
                </a:solidFill>
                <a:latin typeface="Patrick Hand"/>
              </a:rPr>
              <a:t>L40</a:t>
            </a:r>
          </a:p>
          <a:p>
            <a:pPr algn="l">
              <a:spcAft>
                <a:spcPts val="900"/>
              </a:spcAft>
            </a:pPr>
            <a:r>
              <a:rPr sz="1900" b="0">
                <a:solidFill>
                  <a:srgbClr val="2B2D42"/>
                </a:solidFill>
                <a:latin typeface="Patrick Hand"/>
              </a:rPr>
              <a:t>Everything jumps at </a:t>
            </a:r>
            <a:r>
              <a:rPr sz="1900" b="1">
                <a:solidFill>
                  <a:srgbClr val="E07A2F"/>
                </a:solidFill>
                <a:latin typeface="Patrick Hand"/>
              </a:rPr>
              <a:t>L62</a:t>
            </a:r>
            <a:r>
              <a:rPr sz="1900" b="0">
                <a:solidFill>
                  <a:srgbClr val="2B2D42"/>
                </a:solidFill>
                <a:latin typeface="Patrick Hand"/>
              </a:rPr>
              <a:t> (rank ~10)</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Knowing the paper shows up only at the end</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title-specific signal · public Jacobian lens (lines) and model output (diamonds)</a:t>
            </a:r>
          </a:p>
        </p:txBody>
      </p:sp>
      <p:pic>
        <p:nvPicPr>
          <p:cNvPr id="5" name="Picture 4" descr="c2_spec_by_layer.png"/>
          <p:cNvPicPr>
            <a:picLocks noChangeAspect="1"/>
          </p:cNvPicPr>
          <p:nvPr/>
        </p:nvPicPr>
        <p:blipFill>
          <a:blip r:embed="rId4"/>
          <a:stretch>
            <a:fillRect/>
          </a:stretch>
        </p:blipFill>
        <p:spPr>
          <a:xfrm>
            <a:off x="548640" y="1463040"/>
            <a:ext cx="7315200" cy="4528457"/>
          </a:xfrm>
          <a:prstGeom prst="rect">
            <a:avLst/>
          </a:prstGeom>
        </p:spPr>
      </p:pic>
      <p:sp>
        <p:nvSpPr>
          <p:cNvPr id="6" name="Rectangle 5"/>
          <p:cNvSpPr/>
          <p:nvPr/>
        </p:nvSpPr>
        <p:spPr>
          <a:xfrm rot="21510000">
            <a:off x="8229600" y="1737360"/>
            <a:ext cx="338328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L24-L48: ~0</a:t>
            </a:r>
            <a:r>
              <a:rPr sz="1900" b="0">
                <a:solidFill>
                  <a:srgbClr val="2B2D42"/>
                </a:solidFill>
                <a:latin typeface="Patrick Hand"/>
              </a:rPr>
              <a:t> for both groups</a:t>
            </a:r>
          </a:p>
          <a:p>
            <a:pPr algn="l">
              <a:spcAft>
                <a:spcPts val="900"/>
              </a:spcAft>
            </a:pPr>
            <a:r>
              <a:rPr sz="1900" b="0">
                <a:solidFill>
                  <a:srgbClr val="2B2D42"/>
                </a:solidFill>
                <a:latin typeface="Patrick Hand"/>
              </a:rPr>
              <a:t>rises at </a:t>
            </a:r>
            <a:r>
              <a:rPr sz="1900" b="1">
                <a:solidFill>
                  <a:srgbClr val="2B2D42"/>
                </a:solidFill>
                <a:latin typeface="Patrick Hand"/>
              </a:rPr>
              <a:t>L56</a:t>
            </a:r>
          </a:p>
          <a:p>
            <a:pPr algn="l">
              <a:spcAft>
                <a:spcPts val="900"/>
              </a:spcAft>
            </a:pPr>
            <a:r>
              <a:rPr sz="1900" b="0">
                <a:solidFill>
                  <a:srgbClr val="2B2D42"/>
                </a:solidFill>
                <a:latin typeface="Patrick Hand"/>
              </a:rPr>
              <a:t>L62: </a:t>
            </a:r>
            <a:r>
              <a:rPr sz="1900" b="1">
                <a:solidFill>
                  <a:srgbClr val="E07A2F"/>
                </a:solidFill>
                <a:latin typeface="Patrick Hand"/>
              </a:rPr>
              <a:t>target +0.56</a:t>
            </a:r>
            <a:r>
              <a:rPr sz="1900" b="0">
                <a:solidFill>
                  <a:srgbClr val="2B2D42"/>
                </a:solidFill>
                <a:latin typeface="Patrick Hand"/>
              </a:rPr>
              <a:t> vs </a:t>
            </a:r>
            <a:r>
              <a:rPr sz="1900" b="1">
                <a:solidFill>
                  <a:srgbClr val="3A6EA5"/>
                </a:solidFill>
                <a:latin typeface="Patrick Hand"/>
              </a:rPr>
              <a:t>control +0.24</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Target pulls ahead only in the last layers</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target - control, within citation bin, 95% CI</a:t>
            </a:r>
          </a:p>
        </p:txBody>
      </p:sp>
      <p:pic>
        <p:nvPicPr>
          <p:cNvPr id="5" name="Picture 4" descr="c3_tc_by_layer.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90000">
            <a:off x="9098280" y="1737360"/>
            <a:ext cx="2651760" cy="393192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Middle layers: </a:t>
            </a:r>
            <a:r>
              <a:rPr sz="1800" b="1">
                <a:solidFill>
                  <a:srgbClr val="2B2D42"/>
                </a:solidFill>
                <a:latin typeface="Patrick Hand"/>
              </a:rPr>
              <a:t>no head start</a:t>
            </a:r>
          </a:p>
          <a:p>
            <a:pPr algn="l">
              <a:spcAft>
                <a:spcPts val="900"/>
              </a:spcAft>
            </a:pPr>
            <a:r>
              <a:rPr sz="1800" b="0">
                <a:solidFill>
                  <a:srgbClr val="2B2D42"/>
                </a:solidFill>
                <a:latin typeface="Patrick Hand"/>
              </a:rPr>
              <a:t>L62 / output:</a:t>
            </a:r>
          </a:p>
          <a:p>
            <a:pPr algn="l">
              <a:spcAft>
                <a:spcPts val="900"/>
              </a:spcAft>
            </a:pPr>
            <a:r>
              <a:rPr sz="1800" b="1">
                <a:solidFill>
                  <a:srgbClr val="E07A2F"/>
                </a:solidFill>
                <a:latin typeface="Patrick Hand"/>
              </a:rPr>
              <a:t>+0.21 to +0.23</a:t>
            </a:r>
          </a:p>
          <a:p>
            <a:pPr algn="l">
              <a:spcAft>
                <a:spcPts val="900"/>
              </a:spcAft>
            </a:pPr>
            <a:r>
              <a:rPr sz="1800" b="0">
                <a:solidFill>
                  <a:srgbClr val="2B2D42"/>
                </a:solidFill>
                <a:latin typeface="Patrick Hand"/>
              </a:rPr>
              <a:t>almost all title-specific</a:t>
            </a:r>
          </a:p>
          <a:p>
            <a:pPr algn="l">
              <a:spcAft>
                <a:spcPts val="900"/>
              </a:spcAft>
            </a:pPr>
            <a:r>
              <a:rPr sz="1800" b="1">
                <a:solidFill>
                  <a:srgbClr val="2B2D42"/>
                </a:solidFill>
                <a:latin typeface="Patrick Hand"/>
              </a:rPr>
              <a:t>R0 only</a:t>
            </a:r>
            <a:r>
              <a:rPr sz="1800" b="0">
                <a:solidFill>
                  <a:srgbClr val="2B2D42"/>
                </a:solidFill>
                <a:latin typeface="Patrick Hand"/>
              </a:rPr>
              <a:t> (no author written): output +0.199 vs +0.207</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It builds up over the last dozen layers</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fine layers L40-L62 · title-specific signal · 95% CI</a:t>
            </a:r>
          </a:p>
        </p:txBody>
      </p:sp>
      <p:pic>
        <p:nvPicPr>
          <p:cNvPr id="5" name="Picture 4" descr="c11_fine_layers.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2151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0">
                <a:solidFill>
                  <a:srgbClr val="2B2D42"/>
                </a:solidFill>
                <a:latin typeface="Patrick Hand"/>
              </a:rPr>
              <a:t>Logit lens: target - control</a:t>
            </a:r>
          </a:p>
          <a:p>
            <a:pPr algn="l">
              <a:spcAft>
                <a:spcPts val="900"/>
              </a:spcAft>
            </a:pPr>
            <a:r>
              <a:rPr sz="1900" b="1">
                <a:solidFill>
                  <a:srgbClr val="3A6EA5"/>
                </a:solidFill>
                <a:latin typeface="Patrick Hand"/>
              </a:rPr>
              <a:t>+0.007 at L50</a:t>
            </a:r>
          </a:p>
          <a:p>
            <a:pPr algn="l">
              <a:spcAft>
                <a:spcPts val="900"/>
              </a:spcAft>
            </a:pPr>
            <a:r>
              <a:rPr sz="1900" b="1">
                <a:solidFill>
                  <a:srgbClr val="E07A2F"/>
                </a:solidFill>
                <a:latin typeface="Patrick Hand"/>
              </a:rPr>
              <a:t>+0.23 at L62</a:t>
            </a:r>
          </a:p>
          <a:p>
            <a:pPr algn="l">
              <a:spcAft>
                <a:spcPts val="900"/>
              </a:spcAft>
            </a:pPr>
            <a:r>
              <a:rPr sz="1900" b="0">
                <a:solidFill>
                  <a:srgbClr val="2B2D42"/>
                </a:solidFill>
                <a:latin typeface="Patrick Hand"/>
              </a:rPr>
              <a:t>steepest rise </a:t>
            </a:r>
            <a:r>
              <a:rPr sz="1900" b="1">
                <a:solidFill>
                  <a:srgbClr val="2B2D42"/>
                </a:solidFill>
                <a:latin typeface="Patrick Hand"/>
              </a:rPr>
              <a:t>L57-L61</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Stage 11: intervene, do not just read</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593 + 593 papers: min(60, n_t, n_c) per citation bin, seed 11 · patch uses false_0 · knockout masks all heads · all 9,108 for probe and chain</a:t>
            </a:r>
          </a:p>
        </p:txBody>
      </p:sp>
      <p:sp>
        <p:nvSpPr>
          <p:cNvPr id="5" name="Rounded Rectangle 4"/>
          <p:cNvSpPr/>
          <p:nvPr/>
        </p:nvSpPr>
        <p:spPr>
          <a:xfrm rot="21540000">
            <a:off x="822960" y="1737360"/>
            <a:ext cx="5120640" cy="1828800"/>
          </a:xfrm>
          <a:prstGeom prst="roundRect">
            <a:avLst>
              <a:gd name="adj" fmla="val 8000"/>
            </a:avLst>
          </a:prstGeom>
          <a:noFill/>
          <a:ln w="28575">
            <a:solidFill>
              <a:srgbClr val="E07A2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E07A2F"/>
                </a:solidFill>
                <a:latin typeface="Patrick Hand"/>
              </a:rPr>
              <a:t>patch</a:t>
            </a:r>
          </a:p>
          <a:p>
            <a:pPr algn="ctr">
              <a:spcAft>
                <a:spcPts val="400"/>
              </a:spcAft>
            </a:pPr>
            <a:r>
              <a:rPr sz="2000" b="0">
                <a:solidFill>
                  <a:srgbClr val="E07A2F"/>
                </a:solidFill>
                <a:latin typeface="Patrick Hand"/>
              </a:rPr>
              <a:t>copy the true-title hidden state into the false-title run at one layer</a:t>
            </a:r>
          </a:p>
        </p:txBody>
      </p:sp>
      <p:sp>
        <p:nvSpPr>
          <p:cNvPr id="6" name="Rounded Rectangle 5"/>
          <p:cNvSpPr/>
          <p:nvPr/>
        </p:nvSpPr>
        <p:spPr>
          <a:xfrm rot="60000">
            <a:off x="6400800" y="1737360"/>
            <a:ext cx="5120640" cy="1828800"/>
          </a:xfrm>
          <a:prstGeom prst="roundRect">
            <a:avLst>
              <a:gd name="adj" fmla="val 8000"/>
            </a:avLst>
          </a:prstGeom>
          <a:noFill/>
          <a:ln w="28575">
            <a:solidFill>
              <a:srgbClr val="3A6EA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3A6EA5"/>
                </a:solidFill>
                <a:latin typeface="Patrick Hand"/>
              </a:rPr>
              <a:t>knock out</a:t>
            </a:r>
          </a:p>
          <a:p>
            <a:pPr algn="ctr">
              <a:spcAft>
                <a:spcPts val="400"/>
              </a:spcAft>
            </a:pPr>
            <a:r>
              <a:rPr sz="2000" b="0">
                <a:solidFill>
                  <a:srgbClr val="3A6EA5"/>
                </a:solidFill>
                <a:latin typeface="Patrick Hand"/>
              </a:rPr>
              <a:t>block attention to the title tokens (all heads) from layer l to the last layer</a:t>
            </a:r>
          </a:p>
        </p:txBody>
      </p:sp>
      <p:sp>
        <p:nvSpPr>
          <p:cNvPr id="7" name="Rounded Rectangle 6"/>
          <p:cNvSpPr/>
          <p:nvPr/>
        </p:nvSpPr>
        <p:spPr>
          <a:xfrm rot="21570000">
            <a:off x="822960" y="3886200"/>
            <a:ext cx="5120640" cy="1828800"/>
          </a:xfrm>
          <a:prstGeom prst="roundRect">
            <a:avLst>
              <a:gd name="adj" fmla="val 8000"/>
            </a:avLst>
          </a:prstGeom>
          <a:noFill/>
          <a:ln w="28575">
            <a:solidFill>
              <a:srgbClr val="3C8D5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3C8D5A"/>
                </a:solidFill>
                <a:latin typeface="Patrick Hand"/>
              </a:rPr>
              <a:t>probe</a:t>
            </a:r>
          </a:p>
          <a:p>
            <a:pPr algn="ctr">
              <a:spcAft>
                <a:spcPts val="400"/>
              </a:spcAft>
            </a:pPr>
            <a:r>
              <a:rPr sz="2000" b="0">
                <a:solidFill>
                  <a:srgbClr val="3C8D5A"/>
                </a:solidFill>
                <a:latin typeface="Patrick Hand"/>
              </a:rPr>
              <a:t>linear map from the last title token to the output state</a:t>
            </a:r>
          </a:p>
        </p:txBody>
      </p:sp>
      <p:sp>
        <p:nvSpPr>
          <p:cNvPr id="8" name="Rounded Rectangle 7"/>
          <p:cNvSpPr/>
          <p:nvPr/>
        </p:nvSpPr>
        <p:spPr>
          <a:xfrm rot="48000">
            <a:off x="6400800" y="3886200"/>
            <a:ext cx="5120640" cy="182880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2B2D42"/>
                </a:solidFill>
                <a:latin typeface="Patrick Hand"/>
              </a:rPr>
              <a:t>chain</a:t>
            </a:r>
          </a:p>
          <a:p>
            <a:pPr algn="ctr">
              <a:spcAft>
                <a:spcPts val="400"/>
              </a:spcAft>
            </a:pPr>
            <a:r>
              <a:rPr sz="2000" b="0">
                <a:solidFill>
                  <a:srgbClr val="2B2D42"/>
                </a:solidFill>
                <a:latin typeface="Patrick Hand"/>
              </a:rPr>
              <a:t>"Authors: A1, A2, ..." instead of each author alone</a:t>
            </a:r>
          </a:p>
        </p:txBody>
      </p:sp>
      <p:sp>
        <p:nvSpPr>
          <p:cNvPr id="9" name="TextBox 8"/>
          <p:cNvSpPr txBox="1"/>
          <p:nvPr/>
        </p:nvSpPr>
        <p:spPr>
          <a:xfrm>
            <a:off x="713232" y="6355080"/>
            <a:ext cx="10789920" cy="320040"/>
          </a:xfrm>
          <a:prstGeom prst="rect">
            <a:avLst/>
          </a:prstGeom>
          <a:noFill/>
        </p:spPr>
        <p:txBody>
          <a:bodyPr wrap="square" lIns="0" rIns="0" tIns="0" bIns="0" anchor="t">
            <a:spAutoFit/>
          </a:bodyPr>
          <a:lstStyle/>
          <a:p>
            <a:pPr algn="l">
              <a:spcAft>
                <a:spcPts val="800"/>
              </a:spcAft>
            </a:pPr>
            <a:r>
              <a:rPr sz="1400" b="0">
                <a:solidFill>
                  <a:srgbClr val="6E7080"/>
                </a:solidFill>
                <a:latin typeface="Patrick Hand"/>
              </a:rPr>
              <a:t>Score: rank of the correct name token at the model output; "share of the true-false gap" = (intervened - false) / (true - false).</a:t>
            </a:r>
          </a:p>
        </p:txBody>
      </p:sp>
      <p:sp>
        <p:nvSpPr>
          <p:cNvPr id="10" name="Rounded Rectangle 9"/>
          <p:cNvSpPr/>
          <p:nvPr/>
        </p:nvSpPr>
        <p:spPr>
          <a:xfrm>
            <a:off x="10241280" y="182880"/>
            <a:ext cx="1691640" cy="384048"/>
          </a:xfrm>
          <a:prstGeom prst="roundRect">
            <a:avLst>
              <a:gd name="adj" fmla="val 30000"/>
            </a:avLst>
          </a:prstGeom>
          <a:solidFill>
            <a:srgbClr val="FFFFFF"/>
          </a:solidFill>
          <a:ln w="22225">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E07A2F"/>
                </a:solidFill>
                <a:latin typeface="Patrick Hand"/>
              </a:rPr>
              <a:t>Stage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The title is read in L24-L50, early</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share of the true-false gap · CIs about +/-0.02</a:t>
            </a:r>
          </a:p>
        </p:txBody>
      </p:sp>
      <p:pic>
        <p:nvPicPr>
          <p:cNvPr id="5" name="Picture 4" descr="c12_patch_knockout.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90000">
            <a:off x="9098280" y="1737360"/>
            <a:ext cx="2651760" cy="32918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1">
                <a:solidFill>
                  <a:srgbClr val="E07A2F"/>
                </a:solidFill>
                <a:latin typeface="Patrick Hand"/>
              </a:rPr>
              <a:t>L52+</a:t>
            </a:r>
            <a:r>
              <a:rPr sz="1800" b="0">
                <a:solidFill>
                  <a:srgbClr val="2B2D42"/>
                </a:solidFill>
                <a:latin typeface="Patrick Hand"/>
              </a:rPr>
              <a:t>: title no longer needed</a:t>
            </a:r>
          </a:p>
          <a:p>
            <a:pPr algn="l">
              <a:spcAft>
                <a:spcPts val="900"/>
              </a:spcAft>
            </a:pPr>
            <a:r>
              <a:rPr sz="1800" b="0">
                <a:solidFill>
                  <a:srgbClr val="2B2D42"/>
                </a:solidFill>
                <a:latin typeface="Patrick Hand"/>
              </a:rPr>
              <a:t>info moved to the tokens </a:t>
            </a:r>
            <a:r>
              <a:rPr sz="1800" b="1">
                <a:solidFill>
                  <a:srgbClr val="2B2D42"/>
                </a:solidFill>
                <a:latin typeface="Patrick Hand"/>
              </a:rPr>
              <a:t>right after</a:t>
            </a:r>
            <a:r>
              <a:rPr sz="1800" b="0">
                <a:solidFill>
                  <a:srgbClr val="2B2D42"/>
                </a:solidFill>
                <a:latin typeface="Patrick Hand"/>
              </a:rPr>
              <a:t> the title</a:t>
            </a:r>
          </a:p>
          <a:p>
            <a:pPr algn="l">
              <a:spcAft>
                <a:spcPts val="900"/>
              </a:spcAft>
            </a:pPr>
            <a:r>
              <a:rPr sz="1800" b="0">
                <a:solidFill>
                  <a:srgbClr val="2B2D42"/>
                </a:solidFill>
                <a:latin typeface="Patrick Hand"/>
              </a:rPr>
              <a:t>same timing for target and control</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E07A2F"/>
                </a:solidFill>
                <a:latin typeface="Patrick Hand"/>
              </a:rPr>
              <a:t>Stage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Read early: a probe finds it at the title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title-specific signal at the last title token · lenses: all 9,108 papers · probe: re-checked, title reuse removed: 1,863 papers (896 target, 499 control)</a:t>
            </a:r>
          </a:p>
        </p:txBody>
      </p:sp>
      <p:pic>
        <p:nvPicPr>
          <p:cNvPr id="5" name="Picture 4" descr="c13_title_position.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21510000">
            <a:off x="9098280" y="1737360"/>
            <a:ext cx="2651760" cy="457200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lenses: </a:t>
            </a:r>
            <a:r>
              <a:rPr sz="1800" b="1">
                <a:solidFill>
                  <a:srgbClr val="2B2D42"/>
                </a:solidFill>
                <a:latin typeface="Patrick Hand"/>
              </a:rPr>
              <a:t>~0.01-0.03</a:t>
            </a:r>
          </a:p>
          <a:p>
            <a:pPr algn="l">
              <a:spcAft>
                <a:spcPts val="900"/>
              </a:spcAft>
            </a:pPr>
            <a:r>
              <a:rPr sz="1800" b="0">
                <a:solidFill>
                  <a:srgbClr val="2B2D42"/>
                </a:solidFill>
                <a:latin typeface="Patrick Hand"/>
              </a:rPr>
              <a:t>probe: </a:t>
            </a:r>
            <a:r>
              <a:rPr sz="1800" b="1">
                <a:solidFill>
                  <a:srgbClr val="3C8D5A"/>
                </a:solidFill>
                <a:latin typeface="Patrick Hand"/>
              </a:rPr>
              <a:t>0.05 -&gt; 0.08</a:t>
            </a:r>
          </a:p>
          <a:p>
            <a:pPr algn="l">
              <a:spcAft>
                <a:spcPts val="900"/>
              </a:spcAft>
            </a:pPr>
            <a:r>
              <a:rPr sz="1800" b="0">
                <a:solidFill>
                  <a:srgbClr val="2B2D42"/>
                </a:solidFill>
                <a:latin typeface="Patrick Hand"/>
              </a:rPr>
              <a:t>target &gt; control by </a:t>
            </a:r>
            <a:r>
              <a:rPr sz="1800" b="1">
                <a:solidFill>
                  <a:srgbClr val="E07A2F"/>
                </a:solidFill>
                <a:latin typeface="Patrick Hand"/>
              </a:rPr>
              <a:t>+0.04-0.08</a:t>
            </a:r>
          </a:p>
          <a:p>
            <a:pPr algn="l">
              <a:spcAft>
                <a:spcPts val="900"/>
              </a:spcAft>
            </a:pPr>
            <a:r>
              <a:rPr sz="1800" b="0">
                <a:solidFill>
                  <a:srgbClr val="2B2D42"/>
                </a:solidFill>
                <a:latin typeface="Patrick Hand"/>
              </a:rPr>
              <a:t>re-checked: team folds, title reuse removed</a:t>
            </a:r>
          </a:p>
          <a:p>
            <a:pPr algn="l">
              <a:spcAft>
                <a:spcPts val="900"/>
              </a:spcAft>
            </a:pPr>
            <a:r>
              <a:rPr sz="1800" b="0">
                <a:solidFill>
                  <a:srgbClr val="2B2D42"/>
                </a:solidFill>
                <a:latin typeface="Patrick Hand"/>
              </a:rPr>
              <a:t>scores the first name token only (mostly an initial); subtracts false_0 only</a:t>
            </a:r>
          </a:p>
          <a:p>
            <a:pPr algn="l">
              <a:spcAft>
                <a:spcPts val="900"/>
              </a:spcAft>
            </a:pPr>
            <a:r>
              <a:rPr sz="1800" b="1">
                <a:solidFill>
                  <a:srgbClr val="3C8D5A"/>
                </a:solidFill>
                <a:latin typeface="Patrick Hand"/>
              </a:rPr>
              <a:t>read early</a:t>
            </a:r>
            <a:r>
              <a:rPr sz="1800" b="0">
                <a:solidFill>
                  <a:srgbClr val="2B2D42"/>
                </a:solidFill>
                <a:latin typeface="Patrick Hand"/>
              </a:rPr>
              <a:t> (title, from L24), </a:t>
            </a:r>
            <a:r>
              <a:rPr sz="1800" b="1">
                <a:solidFill>
                  <a:srgbClr val="E07A2F"/>
                </a:solidFill>
                <a:latin typeface="Patrick Hand"/>
              </a:rPr>
              <a:t>spoken late</a:t>
            </a:r>
            <a:r>
              <a:rPr sz="1800" b="0">
                <a:solidFill>
                  <a:srgbClr val="2B2D42"/>
                </a:solidFill>
                <a:latin typeface="Patrick Hand"/>
              </a:rPr>
              <a:t> (names, L57-61)</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E07A2F"/>
                </a:solidFill>
                <a:latin typeface="Patrick Hand"/>
              </a:rPr>
              <a:t>Stage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Co-authors help, and partly replace the title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all 9,108 papers · 95% CI</a:t>
            </a:r>
          </a:p>
        </p:txBody>
      </p:sp>
      <p:pic>
        <p:nvPicPr>
          <p:cNvPr id="5" name="Picture 4" descr="c14_author_chain.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90000">
            <a:off x="9098280" y="1737360"/>
            <a:ext cx="2651760" cy="32918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later authors </a:t>
            </a:r>
            <a:r>
              <a:rPr sz="1800" b="1">
                <a:solidFill>
                  <a:srgbClr val="E07A2F"/>
                </a:solidFill>
                <a:latin typeface="Patrick Hand"/>
              </a:rPr>
              <a:t>+0.17 to +0.23</a:t>
            </a:r>
          </a:p>
          <a:p>
            <a:pPr algn="l">
              <a:spcAft>
                <a:spcPts val="900"/>
              </a:spcAft>
            </a:pPr>
            <a:r>
              <a:rPr sz="1800" b="0">
                <a:solidFill>
                  <a:srgbClr val="2B2D42"/>
                </a:solidFill>
                <a:latin typeface="Patrick Hand"/>
              </a:rPr>
              <a:t>title-specific part </a:t>
            </a:r>
            <a:r>
              <a:rPr sz="1800" b="1">
                <a:solidFill>
                  <a:srgbClr val="2B2D42"/>
                </a:solidFill>
                <a:latin typeface="Patrick Hand"/>
              </a:rPr>
              <a:t>shrinks</a:t>
            </a:r>
          </a:p>
          <a:p>
            <a:pPr algn="l">
              <a:spcAft>
                <a:spcPts val="900"/>
              </a:spcAft>
            </a:pPr>
            <a:r>
              <a:rPr sz="1800" b="0">
                <a:solidFill>
                  <a:srgbClr val="2B2D42"/>
                </a:solidFill>
                <a:latin typeface="Patrick Hand"/>
              </a:rPr>
              <a:t>target &gt; control still</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E07A2F"/>
                </a:solidFill>
                <a:latin typeface="Patrick Hand"/>
              </a:rPr>
              <a:t>Stage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How much is just the name prior?</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no title vs false title vs true title · all 9,108 papers</a:t>
            </a:r>
          </a:p>
        </p:txBody>
      </p:sp>
      <p:pic>
        <p:nvPicPr>
          <p:cNvPr id="5" name="Picture 4" descr="c15_name_prior.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90000">
            <a:off x="9098280" y="1737360"/>
            <a:ext cx="2651760" cy="35661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700" b="0">
                <a:solidFill>
                  <a:srgbClr val="2B2D42"/>
                </a:solidFill>
                <a:latin typeface="Patrick Hand"/>
              </a:rPr>
              <a:t>no title: rank </a:t>
            </a:r>
            <a:r>
              <a:rPr sz="1700" b="1">
                <a:solidFill>
                  <a:srgbClr val="2B2D42"/>
                </a:solidFill>
                <a:latin typeface="Patrick Hand"/>
              </a:rPr>
              <a:t>~12</a:t>
            </a:r>
          </a:p>
          <a:p>
            <a:pPr algn="l">
              <a:spcAft>
                <a:spcPts val="900"/>
              </a:spcAft>
            </a:pPr>
            <a:r>
              <a:rPr sz="1700" b="0">
                <a:solidFill>
                  <a:srgbClr val="2B2D42"/>
                </a:solidFill>
                <a:latin typeface="Patrick Hand"/>
              </a:rPr>
              <a:t>target - control: </a:t>
            </a:r>
            <a:r>
              <a:rPr sz="1700" b="1">
                <a:solidFill>
                  <a:srgbClr val="6E7080"/>
                </a:solidFill>
                <a:latin typeface="Patrick Hand"/>
              </a:rPr>
              <a:t>+0.09</a:t>
            </a:r>
            <a:r>
              <a:rPr sz="1700" b="0">
                <a:solidFill>
                  <a:srgbClr val="2B2D42"/>
                </a:solidFill>
                <a:latin typeface="Patrick Hand"/>
              </a:rPr>
              <a:t> prior, </a:t>
            </a:r>
            <a:r>
              <a:rPr sz="1700" b="1">
                <a:solidFill>
                  <a:srgbClr val="E07A2F"/>
                </a:solidFill>
                <a:latin typeface="Patrick Hand"/>
              </a:rPr>
              <a:t>+0.21</a:t>
            </a:r>
            <a:r>
              <a:rPr sz="1700" b="0">
                <a:solidFill>
                  <a:srgbClr val="2B2D42"/>
                </a:solidFill>
                <a:latin typeface="Patrick Hand"/>
              </a:rPr>
              <a:t> paper</a:t>
            </a:r>
          </a:p>
          <a:p>
            <a:pPr algn="l">
              <a:spcAft>
                <a:spcPts val="900"/>
              </a:spcAft>
            </a:pPr>
            <a:r>
              <a:rPr sz="1700" b="0">
                <a:solidFill>
                  <a:srgbClr val="2B2D42"/>
                </a:solidFill>
                <a:latin typeface="Patrick Hand"/>
              </a:rPr>
              <a:t>surname 1st: prior ~0, paper </a:t>
            </a:r>
            <a:r>
              <a:rPr sz="1700" b="1">
                <a:solidFill>
                  <a:srgbClr val="E07A2F"/>
                </a:solidFill>
                <a:latin typeface="Patrick Hand"/>
              </a:rPr>
              <a:t>+0.42</a:t>
            </a:r>
          </a:p>
          <a:p>
            <a:pPr algn="l">
              <a:spcAft>
                <a:spcPts val="900"/>
              </a:spcAft>
            </a:pPr>
            <a:r>
              <a:rPr sz="1700" b="0">
                <a:solidFill>
                  <a:srgbClr val="2B2D42"/>
                </a:solidFill>
                <a:latin typeface="Patrick Hand"/>
              </a:rPr>
              <a:t>prior vs recognition rho </a:t>
            </a:r>
            <a:r>
              <a:rPr sz="1700" b="1">
                <a:solidFill>
                  <a:srgbClr val="2B2D42"/>
                </a:solidFill>
                <a:latin typeface="Patrick Hand"/>
              </a:rPr>
              <a:t>0.09</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E07A2F"/>
                </a:solidFill>
                <a:latin typeface="Patrick Hand"/>
              </a:rPr>
              <a:t>Stage 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The probe signal is paper-specific</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last title token · 5-fold ridge probe · re-checked: author-team folds, title reuse removed</a:t>
            </a:r>
          </a:p>
        </p:txBody>
      </p:sp>
      <p:pic>
        <p:nvPicPr>
          <p:cNvPr id="5" name="Picture 4" descr="c16_probe_controls.png"/>
          <p:cNvPicPr>
            <a:picLocks noChangeAspect="1"/>
          </p:cNvPicPr>
          <p:nvPr/>
        </p:nvPicPr>
        <p:blipFill>
          <a:blip r:embed="rId4"/>
          <a:stretch>
            <a:fillRect/>
          </a:stretch>
        </p:blipFill>
        <p:spPr>
          <a:xfrm>
            <a:off x="548640" y="1463040"/>
            <a:ext cx="7315200" cy="4167962"/>
          </a:xfrm>
          <a:prstGeom prst="rect">
            <a:avLst/>
          </a:prstGeom>
        </p:spPr>
      </p:pic>
      <p:sp>
        <p:nvSpPr>
          <p:cNvPr id="6" name="Rectangle 5"/>
          <p:cNvSpPr/>
          <p:nvPr/>
        </p:nvSpPr>
        <p:spPr>
          <a:xfrm rot="21510000">
            <a:off x="8229600" y="1737360"/>
            <a:ext cx="3383280" cy="32918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another paper's authors: </a:t>
            </a:r>
            <a:r>
              <a:rPr sz="1800" b="1">
                <a:solidFill>
                  <a:srgbClr val="2B2D42"/>
                </a:solidFill>
                <a:latin typeface="Patrick Hand"/>
              </a:rPr>
              <a:t>0</a:t>
            </a:r>
          </a:p>
          <a:p>
            <a:pPr algn="l">
              <a:spcAft>
                <a:spcPts val="900"/>
              </a:spcAft>
            </a:pPr>
            <a:r>
              <a:rPr sz="1800" b="0">
                <a:solidFill>
                  <a:srgbClr val="2B2D42"/>
                </a:solidFill>
                <a:latin typeface="Patrick Hand"/>
              </a:rPr>
              <a:t>same-field paper: </a:t>
            </a:r>
            <a:r>
              <a:rPr sz="1800" b="1">
                <a:solidFill>
                  <a:srgbClr val="2B2D42"/>
                </a:solidFill>
                <a:latin typeface="Patrick Hand"/>
              </a:rPr>
              <a:t>0</a:t>
            </a:r>
          </a:p>
          <a:p>
            <a:pPr algn="l">
              <a:spcAft>
                <a:spcPts val="900"/>
              </a:spcAft>
            </a:pPr>
            <a:r>
              <a:rPr sz="1800" b="0">
                <a:solidFill>
                  <a:srgbClr val="2B2D42"/>
                </a:solidFill>
                <a:latin typeface="Patrick Hand"/>
              </a:rPr>
              <a:t>so it is </a:t>
            </a:r>
            <a:r>
              <a:rPr sz="1800" b="1">
                <a:solidFill>
                  <a:srgbClr val="E07A2F"/>
                </a:solidFill>
                <a:latin typeface="Patrick Hand"/>
              </a:rPr>
              <a:t>this paper</a:t>
            </a:r>
            <a:r>
              <a:rPr sz="1800" b="0">
                <a:solidFill>
                  <a:srgbClr val="2B2D42"/>
                </a:solidFill>
                <a:latin typeface="Patrick Hand"/>
              </a:rPr>
              <a:t>, already at L24</a:t>
            </a:r>
          </a:p>
          <a:p>
            <a:pPr algn="l">
              <a:spcAft>
                <a:spcPts val="900"/>
              </a:spcAft>
            </a:pPr>
            <a:r>
              <a:rPr sz="1800" b="0">
                <a:solidFill>
                  <a:srgbClr val="2B2D42"/>
                </a:solidFill>
                <a:latin typeface="Patrick Hand"/>
              </a:rPr>
              <a:t>lenses cannot read it</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C8D5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C8D5A"/>
                </a:solidFill>
                <a:latin typeface="Patrick Hand"/>
              </a:rPr>
              <a:t>Stage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Which lens reads best?</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all papers · true title</a:t>
            </a:r>
          </a:p>
        </p:txBody>
      </p:sp>
      <p:pic>
        <p:nvPicPr>
          <p:cNvPr id="5" name="Picture 4" descr="c4_lens_quality.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2151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3C8D5A"/>
                </a:solidFill>
                <a:latin typeface="Patrick Hand"/>
              </a:rPr>
              <a:t>Middle layers:</a:t>
            </a:r>
          </a:p>
          <a:p>
            <a:pPr algn="l">
              <a:spcAft>
                <a:spcPts val="900"/>
              </a:spcAft>
            </a:pPr>
            <a:r>
              <a:rPr sz="1900" b="0">
                <a:solidFill>
                  <a:srgbClr val="2B2D42"/>
                </a:solidFill>
                <a:latin typeface="Patrick Hand"/>
              </a:rPr>
              <a:t>fitA best; at L48 15-18% top-10 vs 1% for logit</a:t>
            </a:r>
          </a:p>
          <a:p>
            <a:pPr algn="l">
              <a:spcAft>
                <a:spcPts val="900"/>
              </a:spcAft>
            </a:pPr>
            <a:r>
              <a:rPr sz="1900" b="1">
                <a:solidFill>
                  <a:srgbClr val="3A6EA5"/>
                </a:solidFill>
                <a:latin typeface="Patrick Hand"/>
              </a:rPr>
              <a:t>L62:</a:t>
            </a:r>
            <a:r>
              <a:rPr sz="1900" b="0">
                <a:solidFill>
                  <a:srgbClr val="2B2D42"/>
                </a:solidFill>
                <a:latin typeface="Patrick Hand"/>
              </a:rPr>
              <a:t> logit lens best (59%)</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Do lenses reveal hidden paper knowledge?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paired differences, 95% CI</a:t>
            </a:r>
          </a:p>
        </p:txBody>
      </p:sp>
      <p:pic>
        <p:nvPicPr>
          <p:cNvPr id="5" name="Picture 4" descr="c5_lens_extra.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9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0">
                <a:solidFill>
                  <a:srgbClr val="2B2D42"/>
                </a:solidFill>
                <a:latin typeface="Patrick Hand"/>
              </a:rPr>
              <a:t>Extra signal: </a:t>
            </a:r>
            <a:r>
              <a:rPr sz="1900" b="1">
                <a:solidFill>
                  <a:srgbClr val="2B2D42"/>
                </a:solidFill>
                <a:latin typeface="Patrick Hand"/>
              </a:rPr>
              <a:t>+0.01 to +0.03</a:t>
            </a:r>
          </a:p>
          <a:p>
            <a:pPr algn="l">
              <a:spcAft>
                <a:spcPts val="900"/>
              </a:spcAft>
            </a:pPr>
            <a:r>
              <a:rPr sz="1900" b="0">
                <a:solidFill>
                  <a:srgbClr val="2B2D42"/>
                </a:solidFill>
                <a:latin typeface="Patrick Hand"/>
              </a:rPr>
              <a:t>vs ~0.44 at L62</a:t>
            </a:r>
          </a:p>
          <a:p>
            <a:pPr algn="l">
              <a:spcAft>
                <a:spcPts val="900"/>
              </a:spcAft>
            </a:pPr>
            <a:r>
              <a:rPr sz="1900" b="1">
                <a:solidFill>
                  <a:srgbClr val="E07A2F"/>
                </a:solidFill>
                <a:latin typeface="Patrick Hand"/>
              </a:rPr>
              <a:t>Not bigger for target</a:t>
            </a:r>
            <a:r>
              <a:rPr sz="1900" b="0">
                <a:solidFill>
                  <a:srgbClr val="2B2D42"/>
                </a:solidFill>
                <a:latin typeface="Patrick Hand"/>
              </a:rPr>
              <a:t> (even negative at L48-56)</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More citations, more paper knowledge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bins with &lt; 10 papers omitted</a:t>
            </a:r>
          </a:p>
        </p:txBody>
      </p:sp>
      <p:pic>
        <p:nvPicPr>
          <p:cNvPr id="5" name="Picture 4" descr="c6_citation.png"/>
          <p:cNvPicPr>
            <a:picLocks noChangeAspect="1"/>
          </p:cNvPicPr>
          <p:nvPr/>
        </p:nvPicPr>
        <p:blipFill>
          <a:blip r:embed="rId4"/>
          <a:stretch>
            <a:fillRect/>
          </a:stretch>
        </p:blipFill>
        <p:spPr>
          <a:xfrm>
            <a:off x="457200" y="1463040"/>
            <a:ext cx="8412480" cy="3894666"/>
          </a:xfrm>
          <a:prstGeom prst="rect">
            <a:avLst/>
          </a:prstGeom>
        </p:spPr>
      </p:pic>
      <p:sp>
        <p:nvSpPr>
          <p:cNvPr id="6" name="Rectangle 5"/>
          <p:cNvSpPr/>
          <p:nvPr/>
        </p:nvSpPr>
        <p:spPr>
          <a:xfrm rot="2151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Target: </a:t>
            </a:r>
            <a:r>
              <a:rPr sz="1800" b="1">
                <a:solidFill>
                  <a:srgbClr val="E07A2F"/>
                </a:solidFill>
                <a:latin typeface="Patrick Hand"/>
              </a:rPr>
              <a:t>+0.35 -&gt; +0.64</a:t>
            </a:r>
          </a:p>
          <a:p>
            <a:pPr algn="l">
              <a:spcAft>
                <a:spcPts val="900"/>
              </a:spcAft>
            </a:pPr>
            <a:r>
              <a:rPr sz="1800" b="0">
                <a:solidFill>
                  <a:srgbClr val="2B2D42"/>
                </a:solidFill>
                <a:latin typeface="Patrick Hand"/>
              </a:rPr>
              <a:t>Spearman (title-specific)</a:t>
            </a:r>
          </a:p>
          <a:p>
            <a:pPr algn="l">
              <a:spcAft>
                <a:spcPts val="900"/>
              </a:spcAft>
            </a:pPr>
            <a:r>
              <a:rPr sz="1800" b="1">
                <a:solidFill>
                  <a:srgbClr val="2B2D42"/>
                </a:solidFill>
                <a:latin typeface="Patrick Hand"/>
              </a:rPr>
              <a:t>0.45</a:t>
            </a:r>
            <a:r>
              <a:rPr sz="1800" b="0">
                <a:solidFill>
                  <a:srgbClr val="2B2D42"/>
                </a:solidFill>
                <a:latin typeface="Patrick Hand"/>
              </a:rPr>
              <a:t> all · 0.33 target · 0.19 control</a:t>
            </a:r>
          </a:p>
          <a:p>
            <a:pPr algn="l">
              <a:spcAft>
                <a:spcPts val="900"/>
              </a:spcAft>
            </a:pPr>
            <a:r>
              <a:rPr sz="1800" b="0">
                <a:solidFill>
                  <a:srgbClr val="2B2D42"/>
                </a:solidFill>
                <a:latin typeface="Patrick Hand"/>
              </a:rPr>
              <a:t>Target &gt; control in every bin</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First token or the rest of the name?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split by name format</a:t>
            </a:r>
          </a:p>
        </p:txBody>
      </p:sp>
      <p:pic>
        <p:nvPicPr>
          <p:cNvPr id="5" name="Picture 4" descr="c7_format_position.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9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3A6EA5"/>
                </a:solidFill>
                <a:latin typeface="Patrick Hand"/>
              </a:rPr>
              <a:t>Initial:</a:t>
            </a:r>
            <a:r>
              <a:rPr sz="1900" b="0">
                <a:solidFill>
                  <a:srgbClr val="2B2D42"/>
                </a:solidFill>
                <a:latin typeface="Patrick Hand"/>
              </a:rPr>
              <a:t> carries little; signal is on the surname</a:t>
            </a:r>
          </a:p>
          <a:p>
            <a:pPr algn="l">
              <a:spcAft>
                <a:spcPts val="900"/>
              </a:spcAft>
            </a:pPr>
            <a:r>
              <a:rPr sz="1900" b="1">
                <a:solidFill>
                  <a:srgbClr val="E07A2F"/>
                </a:solidFill>
                <a:latin typeface="Patrick Hand"/>
              </a:rPr>
              <a:t>Full given name:</a:t>
            </a:r>
            <a:r>
              <a:rPr sz="1900" b="0">
                <a:solidFill>
                  <a:srgbClr val="2B2D42"/>
                </a:solidFill>
                <a:latin typeface="Patrick Hand"/>
              </a:rPr>
              <a:t> carries about as much as the surname</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Knowing the given name helps with the surname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true title · later words when the first word is / is not in the top 10</a:t>
            </a:r>
          </a:p>
        </p:txBody>
      </p:sp>
      <p:pic>
        <p:nvPicPr>
          <p:cNvPr id="5" name="Picture 4" descr="c8_first_word_helps.png"/>
          <p:cNvPicPr>
            <a:picLocks noChangeAspect="1"/>
          </p:cNvPicPr>
          <p:nvPr/>
        </p:nvPicPr>
        <p:blipFill>
          <a:blip r:embed="rId4"/>
          <a:stretch>
            <a:fillRect/>
          </a:stretch>
        </p:blipFill>
        <p:spPr>
          <a:xfrm>
            <a:off x="548640" y="1463040"/>
            <a:ext cx="7315200" cy="4354285"/>
          </a:xfrm>
          <a:prstGeom prst="rect">
            <a:avLst/>
          </a:prstGeom>
        </p:spPr>
      </p:pic>
      <p:sp>
        <p:nvSpPr>
          <p:cNvPr id="6" name="Rectangle 5"/>
          <p:cNvSpPr/>
          <p:nvPr/>
        </p:nvSpPr>
        <p:spPr>
          <a:xfrm rot="21510000">
            <a:off x="8229600" y="1737360"/>
            <a:ext cx="338328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E07A2F"/>
                </a:solidFill>
                <a:latin typeface="Patrick Hand"/>
              </a:rPr>
              <a:t>Given name in top 10</a:t>
            </a:r>
          </a:p>
          <a:p>
            <a:pPr algn="l">
              <a:spcAft>
                <a:spcPts val="900"/>
              </a:spcAft>
            </a:pPr>
            <a:r>
              <a:rPr sz="1900" b="0">
                <a:solidFill>
                  <a:srgbClr val="2B2D42"/>
                </a:solidFill>
                <a:latin typeface="Patrick Hand"/>
              </a:rPr>
              <a:t>surname +0.22 (output)</a:t>
            </a:r>
          </a:p>
          <a:p>
            <a:pPr algn="l">
              <a:spcAft>
                <a:spcPts val="900"/>
              </a:spcAft>
            </a:pPr>
            <a:r>
              <a:rPr sz="1900" b="0">
                <a:solidFill>
                  <a:srgbClr val="2B2D42"/>
                </a:solidFill>
                <a:latin typeface="Patrick Hand"/>
              </a:rPr>
              <a:t>+0.32 (logit L62)</a:t>
            </a:r>
          </a:p>
          <a:p>
            <a:pPr algn="l">
              <a:spcAft>
                <a:spcPts val="900"/>
              </a:spcAft>
            </a:pPr>
            <a:r>
              <a:rPr sz="1900" b="1">
                <a:solidFill>
                  <a:srgbClr val="3A6EA5"/>
                </a:solidFill>
                <a:latin typeface="Patrick Hand"/>
              </a:rPr>
              <a:t>Initial in top 10</a:t>
            </a:r>
            <a:r>
              <a:rPr sz="1900" b="0">
                <a:solidFill>
                  <a:srgbClr val="2B2D42"/>
                </a:solidFill>
                <a:latin typeface="Patrick Hand"/>
              </a:rPr>
              <a:t>: no help</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Where the signal sits, and a dose-response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a:t>
            </a:r>
          </a:p>
        </p:txBody>
      </p:sp>
      <p:pic>
        <p:nvPicPr>
          <p:cNvPr id="5" name="Picture 4" descr="c9_roles.png"/>
          <p:cNvPicPr>
            <a:picLocks noChangeAspect="1"/>
          </p:cNvPicPr>
          <p:nvPr/>
        </p:nvPicPr>
        <p:blipFill>
          <a:blip r:embed="rId4"/>
          <a:stretch>
            <a:fillRect/>
          </a:stretch>
        </p:blipFill>
        <p:spPr>
          <a:xfrm>
            <a:off x="365760" y="1463040"/>
            <a:ext cx="6675120" cy="3973285"/>
          </a:xfrm>
          <a:prstGeom prst="rect">
            <a:avLst/>
          </a:prstGeom>
        </p:spPr>
      </p:pic>
      <p:pic>
        <p:nvPicPr>
          <p:cNvPr id="6" name="Picture 5" descr="c10_graded.png"/>
          <p:cNvPicPr>
            <a:picLocks noChangeAspect="1"/>
          </p:cNvPicPr>
          <p:nvPr/>
        </p:nvPicPr>
        <p:blipFill>
          <a:blip r:embed="rId5"/>
          <a:stretch>
            <a:fillRect/>
          </a:stretch>
        </p:blipFill>
        <p:spPr>
          <a:xfrm>
            <a:off x="7223760" y="1737360"/>
            <a:ext cx="4572000" cy="3282553"/>
          </a:xfrm>
          <a:prstGeom prst="rect">
            <a:avLst/>
          </a:prstGeom>
        </p:spPr>
      </p:pic>
      <p:sp>
        <p:nvSpPr>
          <p:cNvPr id="7" name="TextBox 6"/>
          <p:cNvSpPr txBox="1"/>
          <p:nvPr/>
        </p:nvSpPr>
        <p:spPr>
          <a:xfrm>
            <a:off x="713232" y="6355080"/>
            <a:ext cx="10789920" cy="320040"/>
          </a:xfrm>
          <a:prstGeom prst="rect">
            <a:avLst/>
          </a:prstGeom>
          <a:noFill/>
        </p:spPr>
        <p:txBody>
          <a:bodyPr wrap="square" lIns="0" rIns="0" tIns="0" bIns="0" anchor="t">
            <a:spAutoFit/>
          </a:bodyPr>
          <a:lstStyle/>
          <a:p>
            <a:pPr algn="l">
              <a:spcAft>
                <a:spcPts val="800"/>
              </a:spcAft>
            </a:pPr>
            <a:r>
              <a:rPr sz="1400" b="0">
                <a:solidFill>
                  <a:srgbClr val="6E7080"/>
                </a:solidFill>
                <a:latin typeface="Patrick Hand"/>
              </a:rPr>
              <a:t>Right: R0/R1 papers, centred within citation bin; Spearman rho = 0.27, p &lt; 0.001.</a:t>
            </a:r>
          </a:p>
        </p:txBody>
      </p:sp>
      <p:sp>
        <p:nvSpPr>
          <p:cNvPr id="8" name="Rounded Rectangle 7"/>
          <p:cNvSpPr/>
          <p:nvPr/>
        </p:nvSpPr>
        <p:spPr>
          <a:xfrm>
            <a:off x="10241280" y="182880"/>
            <a:ext cx="1691640" cy="384048"/>
          </a:xfrm>
          <a:prstGeom prst="roundRect">
            <a:avLst>
              <a:gd name="adj" fmla="val 30000"/>
            </a:avLst>
          </a:prstGeom>
          <a:solidFill>
            <a:srgbClr val="FFFFFF"/>
          </a:solidFill>
          <a:ln w="22225">
            <a:solidFill>
              <a:srgbClr val="3A6EA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A6EA5"/>
                </a:solidFill>
                <a:latin typeface="Patrick Hand"/>
              </a:rPr>
              <a:t>Stage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What we learned: read early, spoken late</a:t>
            </a:r>
          </a:p>
        </p:txBody>
      </p:sp>
      <p:sp>
        <p:nvSpPr>
          <p:cNvPr id="4" name="TextBox 3"/>
          <p:cNvSpPr txBox="1"/>
          <p:nvPr/>
        </p:nvSpPr>
        <p:spPr>
          <a:xfrm>
            <a:off x="822960" y="1325880"/>
            <a:ext cx="2834640" cy="777240"/>
          </a:xfrm>
          <a:prstGeom prst="rect">
            <a:avLst/>
          </a:prstGeom>
          <a:noFill/>
        </p:spPr>
        <p:txBody>
          <a:bodyPr wrap="square" lIns="0" rIns="0" tIns="0" bIns="0" anchor="t">
            <a:spAutoFit/>
          </a:bodyPr>
          <a:lstStyle/>
          <a:p>
            <a:pPr algn="l">
              <a:spcAft>
                <a:spcPts val="800"/>
              </a:spcAft>
            </a:pPr>
            <a:r>
              <a:rPr sz="2800" b="1">
                <a:solidFill>
                  <a:srgbClr val="E07A2F"/>
                </a:solidFill>
                <a:latin typeface="Caveat"/>
              </a:rPr>
              <a:t>Read early</a:t>
            </a:r>
          </a:p>
        </p:txBody>
      </p:sp>
      <p:sp>
        <p:nvSpPr>
          <p:cNvPr id="5" name="TextBox 4"/>
          <p:cNvSpPr txBox="1"/>
          <p:nvPr/>
        </p:nvSpPr>
        <p:spPr>
          <a:xfrm>
            <a:off x="3657600" y="1417320"/>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Causally the title is read in L24-L50 and gathered at the name positions by L52, then no longer needed. A probe at the title token reads a little of it from L24 (re-checked).</a:t>
            </a:r>
          </a:p>
        </p:txBody>
      </p:sp>
      <p:sp>
        <p:nvSpPr>
          <p:cNvPr id="6" name="TextBox 5"/>
          <p:cNvSpPr txBox="1"/>
          <p:nvPr/>
        </p:nvSpPr>
        <p:spPr>
          <a:xfrm>
            <a:off x="822960" y="2167128"/>
            <a:ext cx="2834640" cy="777240"/>
          </a:xfrm>
          <a:prstGeom prst="rect">
            <a:avLst/>
          </a:prstGeom>
          <a:noFill/>
        </p:spPr>
        <p:txBody>
          <a:bodyPr wrap="square" lIns="0" rIns="0" tIns="0" bIns="0" anchor="t">
            <a:spAutoFit/>
          </a:bodyPr>
          <a:lstStyle/>
          <a:p>
            <a:pPr algn="l">
              <a:spcAft>
                <a:spcPts val="800"/>
              </a:spcAft>
            </a:pPr>
            <a:r>
              <a:rPr sz="2800" b="1">
                <a:solidFill>
                  <a:srgbClr val="3C8D5A"/>
                </a:solidFill>
                <a:latin typeface="Caveat"/>
              </a:rPr>
              <a:t>Spoken late</a:t>
            </a:r>
          </a:p>
        </p:txBody>
      </p:sp>
      <p:sp>
        <p:nvSpPr>
          <p:cNvPr id="7" name="TextBox 6"/>
          <p:cNvSpPr txBox="1"/>
          <p:nvPr/>
        </p:nvSpPr>
        <p:spPr>
          <a:xfrm>
            <a:off x="3657600" y="2258568"/>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At the name positions, paper-specific author knowledge becomes lens-readable only from ~L50, fastest over L57-L61.</a:t>
            </a:r>
          </a:p>
        </p:txBody>
      </p:sp>
      <p:sp>
        <p:nvSpPr>
          <p:cNvPr id="8" name="TextBox 7"/>
          <p:cNvSpPr txBox="1"/>
          <p:nvPr/>
        </p:nvSpPr>
        <p:spPr>
          <a:xfrm>
            <a:off x="822960" y="3008376"/>
            <a:ext cx="2834640" cy="777240"/>
          </a:xfrm>
          <a:prstGeom prst="rect">
            <a:avLst/>
          </a:prstGeom>
          <a:noFill/>
        </p:spPr>
        <p:txBody>
          <a:bodyPr wrap="square" lIns="0" rIns="0" tIns="0" bIns="0" anchor="t">
            <a:spAutoFit/>
          </a:bodyPr>
          <a:lstStyle/>
          <a:p>
            <a:pPr algn="l">
              <a:spcAft>
                <a:spcPts val="800"/>
              </a:spcAft>
            </a:pPr>
            <a:r>
              <a:rPr sz="2800" b="1">
                <a:solidFill>
                  <a:srgbClr val="3A6EA5"/>
                </a:solidFill>
                <a:latin typeface="Caveat"/>
              </a:rPr>
              <a:t>No lens lead</a:t>
            </a:r>
          </a:p>
        </p:txBody>
      </p:sp>
      <p:sp>
        <p:nvSpPr>
          <p:cNvPr id="9" name="TextBox 8"/>
          <p:cNvSpPr txBox="1"/>
          <p:nvPr/>
        </p:nvSpPr>
        <p:spPr>
          <a:xfrm>
            <a:off x="3657600" y="3099816"/>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Read with a lens at the names, target is not ahead of control in middle layers; the +0.21 gap is at the end (probe at the title: target − control +0.04–0.08, re-checked).</a:t>
            </a:r>
          </a:p>
        </p:txBody>
      </p:sp>
      <p:sp>
        <p:nvSpPr>
          <p:cNvPr id="10" name="TextBox 9"/>
          <p:cNvSpPr txBox="1"/>
          <p:nvPr/>
        </p:nvSpPr>
        <p:spPr>
          <a:xfrm>
            <a:off x="822960" y="3849624"/>
            <a:ext cx="2834640" cy="777240"/>
          </a:xfrm>
          <a:prstGeom prst="rect">
            <a:avLst/>
          </a:prstGeom>
          <a:noFill/>
        </p:spPr>
        <p:txBody>
          <a:bodyPr wrap="square" lIns="0" rIns="0" tIns="0" bIns="0" anchor="t">
            <a:spAutoFit/>
          </a:bodyPr>
          <a:lstStyle/>
          <a:p>
            <a:pPr algn="l">
              <a:spcAft>
                <a:spcPts val="800"/>
              </a:spcAft>
            </a:pPr>
            <a:r>
              <a:rPr sz="2800" b="1">
                <a:solidFill>
                  <a:srgbClr val="3C8D5A"/>
                </a:solidFill>
                <a:latin typeface="Caveat"/>
              </a:rPr>
              <a:t>Real knowledge</a:t>
            </a:r>
          </a:p>
        </p:txBody>
      </p:sp>
      <p:sp>
        <p:nvSpPr>
          <p:cNvPr id="11" name="TextBox 10"/>
          <p:cNvSpPr txBox="1"/>
          <p:nvPr/>
        </p:nvSpPr>
        <p:spPr>
          <a:xfrm>
            <a:off x="3657600" y="3941063"/>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Name prior is ~1/3 of the gap overall but ~0 on surnames; the rest is paper-specific and grows with citations.</a:t>
            </a:r>
          </a:p>
        </p:txBody>
      </p:sp>
      <p:sp>
        <p:nvSpPr>
          <p:cNvPr id="12" name="TextBox 11"/>
          <p:cNvSpPr txBox="1"/>
          <p:nvPr/>
        </p:nvSpPr>
        <p:spPr>
          <a:xfrm>
            <a:off x="822960" y="4690872"/>
            <a:ext cx="2834640" cy="777240"/>
          </a:xfrm>
          <a:prstGeom prst="rect">
            <a:avLst/>
          </a:prstGeom>
          <a:noFill/>
        </p:spPr>
        <p:txBody>
          <a:bodyPr wrap="square" lIns="0" rIns="0" tIns="0" bIns="0" anchor="t">
            <a:spAutoFit/>
          </a:bodyPr>
          <a:lstStyle/>
          <a:p>
            <a:pPr algn="l">
              <a:spcAft>
                <a:spcPts val="800"/>
              </a:spcAft>
            </a:pPr>
            <a:r>
              <a:rPr sz="2800" b="1">
                <a:solidFill>
                  <a:srgbClr val="2B2D42"/>
                </a:solidFill>
                <a:latin typeface="Caveat"/>
              </a:rPr>
              <a:t>Lenses agree</a:t>
            </a:r>
          </a:p>
        </p:txBody>
      </p:sp>
      <p:sp>
        <p:nvSpPr>
          <p:cNvPr id="13" name="TextBox 12"/>
          <p:cNvSpPr txBox="1"/>
          <p:nvPr/>
        </p:nvSpPr>
        <p:spPr>
          <a:xfrm>
            <a:off x="3657600" y="4782312"/>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Jacobian lenses read more in middle layers, but nothing target-specific.</a:t>
            </a:r>
          </a:p>
        </p:txBody>
      </p:sp>
      <p:sp>
        <p:nvSpPr>
          <p:cNvPr id="14" name="TextBox 13"/>
          <p:cNvSpPr txBox="1"/>
          <p:nvPr/>
        </p:nvSpPr>
        <p:spPr>
          <a:xfrm>
            <a:off x="822960" y="5532120"/>
            <a:ext cx="2834640" cy="777240"/>
          </a:xfrm>
          <a:prstGeom prst="rect">
            <a:avLst/>
          </a:prstGeom>
          <a:noFill/>
        </p:spPr>
        <p:txBody>
          <a:bodyPr wrap="square" lIns="0" rIns="0" tIns="0" bIns="0" anchor="t">
            <a:spAutoFit/>
          </a:bodyPr>
          <a:lstStyle/>
          <a:p>
            <a:pPr algn="l">
              <a:spcAft>
                <a:spcPts val="800"/>
              </a:spcAft>
            </a:pPr>
            <a:r>
              <a:rPr sz="2800" b="1">
                <a:solidFill>
                  <a:srgbClr val="E07A2F"/>
                </a:solidFill>
                <a:latin typeface="Caveat"/>
              </a:rPr>
              <a:t>Name format</a:t>
            </a:r>
          </a:p>
        </p:txBody>
      </p:sp>
      <p:sp>
        <p:nvSpPr>
          <p:cNvPr id="15" name="TextBox 14"/>
          <p:cNvSpPr txBox="1"/>
          <p:nvPr/>
        </p:nvSpPr>
        <p:spPr>
          <a:xfrm>
            <a:off x="3657600" y="5623560"/>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Initials carry little; full given names carry as much as surnames and help predict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Caveats and next steps</a:t>
            </a:r>
          </a:p>
        </p:txBody>
      </p:sp>
      <p:sp>
        <p:nvSpPr>
          <p:cNvPr id="4" name="TextBox 3"/>
          <p:cNvSpPr txBox="1"/>
          <p:nvPr/>
        </p:nvSpPr>
        <p:spPr>
          <a:xfrm>
            <a:off x="822960" y="1463040"/>
            <a:ext cx="5486400" cy="4389120"/>
          </a:xfrm>
          <a:prstGeom prst="rect">
            <a:avLst/>
          </a:prstGeom>
          <a:noFill/>
        </p:spPr>
        <p:txBody>
          <a:bodyPr wrap="square" lIns="0" rIns="0" tIns="0" bIns="0" anchor="t">
            <a:spAutoFit/>
          </a:bodyPr>
          <a:lstStyle/>
          <a:p>
            <a:pPr algn="l">
              <a:spcAft>
                <a:spcPts val="1000"/>
              </a:spcAft>
            </a:pPr>
            <a:r>
              <a:rPr sz="2100" b="1">
                <a:solidFill>
                  <a:srgbClr val="2B2D42"/>
                </a:solidFill>
                <a:latin typeface="Patrick Hand"/>
              </a:rPr>
              <a:t>Caveats</a:t>
            </a:r>
          </a:p>
          <a:p>
            <a:pPr algn="l">
              <a:spcAft>
                <a:spcPts val="1000"/>
              </a:spcAft>
            </a:pPr>
            <a:r>
              <a:rPr sz="2100" b="0">
                <a:solidFill>
                  <a:srgbClr val="2B2D42"/>
                </a:solidFill>
                <a:latin typeface="Patrick Hand"/>
              </a:rPr>
              <a:t>- Readout is correlational; patching/knockout fix the timing, not the mechanism inside L24-L50</a:t>
            </a:r>
          </a:p>
          <a:p>
            <a:pPr algn="l">
              <a:spcAft>
                <a:spcPts val="1000"/>
              </a:spcAft>
            </a:pPr>
            <a:r>
              <a:rPr sz="2100" b="0">
                <a:solidFill>
                  <a:srgbClr val="2B2D42"/>
                </a:solidFill>
                <a:latin typeface="Patrick Hand"/>
              </a:rPr>
              <a:t>- Parity tolerance raised 0.25 -&gt; 0.5 after the fact</a:t>
            </a:r>
          </a:p>
          <a:p>
            <a:pPr algn="l">
              <a:spcAft>
                <a:spcPts val="1000"/>
              </a:spcAft>
            </a:pPr>
            <a:r>
              <a:rPr sz="2100" b="0">
                <a:solidFill>
                  <a:srgbClr val="2B2D42"/>
                </a:solidFill>
                <a:latin typeface="Patrick Hand"/>
              </a:rPr>
              <a:t>- Groups are model-specific; low-citation "recognition" is near chance</a:t>
            </a:r>
          </a:p>
          <a:p>
            <a:pPr algn="l">
              <a:spcAft>
                <a:spcPts val="1000"/>
              </a:spcAft>
            </a:pPr>
            <a:r>
              <a:rPr sz="2100" b="0">
                <a:solidFill>
                  <a:srgbClr val="2B2D42"/>
                </a:solidFill>
                <a:latin typeface="Patrick Hand"/>
              </a:rPr>
              <a:t>- Few control papers above 1,000 citations</a:t>
            </a:r>
          </a:p>
          <a:p>
            <a:pPr algn="l">
              <a:spcAft>
                <a:spcPts val="1000"/>
              </a:spcAft>
            </a:pPr>
            <a:r>
              <a:rPr sz="2100" b="0">
                <a:solidFill>
                  <a:srgbClr val="2B2D42"/>
                </a:solidFill>
                <a:latin typeface="Patrick Hand"/>
              </a:rPr>
              <a:t>- Label run settings (max length, thinking mode) not in the package</a:t>
            </a:r>
          </a:p>
        </p:txBody>
      </p:sp>
      <p:sp>
        <p:nvSpPr>
          <p:cNvPr id="5" name="Rectangle 4"/>
          <p:cNvSpPr/>
          <p:nvPr/>
        </p:nvSpPr>
        <p:spPr>
          <a:xfrm rot="90000">
            <a:off x="6766560" y="1554480"/>
            <a:ext cx="4663440" cy="35661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Stage 12 (running)</a:t>
            </a:r>
          </a:p>
          <a:p>
            <a:pPr algn="l">
              <a:spcAft>
                <a:spcPts val="900"/>
              </a:spcAft>
            </a:pPr>
            <a:r>
              <a:rPr sz="1900" b="0">
                <a:solidFill>
                  <a:srgbClr val="2B2D42"/>
                </a:solidFill>
                <a:latin typeface="Patrick Hand"/>
              </a:rPr>
              <a:t>1. Patch single positions (quote, year, "Authors:") - done, analysing</a:t>
            </a:r>
          </a:p>
          <a:p>
            <a:pPr algn="l">
              <a:spcAft>
                <a:spcPts val="900"/>
              </a:spcAft>
            </a:pPr>
            <a:r>
              <a:rPr sz="1900" b="0">
                <a:solidFill>
                  <a:srgbClr val="2B2D42"/>
                </a:solidFill>
                <a:latin typeface="Patrick Hand"/>
              </a:rPr>
              <a:t>2. Attention vs MLP patching in L8-L56</a:t>
            </a:r>
          </a:p>
          <a:p>
            <a:pPr algn="l">
              <a:spcAft>
                <a:spcPts val="900"/>
              </a:spcAft>
            </a:pPr>
            <a:r>
              <a:rPr sz="1900" b="0">
                <a:solidFill>
                  <a:srgbClr val="2B2D42"/>
                </a:solidFill>
                <a:latin typeface="Patrick Hand"/>
              </a:rPr>
              <a:t>3. A lens fitted on author prompts, read at L24-L62</a:t>
            </a:r>
          </a:p>
          <a:p>
            <a:pPr algn="l">
              <a:spcAft>
                <a:spcPts val="900"/>
              </a:spcAft>
            </a:pPr>
            <a:r>
              <a:rPr sz="1900" b="0">
                <a:solidFill>
                  <a:srgbClr val="2B2D42"/>
                </a:solidFill>
                <a:latin typeface="Patrick Hand"/>
              </a:rPr>
              <a:t>4. Name-prior baselines: distractor lists without a title; a prompt with no paper</a:t>
            </a:r>
          </a:p>
        </p:txBody>
      </p:sp>
      <p:sp>
        <p:nvSpPr>
          <p:cNvPr id="6" name="Rounded Rectangle 5"/>
          <p:cNvSpPr/>
          <p:nvPr/>
        </p:nvSpPr>
        <p:spPr>
          <a:xfrm>
            <a:off x="10241280" y="182880"/>
            <a:ext cx="1691640" cy="384048"/>
          </a:xfrm>
          <a:prstGeom prst="roundRect">
            <a:avLst>
              <a:gd name="adj" fmla="val 30000"/>
            </a:avLst>
          </a:prstGeom>
          <a:solidFill>
            <a:srgbClr val="FFFFFF"/>
          </a:solidFill>
          <a:ln w="22225">
            <a:solidFill>
              <a:srgbClr val="3C8D5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3C8D5A"/>
                </a:solidFill>
                <a:latin typeface="Patrick Hand"/>
              </a:rPr>
              <a:t>Stage 12 plan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Is it just the R1 papers? No.</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R0 = no true author written · R1 = a few written · A/B/C/D = target/control x R0/R1</a:t>
            </a:r>
          </a:p>
        </p:txBody>
      </p:sp>
      <p:pic>
        <p:nvPicPr>
          <p:cNvPr id="5" name="Picture 4" descr="c17_r0_r1.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90000">
            <a:off x="9098280" y="1737360"/>
            <a:ext cx="2651760" cy="40233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700" b="1">
                <a:solidFill>
                  <a:srgbClr val="E07A2F"/>
                </a:solidFill>
                <a:latin typeface="Patrick Hand"/>
              </a:rPr>
              <a:t>R0 only (A - B):</a:t>
            </a:r>
          </a:p>
          <a:p>
            <a:pPr algn="l">
              <a:spcAft>
                <a:spcPts val="900"/>
              </a:spcAft>
            </a:pPr>
            <a:r>
              <a:rPr sz="1700" b="0">
                <a:solidFill>
                  <a:srgbClr val="2B2D42"/>
                </a:solidFill>
                <a:latin typeface="Patrick Hand"/>
              </a:rPr>
              <a:t>output +0.199 vs +0.207, same shape</a:t>
            </a:r>
          </a:p>
          <a:p>
            <a:pPr algn="l">
              <a:spcAft>
                <a:spcPts val="900"/>
              </a:spcAft>
            </a:pPr>
            <a:r>
              <a:rPr sz="1700" b="1">
                <a:solidFill>
                  <a:srgbClr val="8A4FA3"/>
                </a:solidFill>
                <a:latin typeface="Patrick Hand"/>
              </a:rPr>
              <a:t>R1 (C - B):</a:t>
            </a:r>
            <a:r>
              <a:rPr sz="1700" b="0">
                <a:solidFill>
                  <a:srgbClr val="2B2D42"/>
                </a:solidFill>
                <a:latin typeface="Patrick Hand"/>
              </a:rPr>
              <a:t> +0.37, also late</a:t>
            </a:r>
          </a:p>
          <a:p>
            <a:pPr algn="l">
              <a:spcAft>
                <a:spcPts val="900"/>
              </a:spcAft>
            </a:pPr>
            <a:r>
              <a:rPr sz="1700" b="0">
                <a:solidFill>
                  <a:srgbClr val="2B2D42"/>
                </a:solidFill>
                <a:latin typeface="Patrick Hand"/>
              </a:rPr>
              <a:t>C - A within target: +0.11, from L56</a:t>
            </a:r>
          </a:p>
          <a:p>
            <a:pPr algn="l">
              <a:spcAft>
                <a:spcPts val="900"/>
              </a:spcAft>
            </a:pPr>
            <a:r>
              <a:rPr sz="1700" b="1">
                <a:solidFill>
                  <a:srgbClr val="2B2D42"/>
                </a:solidFill>
                <a:latin typeface="Patrick Hand"/>
              </a:rPr>
              <a:t>patching:</a:t>
            </a:r>
            <a:r>
              <a:rPr sz="1700" b="0">
                <a:solidFill>
                  <a:srgbClr val="2B2D42"/>
                </a:solidFill>
                <a:latin typeface="Patrick Hand"/>
              </a:rPr>
              <a:t> R1 a bit later, done by L52</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8A4FA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8A4FA3"/>
                </a:solidFill>
                <a:latin typeface="Patrick Hand"/>
              </a:rPr>
              <a:t>Stage 10-11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Authors it wrote vs authors it missed</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inside 495 R1 papers · paired within paper · 95% CI</a:t>
            </a:r>
          </a:p>
        </p:txBody>
      </p:sp>
      <p:pic>
        <p:nvPicPr>
          <p:cNvPr id="5" name="Picture 4" descr="c18_r1_authors.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21510000">
            <a:off x="9098280" y="1737360"/>
            <a:ext cx="2651760" cy="365760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written - missed, output: </a:t>
            </a:r>
            <a:r>
              <a:rPr sz="1800" b="1">
                <a:solidFill>
                  <a:srgbClr val="E07A2F"/>
                </a:solidFill>
                <a:latin typeface="Patrick Hand"/>
              </a:rPr>
              <a:t>+0.20</a:t>
            </a:r>
          </a:p>
          <a:p>
            <a:pPr algn="l">
              <a:spcAft>
                <a:spcPts val="900"/>
              </a:spcAft>
            </a:pPr>
            <a:r>
              <a:rPr sz="1800" b="0">
                <a:solidFill>
                  <a:srgbClr val="2B2D42"/>
                </a:solidFill>
                <a:latin typeface="Patrick Hand"/>
              </a:rPr>
              <a:t>~0 up to L52, grows from </a:t>
            </a:r>
            <a:r>
              <a:rPr sz="1800" b="1">
                <a:solidFill>
                  <a:srgbClr val="2B2D42"/>
                </a:solidFill>
                <a:latin typeface="Patrick Hand"/>
              </a:rPr>
              <a:t>L54</a:t>
            </a:r>
          </a:p>
          <a:p>
            <a:pPr algn="l">
              <a:spcAft>
                <a:spcPts val="900"/>
              </a:spcAft>
            </a:pPr>
            <a:r>
              <a:rPr sz="1800" b="0">
                <a:solidFill>
                  <a:srgbClr val="2B2D42"/>
                </a:solidFill>
                <a:latin typeface="Patrick Hand"/>
              </a:rPr>
              <a:t>no title (prior): +0.10</a:t>
            </a:r>
          </a:p>
          <a:p>
            <a:pPr algn="l">
              <a:spcAft>
                <a:spcPts val="900"/>
              </a:spcAft>
            </a:pPr>
            <a:r>
              <a:rPr sz="1800" b="0">
                <a:solidFill>
                  <a:srgbClr val="2B2D42"/>
                </a:solidFill>
                <a:latin typeface="Patrick Hand"/>
              </a:rPr>
              <a:t>same without first authors</a:t>
            </a:r>
          </a:p>
        </p:txBody>
      </p:sp>
      <p:sp>
        <p:nvSpPr>
          <p:cNvPr id="7" name="Rounded Rectangle 6"/>
          <p:cNvSpPr/>
          <p:nvPr/>
        </p:nvSpPr>
        <p:spPr>
          <a:xfrm>
            <a:off x="10241280" y="182880"/>
            <a:ext cx="1691640" cy="384048"/>
          </a:xfrm>
          <a:prstGeom prst="roundRect">
            <a:avLst>
              <a:gd name="adj" fmla="val 30000"/>
            </a:avLst>
          </a:prstGeom>
          <a:solidFill>
            <a:srgbClr val="FFFFFF"/>
          </a:solidFill>
          <a:ln w="22225">
            <a:solidFill>
              <a:srgbClr val="8A4FA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8A4FA3"/>
                </a:solidFill>
                <a:latin typeface="Patrick Hand"/>
              </a:rPr>
              <a:t>Stage 10-11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377440"/>
            <a:ext cx="10515600" cy="1097280"/>
          </a:xfrm>
          <a:prstGeom prst="rect">
            <a:avLst/>
          </a:prstGeom>
          <a:noFill/>
        </p:spPr>
        <p:txBody>
          <a:bodyPr wrap="square" lIns="0" rIns="0" tIns="0" bIns="0" anchor="t">
            <a:spAutoFit/>
          </a:bodyPr>
          <a:lstStyle/>
          <a:p>
            <a:pPr algn="l">
              <a:spcAft>
                <a:spcPts val="800"/>
              </a:spcAft>
            </a:pPr>
            <a:r>
              <a:rPr sz="7200" b="1">
                <a:solidFill>
                  <a:srgbClr val="2B2D42"/>
                </a:solidFill>
                <a:latin typeface="Caveat"/>
              </a:rPr>
              <a:t>Appendix</a:t>
            </a:r>
          </a:p>
        </p:txBody>
      </p:sp>
      <p:sp>
        <p:nvSpPr>
          <p:cNvPr id="4" name="TextBox 3"/>
          <p:cNvSpPr txBox="1"/>
          <p:nvPr/>
        </p:nvSpPr>
        <p:spPr>
          <a:xfrm>
            <a:off x="868680" y="3566160"/>
            <a:ext cx="10058400" cy="731520"/>
          </a:xfrm>
          <a:prstGeom prst="rect">
            <a:avLst/>
          </a:prstGeom>
          <a:noFill/>
        </p:spPr>
        <p:txBody>
          <a:bodyPr wrap="square" lIns="0" rIns="0" tIns="0" bIns="0" anchor="t">
            <a:spAutoFit/>
          </a:bodyPr>
          <a:lstStyle/>
          <a:p>
            <a:pPr algn="l">
              <a:spcAft>
                <a:spcPts val="800"/>
              </a:spcAft>
            </a:pPr>
            <a:r>
              <a:rPr sz="2400" b="0">
                <a:solidFill>
                  <a:srgbClr val="6E7080"/>
                </a:solidFill>
                <a:latin typeface="Patrick Hand"/>
              </a:rPr>
              <a:t>checks · readout levels · author chain · probe controls · lenses · citations · name formats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