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5"/>
    <p:sldId id="284" r:id="rId36"/>
    <p:sldId id="285" r:id="rId37"/>
    <p:sldId id="286" r:id="rId38"/>
    <p:sldId id="287" r:id="rId39"/>
    <p:sldId id="288" r:id="rId40"/>
    <p:sldId id="259" r:id="rId11"/>
    <p:sldId id="260" r:id="rId12"/>
    <p:sldId id="261" r:id="rId13"/>
    <p:sldId id="289" r:id="rId41"/>
    <p:sldId id="290" r:id="rId42"/>
    <p:sldId id="291" r:id="rId43"/>
    <p:sldId id="292" r:id="rId44"/>
    <p:sldId id="293" r:id="rId45"/>
    <p:sldId id="294" r:id="rId46"/>
    <p:sldId id="263" r:id="rId15"/>
    <p:sldId id="270" r:id="rId22"/>
    <p:sldId id="271" r:id="rId23"/>
    <p:sldId id="274" r:id="rId26"/>
    <p:sldId id="280" r:id="rId32"/>
    <p:sldId id="281" r:id="rId33"/>
    <p:sldId id="295" r:id="rId47"/>
    <p:sldId id="296" r:id="rId48"/>
    <p:sldId id="297" r:id="rId49"/>
    <p:sldId id="298" r:id="rId50"/>
    <p:sldId id="299" r:id="rId51"/>
    <p:sldId id="262" r:id="rId14"/>
    <p:sldId id="272" r:id="rId24"/>
    <p:sldId id="273" r:id="rId25"/>
    <p:sldId id="268" r:id="rId20"/>
    <p:sldId id="300" r:id="rId52"/>
    <p:sldId id="301" r:id="rId53"/>
    <p:sldId id="302" r:id="rId54"/>
    <p:sldId id="303" r:id="rId55"/>
    <p:sldId id="264" r:id="rId16"/>
    <p:sldId id="265" r:id="rId17"/>
    <p:sldId id="266" r:id="rId18"/>
    <p:sldId id="267" r:id="rId19"/>
    <p:sldId id="304" r:id="rId56"/>
    <p:sldId id="305" r:id="rId57"/>
    <p:sldId id="306" r:id="rId58"/>
    <p:sldId id="307" r:id="rId59"/>
    <p:sldId id="275" r:id="rId27"/>
    <p:sldId id="276" r:id="rId28"/>
    <p:sldId id="277" r:id="rId29"/>
    <p:sldId id="269" r:id="rId21"/>
    <p:sldId id="308" r:id="rId60"/>
    <p:sldId id="309" r:id="rId61"/>
    <p:sldId id="310" r:id="rId62"/>
    <p:sldId id="311" r:id="rId63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/ 52 页 · 合并 PPT 自身页面（按网页元素重建） · 【新写讲稿】</a:t>
            </a:r>
          </a:p>
          <a:p/>
          <a:p>
            <a:r>
              <a:t>先对比两个阶段的设计。小样本阶段用 50 和 200 篇论文，主要看第一作者的第一个 token，把正确名字和 1 个或 100 个错误名字比较，A、B 两组都是 R0 并逐对匹配，错误标题用 1 个交叉标题或 20 个打乱标题，L56 是反复看过之后才选定的层。全量阶段改为全部 9,108 篇、所有作者和所有 token，用全词表名次 log10(1/名次) 打分，target = A + C、control = B + D 在引用档内比较，用 5 个匹配假标题加删去标题，所有层都报告，还加了细层。改设计的原因是小样本分不清某一层是“效应小”还是“没有效应”。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/ 52 页 · 合并 PPT 自身页面（按网页元素重建） · 【新写讲稿】</a:t>
            </a:r>
          </a:p>
          <a:p/>
          <a:p>
            <a:r>
              <a:t>整份报告按四条论证线组织。A 线问信号是不是针对这篇论文，而不只是名字好猜；B 线问每种读出工具能看到什么；C 线问信号在哪一层出现、在哪一层被用到；D 线问名字或提示词的哪一部分带着信号。每条线先看小样本阶段问了什么，再看全量阶段怎么回答。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/ 52 页 · 合并 PPT 自身页面（按网页元素重建） · 【新写讲稿】</a:t>
            </a:r>
          </a:p>
          <a:p/>
          <a:p>
            <a:r>
              <a:t>今天讲的问题只有一个：Qwen3-32B 把一篇论文的作者记在网络的哪一层。整个工作分两个阶段。左边是 Stage 1–9，用 20、50、200 篇小样本先找到信号，再想办法推翻它；右边是 Stage 10–11，用全部 9,108 篇论文、149,999 个名字 token 去定位这个信号，并用干预实验检验。深色页是小样本阶段，浅色页是全量阶段。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/ 52 页 · deck 第 4 页（按源文件重建） · 按 deck 讲稿备注翻译（已按复核结果更新）</a:t>
            </a:r>
          </a:p>
          <a:p/>
          <a:p>
            <a:r>
              <a:t>这一页是所有数字背后的规则。开放回答用对话模板内的贪心解码；用确定性的模糊姓名匹配数出匹配 M、编造 H、遗漏 U，HR2 = (H+U)/(M+H+U)。HR2 不超过 0.5 为 R2，否则一个没匹配上是 R0，匹配上一些是 R1，全程没有人工或模型评判。多选题把真名单和同领域、团队大小相近、同引用档、年份相近的另外 3 篇论文的真实团队放在一起，问 4 种顺序；字母概率取自下一个 token 的分布，“A”和“ A”相加，不做重新归一化（平均总和 1.00）。target 是 4 次全对且真字母平均概率至少 0.5，control 是最多对 1 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/ 52 页 · deck 第 5 页（按源文件重建） · 按 deck 讲稿备注翻译（已按复核结果更新）</a:t>
            </a:r>
          </a:p>
          <a:p/>
          <a:p>
            <a:r>
              <a:t>方法。提示词是“Who are the authors of the paper titled ‘…’ (年份)? Authors:”，后面接一位作者的名字。用教师强制：在每个名字 token 之前，看正确 token 排第几。读出方式有 logit lens、三种 Jacobian lens（Neuronpedia 公开的、self100、fitA）和模型真实输出，层从 L24 到 L62。指标是 log10(1/名次)：排第 1 为 0，排第 10 为 −1。每篇论文还要用 5 个匹配的假标题和删去标题各跑一遍；标题特异信号 = 真标题减去假标题的平均，这样名字本身好不好猜的影响就抵消了。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/ 52 页 · deck 第 17 页（按源文件重建） · 按 deck 讲稿备注翻译（已按复核结果更新）</a:t>
            </a:r>
          </a:p>
          <a:p/>
          <a:p>
            <a:r>
              <a:t>相信数字之前做了三项检查。第一，快速路径和逐个前缀的参考路径一致，差异只在 bf16 舍入范围内。第二，在 972 个重叠 token 上，名次和上一阶段（Stage 6）一致。第三，标点 token 不可能依赖标题，它们的标题特异信号确实约为 0。需要如实说明：一致性检查的容差是在看到结果之后从 0.25 放宽到 0.5 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27 / 52 页 · deck 第 18 页（按源文件重建） · 按 deck 讲稿备注翻译（已按复核结果更新）</a:t>
            </a:r>
          </a:p>
          <a:p/>
          <a:p>
            <a:r>
              <a:t>所有读出方式都随层数加深而变好。logit lens 在 L48 之前几乎读不出东西（名次在几万名），到 L62 才跳上来。Jacobian lens 从 L40 起读出更多，fitA 最多。模型真实输出最好。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/ 52 页 · deck 第 6 页（按源文件重建） · 按 deck 讲稿备注翻译（已按复核结果更新）</a:t>
            </a:r>
          </a:p>
          <a:p/>
          <a:p>
            <a:r>
              <a:t>现在去掉名字好猜的影响，看真标题减假标题。到 L48 为止，两组都平坦接近 0；从 L56 开始上升，在 L62 和最终输出处最大。目标组最后大约是对照组的两倍。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35 / 52 页 · deck 第 7 页（按源文件重建） · 按 deck 讲稿备注翻译（已按复核结果更新）</a:t>
            </a:r>
          </a:p>
          <a:p/>
          <a:p>
            <a:r>
              <a:t>这是关键的一页：在引用档内看目标组减对照组。左边只看真标题，中间层对 Jacobian lens 甚至略为负。右边看标题特异部分：L56 之前约为 0，在 L62 和输出处为 +0.21 到 +0.23。稳健性：目标组 11% 是 R1（写对少数作者），对照组只有 1.5%；两组都只保留 R0 时，输出处的差是 +0.199 而不是 +0.207，各层形状相同，Stage 11 的曲线也不变。目标组的优势出现得很晚，而且几乎全部是标题特异的。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36 / 52 页 · deck 第 8 页（按源文件重建） · 按 deck 讲稿备注翻译（已按复核结果更新）</a:t>
            </a:r>
          </a:p>
          <a:p/>
          <a:p>
            <a:r>
              <a:t>细层 L50 到 L61 是后来为 logit lens 和公开 lens 补算的。目标组的优势不是在 L62 突然出现的：logit lens 下，标题特异的目标−对照在 L50 为 +0.007，L54 为 +0.03，L56 为 +0.07，L58 为 +0.11，L60 为 +0.18，L62 为 +0.23。公开 lens 到 L54 为负，L57 转正。上升最快的是 L57 到 L61，两组都在 L61 达到最高。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37 / 52 页 · deck 第 9 页（按源文件重建） · 按 deck 讲稿备注翻译（已按复核结果更新）</a:t>
            </a:r>
          </a:p>
          <a:p/>
          <a:p>
            <a:r>
              <a:t>Stage 11 把读出问题变成干预实验。用了 593 篇目标论文和 593 篇对照论文，在引用档内匹配。替换：同一篇论文分别用真标题和匹配的假标题运行，在某一层把真标题运行的隐藏状态复制到假标题运行里。阻断：从第 l 层到最后，禁止注意力看标题 token。Probe：训练一个从标题最后一个 token 到输出状态的线性映射。作者链：在前面作者都给出之后，再给每位作者打分。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38 / 52 页 · deck 第 10 页（按源文件重建） · 按 deck 讲稿备注翻译（已按复核结果更新）</a:t>
            </a:r>
          </a:p>
          <a:p/>
          <a:p>
            <a:r>
              <a:t>两条因果曲线。左边：把真标题运行中标题之后那些 token（右引号、年份、“Authors:”、名字）的隐藏状态复制到假标题运行里，L40 恢复 29%，L48 恢复 83%，L52 起全部恢复；只复制标题最后一个 token 只恢复约 12%。右边：从 L0 起阻断对标题的注意力，去掉 83% 的效应；从 L32 起 37%，从 L48 起 6%，从 L52 起为 0。只阻断冒号和名字位置最多去掉 15%，所以页面上说信息经由标题之后的 token 传递。【待复核】“信息被搬到标题之后的 token 上”这个说法正在复核：被复制的 token 里包括名字位置本身，Stage 12 逐位置替换的初步结果显示，信息主要在名字位置上（首字母的信息在冒号上）；要等 Stage 12 正式分析和 X6（用另外 4 个假标题补做）后再定。目标组和对照组的曲线相同。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30 / 52 页 · deck 第 11 页（按源文件重建） · 按 deck 讲稿备注翻译（已按复核结果更新）</a:t>
            </a:r>
          </a:p>
          <a:p/>
          <a:p>
            <a:r>
              <a:t>在标题本身的位置上能读出作者吗？用 lens，几乎读不出：标题最后一个 token 上的标题特异信号只有约 0.01 到 0.03。换成跨论文训练的线性 probe 能读出更多：按作者团队分折、并剔除 probe 训练时见过同一标题的论文后复核（剩 1,863 篇，其中目标 896、对照 499），L24 约 0.05，到 L56 升到约 0.08，目标组比对照组高 0.04 到 0.08。附录里的对照说明这个 probe 信号是这篇论文特有的，不是主题和名字的关联。它和 lens 的结果不矛盾：标题在标题位置就被读进去了，但名字要到 L57–L61 才在名字位置变得可读。一句话：读得早，说得晚。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46 / 52 页 · deck 第 19 页（按源文件重建） · 按 deck 讲稿备注翻译（已按复核结果更新）</a:t>
            </a:r>
          </a:p>
          <a:p/>
          <a:p>
            <a:r>
              <a:t>作者链。当前面的作者已经在上下文里时，后面的作者更容易：目标组高 +0.17 到 +0.23，对照组高 +0.12 到 +0.18。但标题的作用变小了：后面目标作者的标题特异信号从 0.45 降到 0.26，因为合作者已经能确定是哪篇论文。在引用档内，目标组仍然高于对照组 +0.11 到 +0.15。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/ 52 页 · deck 第 12 页（按源文件重建） · 按 deck 讲稿备注翻译（已按复核结果更新）</a:t>
            </a:r>
          </a:p>
          <a:p/>
          <a:p>
            <a:r>
              <a:t>名字先验占多少？我们在完全不给标题的情况下给同样的名字打分。没有标题时，正确名字平均已经排在第 12 名左右，因为标点和姓的后半部分在给出前缀后本来就好猜。真标题对姓的第一个 token 帮助最大：目标组从大约第 146 名提到第 24 名。在引用档内拆分目标−对照的差：约 0.09 在不给标题时就已存在（目标组的名字稍微好猜一些），假标题再抵消 0.05，剩下 0.21 是这篇论文特有的。只看姓的第一个 token，先验部分约为 0，论文特有部分为 0.42。先验和多选题认出程度几乎无关（Spearman 0.09，论文特有部分为 0.33）。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/ 52 页 · deck 第 21 页（按源文件重建） · 按 deck 讲稿备注翻译（已按复核结果更新）</a:t>
            </a:r>
          </a:p>
          <a:p/>
          <a:p>
            <a:r>
              <a:t>标题位置上的 probe 读到的是真正的论文知识，还是只是主题和名字之间的泛泛关联？如果把它的输出拿去和另一篇论文的作者、或同领域另一篇论文的作者对照打分，信号降为 0。只用假标题数据训练 probe，得到相近的信号；之前“更强”的结果来自泄漏，同一个借出标题同时出现在训练和测试里。这一页的数字已经按作者团队分折、并剔除了 probe 训练时见过同一标题的论文后复核。所以标题最后一个 token 上从 L24 起就有可以线性读出的、属于这篇论文的作者信息，目标组更多，只是 lens 读不出来。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28 / 52 页 · deck 第 22 页（按源文件重建） · 按 deck 讲稿备注翻译（已按复核结果更新）</a:t>
            </a:r>
          </a:p>
          <a:p/>
          <a:p>
            <a:r>
              <a:t>比较各种 lens。读出质量上，中间多数层 fitA 最好，L40 是 self100；在 L48，Jacobian lens 能把正确 token 放进前 10 名的比例是 15–18%，logit lens 只有 1%。到 L62，最朴素的 logit lens 反而最好。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29 / 52 页 · deck 第 23 页（按源文件重建） · 按 deck 讲稿备注翻译（已按复核结果更新）</a:t>
            </a:r>
          </a:p>
          <a:p/>
          <a:p>
            <a:r>
              <a:t>Jacobian lens 能不能看到 logit lens 漏掉的、论文特有的信息？只能看到一点：在 L24–L48 多出 +0.01 到 +0.03 的标题特异信号，区间在 0 以上，但和 L62 的 0.44 相比非常小。而且这部分对目标组并不更大：多出部分的目标−对照约为 0，在 L48 和 L56 甚至为负。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/ 52 页 · deck 第 24 页（按源文件重建） · 按 deck 讲稿备注翻译（已按复核结果更新）</a:t>
            </a:r>
          </a:p>
          <a:p/>
          <a:p>
            <a:r>
              <a:t>引用数。两组内部，标题特异信号都随引用档稳定上升：目标组从 0–2 档的 +0.35 升到 4097+ 档的 +0.64。与对数引用数的 Spearman 相关：全部 0.45，目标组内 0.33，对照组内 0.19。读出水平本身变化小得多：有名论文的名字并不更好猜，只是模型更了解有名的论文。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43 / 52 页 · deck 第 25 页（按源文件重建） · 按 deck 讲稿备注翻译（已按复核结果更新）</a:t>
            </a:r>
          </a:p>
          <a:p/>
          <a:p>
            <a:r>
              <a:t>信号是否由第一个 token 决定？取决于名字的格式。以首字母开头的名字，首字母本身带的信号很少，信号在包括姓在内的后续 token 上；以完整名开头的名字，名本身带的信号和其余部分差不多。要注意教师强制：后续 token 在每种条件下都已经看到正确的前缀，所以它们的标题特异信号只能来自标题。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44 / 52 页 · deck 第 26 页（按源文件重建） · 按 deck 讲稿备注翻译（已按复核结果更新）</a:t>
            </a:r>
          </a:p>
          <a:p/>
          <a:p>
            <a:r>
              <a:t>知道了第一个词，其余部分会更容易吗？对完整的名，是的：名进入前 10 名时，姓在输出处高 +0.22，logit lens 在 L62 高 +0.32。对首字母则没有这种帮助。如果把两种格式混在一起，甚至会看到负的效果，因为首字母很好猜，而后面的姓很难。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45 / 52 页 · deck 第 27 页（按源文件重建） · 按 deck 讲稿备注翻译（已按复核结果更新）</a:t>
            </a:r>
          </a:p>
          <a:p/>
          <a:p>
            <a:r>
              <a:t>左图是输出处按 token 角色分的标题特异信号：姓的第一个 token 最多，首字母最少，标点约为 0，这是阴性对照。右图是：在所有写不出作者的论文里，多选题答对的顺序越多，模型输出越好（Spearman 0.27）。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51 / 52 页 · deck 第 14 页（按源文件重建） · 按 deck 讲稿备注翻译（已按复核结果更新）</a:t>
            </a:r>
          </a:p>
          <a:p/>
          <a:p>
            <a:r>
              <a:t>总结。一句话：读得早，说得晚。标题在 L24 到 L50 被读进来，证据是替换、阻断和标题 token 上的 probe；但作者名字要到 L57 到 L61 才在名字位置变得可读。lens 的结果（目标组在中间层没有领先）和 probe 的结果（标题 token 上目标组有优势）说的是不同的位置，两者不矛盾。（probe 的数字已按作者团队分折、剔除标题复用后复核：+0.05 到 +0.08，目标组高 +0.04 到 +0.08。）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52 / 52 页 · deck 第 15 页（按源文件重建） · 按 deck 讲稿备注翻译（已按复核结果更新）</a:t>
            </a:r>
          </a:p>
          <a:p/>
          <a:p>
            <a:r>
              <a:t>局限和下一步。替换和阻断确定了标题在 L24–L50 被读取，但没有确定这些层内部发生了什么。Stage 12 正在进行：逐个位置的替换、注意力与 MLP 的替换、在作者提示词上拟合的 lens，以及两个名字先验基线。第二个模型不在范围内，因为分组来自组长对 Qwen3-32B 的那次标注。（补充：Stage 12 中逐位置替换和注意力/MLP 替换的 GPU 计算已完成，作者 lens 已拟合完；Stage 13 的计划写在实验记录第四部分。）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/ 52 页 · deck 第 13 页（按源文件重建） · 按 deck 讲稿备注翻译（已按复核结果更新）</a:t>
            </a:r>
          </a:p>
          <a:p/>
          <a:p>
            <a:r>
              <a:t>目标组的优势是不是只来自 R1 论文？目标组混合了 R0（开放回答一个真作者都没写对）和 R1（写对了一部分）；目标组里 11% 是 R1，对照组里只有 1.5%。左图是三种口径下引用档内的目标−对照：只用 R0（A 对 B，即 Stage 1–9 的比较）输出处为 +0.199，合并口径为 +0.207，曲线形状相同；R1 目标论文对 R0 对照为 +0.37，它们更了解自己的论文，但同样要到 L52 之后才领先。对照组 R1 只有 34 篇，只做描述，不做检验。右图是按回忆程度分开的 Stage 11 替换曲线：R1 目标论文（36 篇）恢复得稍晚，但到 L52 也全部恢复。标题位置的 probe 给出同样的结论：R0 口径为 +0.02 到 +0.04（这是复核前按论文分折的数字）。结论不变。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/ 52 页 · deck 第 20 页（按源文件重建） · 按 deck 讲稿备注翻译（已按复核结果更新）</a:t>
            </a:r>
          </a:p>
          <a:p/>
          <a:p>
            <a:r>
              <a:t>在 R1 论文内部，开放回答写对了一部分作者，漏掉了另一部分。标注包只记录了写对的人数，没有记录是哪几位，所以我们重建了匹配，重建出的人数在 99.3% 的 R1 论文里与标注包一致。在 495 篇同时有写对和漏掉作者的论文里，模型写对的作者在输出处的标题特异信号高 +0.20，去掉第一作者后也一样。但这个差在 L52 之前约为 0，从 L54 才开始上升：即使是模型真能写出来的作者，论文特有的信号也只在最后几层出现。另外，写对的作者在不给标题时也稍微好猜一些，高 +0.10。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/ 52 页 · 合并 PPT 自身页面（按网页元素重建） · 【新写讲稿】</a:t>
            </a:r>
          </a:p>
          <a:p/>
          <a:p>
            <a:r>
              <a:t>这一页说明两个阶段的分组其实是同一批论文。R0 是开放回答一个真作者都没写对，R1 是写对了一部分但 HR2 大于 0.5。A = 4,110、B = 2,186、C = 511、D = 34。Stage 1–9 比的是 A 对 B，两组都是 R0；Stage 10–11 比的是 A + C 对 B + D，多出来的 511 篇 R1 几乎全在 target 一侧。我们已经检查过：只用 R0（A 对 B）时，输出处的差是 +0.199，合并口径是 +0.207，各层形状相同，所以两个阶段可以直接对照。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/ 52 页 · 合并 PPT 自身页面（按网页元素重建） · 【新写讲稿】</a:t>
            </a:r>
          </a:p>
          <a:p/>
          <a:p>
            <a:r>
              <a:t>Stage 1 建立队列和行为标签。从 10 月 15 日的标注包 9,108 篇论文出发，冻结了 6,841 篇的分析队列。“认得出”的定义是：4 种选项顺序全对，并且真选项的平均概率至少 0.5；“认不出”是 4 次里最多对 1 次。之所以比较 A 和 B，是因为两组都一个作者都没写对，只在能否认出名单上不同，这正好对应“知道但说不出”。需要提醒的是，在 0–2 次引用的档里，严格通过率有 25.5%，高于原计划的 10% 上限，所以“通过”不等于模型真的记住了。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/ 52 页 · 合并 PPT 自身页面（按网页元素重建） · 【新写讲稿】</a:t>
            </a:r>
          </a:p>
          <a:p/>
          <a:p>
            <a:r>
              <a:t>Stage 2 固定了模型、提示词和打分方式，之后所有测量都在这些设置下进行。模型是 Qwen3-32B，BF16，revision 9216db57，64 层，隐藏维度 5,120。读出层是 L16 到 L62 共 7 层，读出方式有公开的 J-Lens、logit lens 和模型真实输出。名次 r 定义为 1 加上 logit 严格更大的 token 数。每次运行都会核对强制输入的 token，两条读出路径的最终 logit 差超过 0.1 就拒绝这次运行。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/ 52 页 · 合并 PPT 自身页面（按网页元素重建） · 【新写讲稿】</a:t>
            </a:r>
          </a:p>
          <a:p/>
          <a:p>
            <a:r>
              <a:t>A 线的问题是：信号是不是针对这篇论文？小样本阶段问的是，真标题能不能胜过交叉标题或打乱的标题，A 组是不是比 B 组得益更多。全量阶段的回答是：对每个 token 计算标题特异信号；目标组只在最后几层才领先对照组；把名字先验单独拆了出来；并做了 probe 的对照检验。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/ 52 页 · 合并 PPT 自身页面（按网页元素重建） · 【新写讲稿】</a:t>
            </a:r>
          </a:p>
          <a:p/>
          <a:p>
            <a:r>
              <a:t>Stage 5 做的是交叉标题对照：正确名字排得高，是因为标题，还是因为这个名字本身好猜？做法是拿论文 P（作者 G）和同领域、同引用档的来源论文 Q（作者 F）互换标题，看 G 相对 F 的 logit 差在两种标题下的变化，这样对 G 的固定偏好就被抵消了。全部 50 篇论文上，L56 为 +1.17 [0.53, 1.84]，L62 为 +1.08 [0.36, 1.82]，说明标题会改变后几层里谁胜出；但 20 对 A/B 匹配的 7 层积分只有 +0.08 [−0.43, +0.65]，A 是否比 B 得益更多还不能确定。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/ 52 页 · 合并 PPT 自身页面（按网页元素重建） · 【新写讲稿】</a:t>
            </a:r>
          </a:p>
          <a:p/>
          <a:p>
            <a:r>
              <a:t>Stage 7.3 用打乱的标题：候选名字不变，每篇论文配 20 个元数据匹配的错误标题，共 1,000 个上下文，只有标题在变。全部 50 篇合并，L56 上真标题 0.616 对错误标题平均 0.523，高 +9.3 个百分点 [4.7, 13.9]，50 篇里 35 篇为正；逐篇剔除后在 +8.6 到 +10.0 之间。Vanilla 在 L56 为 +10.6，最终输出 +7.2。但匹配的 A−B 积分只有 +0.018 [−0.021, +0.063]。这里要分清两个问题：“标题有没有帮助”，答案是有；“对 A 的帮助是否比对 B 大”，没有证明。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/ 52 页 · 合并 PPT 自身页面（按网页元素重建） · 【新写讲稿】</a:t>
            </a:r>
          </a:p>
          <a:p/>
          <a:p>
            <a:r>
              <a:t>这一页检查标题效应能否经受几种显而易见的质疑。第一，1,000 个错误标题里有 199 个来自作者在候选池里的论文，剔除后效应从 +0.026 变为 +0.028。第二，换成按作者、按唯一 token、按非碰撞加权，合并效应在 +0.026 到 +0.032 之间，但六个 A−B 区间都含 0。第三，0–2 次引用的 6 篇论文 L56 为 +0.22，6 篇里 5 篇为正，但没有一篇超出它自己 20 个错误标题的尾部。第四，层之间差异很大：L56 为 +0.11，L32 却为 −0.03（区间在 0 以下），只报告正的那些层会误导。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/ 52 页 · 合并 PPT 自身页面（按网页元素重建） · 【新写讲稿】</a:t>
            </a:r>
          </a:p>
          <a:p/>
          <a:p>
            <a:r>
              <a:t>Stage 8D 在 200 篇全新论文上冻结设计后复现。RQ1 标题效应 +5.18 个百分点 [+2.93, +7.48]，这是第一次独立确认：正确标题能帮助正确作者。RQ2 的 A−B 为 +4.98 [+0.32, +9.91]；RQ3 低引用减高引用为 +2.45，区间含 0；J-Lens 减 Vanilla 为 −1.38，区间含 0。按引用分档，低档 +6.8，中档 +4.8，高档 +4.4。J-Lens 仍然没有比 Vanilla 多出什么。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/ 52 页 · 合并 PPT 自身页面（按网页元素重建） · 【新写讲稿】</a:t>
            </a:r>
          </a:p>
          <a:p/>
          <a:p>
            <a:r>
              <a:t>但 A−B 的差依赖少数几对论文。100 对里 55 对为正、45 对为负，中位数 +4.4 个百分点；其中一对（S8P094）大约 +84。去掉最大的 5 对后降到 +1.9，去掉 10 对后变成 −0.4。8E 的外部审计是事后做的，脚本还没归档，不能算完成的实验。小样本可以给出一个由少数论文撑起来的正 A−B 均值，这正是 Stage 10 改用全量数据的主要原因。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/ 52 页 · 合并 PPT 自身页面（按网页元素重建） · 【新写讲稿】</a:t>
            </a:r>
          </a:p>
          <a:p/>
          <a:p>
            <a:r>
              <a:t>A 线的小结。小样本阶段看到：真标题有帮助，Pilot 在 L56 高 +9.3 个百分点，200 篇新论文上 +5.2；A−B 在 Pilot 中不确定，在 200 篇上是 +5.0 但去掉 10 对就消失；低引用减高引用没有定论。全量阶段看到：每组都有清楚的标题特异信号，L62 约 0.44；目标−对照在中间层约为 0，输出处 +0.21 [0.20, 0.22]；名字先验只占差距的约三分之一，在姓上约为 0；信号随引用数稳定上升（ρ = 0.45）；只用和 Pilot 相同的 R0 分组（A − B）为 +0.20 [0.19, 0.21]，形状同样是后期才上升；R1 论文（C）比 A 多 +0.11，但时间点一样晚。小样本说对了标题重要，但没看出目标组的优势只在最后几层，所以 7 层平均和 L56 终点都把它稀释了。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/ 52 页 · 合并 PPT 自身页面（按网页元素重建） · 【新写讲稿】</a:t>
            </a:r>
          </a:p>
          <a:p/>
          <a:p>
            <a:r>
              <a:t>B 线的问题是：每种读出工具能看到什么？小样本阶段问的是 J-Lens 是否比 Vanilla 好，拟合出来的 lens 是否稳定。全量阶段的回答是：lens 在中间层更早读出的是“名字的样子”，而不是论文身份；而在标题 token 上训练的 probe 能读出论文特有的信息。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/ 52 页 · 合并 PPT 自身页面（按网页元素重建） · 【新写讲稿】</a:t>
            </a:r>
          </a:p>
          <a:p/>
          <a:p>
            <a:r>
              <a:t>Stage 3 比较两个 lens：公开的 Public-557 和我们自己拟合的 Self-100，问中间层能否近似最终的下一个 token 分布，用了 20 条通用提示和 20 条论文提示。两个检查点数值上都有效。Self-100 在 6 个通用层中的 6 层、6 个论文层中的 5 层 KL 更低，例如论文提示 L32 从 11.1 降到 7.2。但在论文提示 L62，Self-100 的 KL 优于 Vanilla（0.58 对 0.81），前 10 名重合度却更差（0.36 对 0.72）。作者小试中两个 lens 在 L48 都是 20 次里 14 次全名胜出。教训是：分布拟合得更好，不等于作者排名更好，保真度不能代替任务本身。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/ 52 页 · 合并 PPT 自身页面（按网页元素重建） · 【新写讲稿】</a:t>
            </a:r>
          </a:p>
          <a:p/>
          <a:p>
            <a:r>
              <a:t>Stage 7.4 是跨阶段审计：J-Lens 到底有没有增加价值？只读地合并了 Stage 5 到 7.3 的结果，用 20,000 次 bootstrap。Stage 5 和 7.3 在 L56 的相关为 r = 0.45，50 篇里 32 篇方向一致。J-Lens 减 Vanilla 的标题优势为 +0.002 [−0.008, +0.012]，中位数 −0.002，50 篇里 24 篇为正；这个增量的 A−B 为 −0.014，区间含 0。去掉一篇论文就可能让 J-Lens 增量变号。Pilot 没有显示 J-Lens 比 Vanilla 多出任何标题特异的价值；而且到这里为止都是探索性的，L56 被反复看过。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26 / 52 页 · 合并 PPT 自身页面（按网页元素重建） · 【新写讲稿】</a:t>
            </a:r>
          </a:p>
          <a:p/>
          <a:p>
            <a:r>
              <a:t>Stage 9 想检验 lens 是否依赖拟合数据，用的是新的 FullFit 方案，和历史上的 50 + 50 拆分不同：两套互不重叠的 100 条提示，外加独立的 100 条 WikiText 留出集，层数增加到 7 层（加了 L16）。每条提示的 Jacobian 约需 324 秒、约 62 GiB CPU 内存，每条存一次检查点。最后只完成了 Fit A，Stage 10 用的“fitA”就是它；Fit B 和留出比较都没做，所以 lens 的拟合稳定性还没有检验。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31 / 52 页 · 合并 PPT 自身页面（按网页元素重建） · 【新写讲稿】</a:t>
            </a:r>
          </a:p>
          <a:p/>
          <a:p>
            <a:r>
              <a:t>B 线的小结。小样本阶段看到：Self-100 更贴近最终分布，但作者排名没有更好；J-Lens 减 Vanilla 约为 0（7.4 为 +0.002，Stage 8 为 −1.4 个百分点）；Stage 9 只拟合了 Fit A，稳定性没有检验。全量阶段看到：Jacobian lens 在 L48 的前 10 名比例为 15–18%，logit lens 为 1%；多出的标题特异信号只有 +0.01 到 0.03，而且不偏向目标组；L62 时朴素的 logit lens 最好；标题 token 上的线性 probe 从 +0.05 升到 +0.08（按作者团队分折、剔除标题复用后复核），而且是论文特有的。两个阶段一致：没有哪种 lens 能在中间层看出隐藏的论文知识；全量阶段补上了正面的一面：训练过的 probe 能在标题位置解码出来，所以限制在读出工具，而不是信息不存在。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32 / 52 页 · 合并 PPT 自身页面（按网页元素重建） · 【新写讲稿】</a:t>
            </a:r>
          </a:p>
          <a:p/>
          <a:p>
            <a:r>
              <a:t>C 线的问题是：信号在哪一层出现，又在哪一层被用到？小样本阶段问的是哪一层最高，L56 总是很突出。全量阶段的回答是：名字要到 L57–L61 才变得可读，但标题信息在 L24–L50 就已经被读取了。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33 / 52 页 · 合并 PPT 自身页面（按网页元素重建） · 【新写讲稿】</a:t>
            </a:r>
          </a:p>
          <a:p/>
          <a:p>
            <a:r>
              <a:t>Stage 4 是第一次读出：作者信号到底在不在？用了 20 篇论文、93 位作者，A 8 篇、B 8 篇、C 3 篇、D 1 篇，每篇约 91 秒、约 29.5 GiB 显存。流程能跑通，J-Lens 在中间层高于 Vanilla。但 L56 第一作者的平均倒数名次是 0.0070，中位数只有 0.0009；一篇论文就占了 L56 均值的 71%，去掉它均值降到 0.0021。层的峰值可能只是一篇特别好猜的论文，所以之后每个阶段都加了对照。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34 / 52 页 · 合并 PPT 自身页面（按网页元素重建） · 【新写讲稿】</a:t>
            </a:r>
          </a:p>
          <a:p/>
          <a:p>
            <a:r>
              <a:t>Stage 7.2 把正确名字和 100 个真实的错误作者比较：每篇论文 50 个匹配名字（同领域、同 token 数、同年份）加 50 个随机名字，共 75,000 对。J-Lens 下的 A−B 胜率：L40 +0.15，L48 +0.19，L56 +0.19，区间都在 0 以上；L62 为 +0.04，区间含 0；7 层积分 +0.105 [−0.012, +0.228]。需要注意 5,000 个错误名字里有 156 个与正确名字共享第一个 token，100 个名字只有约 46 个不同的第一个 token。中间层里 A 比 B 更常胜出，但同样的名字可能在任何标题下都胜出，这要由 7.3 来检验。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39 / 52 页 · 合并 PPT 自身页面（按网页元素重建） · 【新写讲稿】</a:t>
            </a:r>
          </a:p>
          <a:p/>
          <a:p>
            <a:r>
              <a:t>C 线的小结。小样本阶段看到：Stage 4 的 L56 峰值由一篇论文撑起（71%）；7.2 中 A−B 胜率在 L40–L56 为正；7.3 和 Stage 8 的标题优势在 L56，于是 L56 成了主要层。全量阶段看到：L56 是开始上升的地方，上升最快的是 L57–L61；替换标题之后的 token 状态在 L48 恢复 80–87%，L52 起恢复 100%；从 L52 起阻断标题几乎没有损失。L56 是真实的路标，但不是峰值；干预实验补上了读出看不到的东西：标题在 L24–50 被读取，答案要到十几层之后才在名字位置变得可读。【待复核】页面中“复制标题之后的 token 状态”包含名字位置本身，信息到底落在哪些位置，要等 Stage 12 P1 正式分析和 X6。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40 / 52 页 · 合并 PPT 自身页面（按网页元素重建） · 【新写讲稿】</a:t>
            </a:r>
          </a:p>
          <a:p/>
          <a:p>
            <a:r>
              <a:t>D 线的问题是：哪个 token 带着信号？小样本阶段问的是：是名字的第一个 token，还是名字的其余部分？全量阶段的回答是：取决于名字的格式；信息经由标题之后的 token 传过来；前面的合作者会部分代替标题的作用。【待复核】“经由标题之后的 token”这一点要等 Stage 12 P1 正式分析和 X6。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41 / 52 页 · 合并 PPT 自身页面（按网页元素重建） · 【新写讲稿】</a:t>
            </a:r>
          </a:p>
          <a:p/>
          <a:p>
            <a:r>
              <a:t>Stage 6 从第一个 token 扩展到完整名字：50 篇论文、227 位作者、972 个名字 token，所有列出的作者都用教师强制打分。条件完整作者 JMRR：A 组 0.085 [0.075, 0.096]，B 组 0.068 [0.057, 0.080]，C 组 0.106，D 组 0.050。L62 上 A−B 为 +0.097 [0.028, 0.163]，Vanilla 也是 +0.091。结果为正，但第一个 token 之后的每个 token 都已经给出了正确的前缀，所以下一步要把第一个 token 和其余部分分开（7.1）。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42 / 52 页 · 合并 PPT 自身页面（按网页元素重建） · 【新写讲稿】</a:t>
            </a:r>
          </a:p>
          <a:p/>
          <a:p>
            <a:r>
              <a:t>Stage 7.1 只用 CPU 重新分析 Stage 6，做了 10,000 次配对 bootstrap。7 层积分的 A−B：第一个 token +0.001 [−0.011, +0.015]，后续 token +0.021 [+0.002, +0.039]，全部 token +0.017 [+0.003, +0.030]。在 L62，第一个 token +0.014（20 对里 12 对为正），后续 token +0.121（20 对里 15 对为正）。补全一个名字比开头更容易，后续 token 上的差距不能说明模型能独立回忆。留下的问题是：这是不是首字母和姓的区别？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47 / 52 页 · 合并 PPT 自身页面（按网页元素重建） · 【新写讲稿】</a:t>
            </a:r>
          </a:p>
          <a:p/>
          <a:p>
            <a:r>
              <a:t>D 线的小结。小样本阶段看到：A−B 的差在后续 token 上（+0.021），不在第一个 token 上（+0.001）；当时留下的问题是，这是教师强制造成的，还是首字母和姓的区别。全量阶段看到：73% 的名字以首字母开头，首字母本身信息很少；完整的名带的信号和姓相当，还能帮助预测姓（+0.22）；信息从标题经由标题之后的 token 传到名字；前面的合作者让后面的作者更容易，标题的作用变小。7.1 的谜题由名字格式解释：像“S. Bree”这样的名字，姓本来就是后续 token。【待复核】“标题 → 标题之后的 token → 名字”这条路径要等 Stage 12 P1 正式分析和 X6；按 token 角色的初步结果是：首字母的信息在冒号上，姓的信息在名字位置本身。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48 / 52 页 · 合并 PPT 自身页面（按网页元素重建） · 【新写讲稿】</a:t>
            </a:r>
          </a:p>
          <a:p/>
          <a:p>
            <a:r>
              <a:t>用“钥匙和书架”来串起四条线。第一，书在不在架上？在：真标题胜过假标题，L62 约 0.44；标题 token 上的 probe 能读出论文特有的作者（复核后从 L24 起）。第二，钥匙就是标题，在 L44–52 被读进名字位置：整段提示替换在 L48 恢复 0.83，L52 起约 1.0；只换名字位置从 0.61 升到 0.85，只换“:”最多 0.17；L52 之后阻断几乎没有损失（Stage 11 和 Stage 12 P1）。第三，书在架上但取不出来？不支持：目标−对照在中间层约为 0，只在 L57–61 上升（输出处 +0.21），提取本身就弱。第四，在哪个书架上？两者都有，有先后：L48 的注意力把标题读进来（恢复 0.23），L52–56 由 MLP 接手（0.18、0.22）。单层替换只是下限，MLP 这一步是不是在查记忆还分不开（Stage 12 P2）。最后提醒：读出工具找不到，不等于信息不存在。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49 / 52 页 · 合并 PPT 自身页面（按网页元素重建） · 【新写讲稿】</a:t>
            </a:r>
          </a:p>
          <a:p/>
          <a:p>
            <a:r>
              <a:t>小样本阶段教会我们要提防的几件事：单篇论文的杠杆，一篇论文占 Stage 4 L56 均值的 71%；尾部驱动的对比，Stage 8 的 A−B 去掉 100 对中的 10 对就消失；分叉路径，L56 被反复查看后才定为主终点；候选伪影，100 个错误名字只有约 46 个不同的第一个 token，3% 与正确名字打平；标签噪声，0–2 次引用档的严格通过率为 25.5%；覆盖不全，用第一作者代替整个团队；指标选择，KL 保真度和作者排名不一致；协议漂移，主终点在 README 和实际运行之间改过。Stage 10 在设计上逐条回应：全量论文、所有作者和 token、报告所有层、全词表名次、引用档内比较、冻结输入并做一致性检查。它没法解决的是：分组仍然来自同一模型的一次标注。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50 / 52 页 · 合并 PPT 自身页面（按网页元素重建） · 【新写讲稿】</a:t>
            </a:r>
          </a:p>
          <a:p/>
          <a:p>
            <a:r>
              <a:t>一张表对照小样本和全量。真标题有帮助：Pilot +9.3、新 200 篇 +5.2 个百分点，全量 L62 标题特异约 0.44，确认。认得出大于认不出：小样本不确定、依赖尾部，全量输出处 +0.21、中间层约 0，确认，但只在最后几层。同一分组（A 对 B，只用 R0）：输出 +0.20、中间约 0，R1 只增加强度不改变时间，两阶段可比、结论不变。关键层：小样本是 L56，全量是 L56 开始、L57–61 上升、标题在 L24–50 被读取，细化。J-Lens 胜过 Vanilla：小样本没有增量，全量读出更多名字的样子、但没有论文身份，一致。名字第一个 token 和其余部分：小样本差距在后续 token，全量由首字母和完整名的格式差别解释。引用数：小样本低减高没有定论，全量单调上升 ρ = 0.45，解决。lens 稳定性：小样本只有一次拆分、Stage 9 只有 Fit A，全量三种 Jacobian lens 一致，仍需核实。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1.png"/><Relationship Id="rId4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2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How groups and contrasts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labels: group lead's pipeline on the same Qwen3-32B · we use them unchanged</a:t>
            </a:r>
          </a:p>
        </p:txBody>
      </p:sp>
      <p:sp>
        <p:nvSpPr>
          <p:cNvPr id="5" name="Rounded Rectangle 4"/>
          <p:cNvSpPr/>
          <p:nvPr/>
        </p:nvSpPr>
        <p:spPr>
          <a:xfrm rot="21564000">
            <a:off x="685800" y="1508760"/>
            <a:ext cx="5349240" cy="2286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B2D42"/>
                </a:solidFill>
                <a:latin typeface="Patrick Hand"/>
              </a:rPr>
              <a:t>open answer -&gt; R0 / R1 / R2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B2D42"/>
                </a:solidFill>
                <a:latin typeface="Patrick Hand"/>
              </a:rPr>
              <a:t>greedy, chat template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B2D42"/>
                </a:solidFill>
                <a:latin typeface="Patrick Hand"/>
              </a:rPr>
              <a:t>fuzzy name match: M, H, U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B2D42"/>
                </a:solidFill>
                <a:latin typeface="Patrick Hand"/>
              </a:rPr>
              <a:t>HR2 = (H+U) / (M+H+U)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B2D42"/>
                </a:solidFill>
                <a:latin typeface="Patrick Hand"/>
              </a:rPr>
              <a:t>R2: HR2 &lt;= 0.5 · R0: M = 0 · R1: M &gt; 0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B2D42"/>
                </a:solidFill>
                <a:latin typeface="Patrick Hand"/>
              </a:rPr>
              <a:t>a fixed rule, no human or model judge</a:t>
            </a:r>
          </a:p>
        </p:txBody>
      </p:sp>
      <p:sp>
        <p:nvSpPr>
          <p:cNvPr id="6" name="Rounded Rectangle 5"/>
          <p:cNvSpPr/>
          <p:nvPr/>
        </p:nvSpPr>
        <p:spPr>
          <a:xfrm rot="36000">
            <a:off x="6309360" y="1508760"/>
            <a:ext cx="5349240" cy="2286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07A2F"/>
                </a:solidFill>
                <a:latin typeface="Patrick Hand"/>
              </a:rPr>
              <a:t>multiple choice -&gt; target / control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07A2F"/>
                </a:solidFill>
                <a:latin typeface="Patrick Hand"/>
              </a:rPr>
              <a:t>true list + 3 real teams of other papers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07A2F"/>
                </a:solidFill>
                <a:latin typeface="Patrick Hand"/>
              </a:rPr>
              <a:t>(same field, team size, citation bin, ~year)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07A2F"/>
                </a:solidFill>
                <a:latin typeface="Patrick Hand"/>
              </a:rPr>
              <a:t>4 orders · p(letter) from next token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07A2F"/>
                </a:solidFill>
                <a:latin typeface="Patrick Hand"/>
              </a:rPr>
              <a:t>target: 4/4 and mean p(true) &gt;= 0.5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E07A2F"/>
                </a:solidFill>
                <a:latin typeface="Patrick Hand"/>
              </a:rPr>
              <a:t>control: &lt;= 1/4</a:t>
            </a:r>
          </a:p>
        </p:txBody>
      </p:sp>
      <p:sp>
        <p:nvSpPr>
          <p:cNvPr id="7" name="Rounded Rectangle 6"/>
          <p:cNvSpPr/>
          <p:nvPr/>
        </p:nvSpPr>
        <p:spPr>
          <a:xfrm rot="30000">
            <a:off x="685800" y="3977639"/>
            <a:ext cx="5349240" cy="2286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A6EA5"/>
                </a:solidFill>
                <a:latin typeface="Patrick Hand"/>
              </a:rPr>
              <a:t>5 false titles per paper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A6EA5"/>
                </a:solidFill>
                <a:latin typeface="Patrick Hand"/>
              </a:rPr>
              <a:t>same field, own year kept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A6EA5"/>
                </a:solidFill>
                <a:latin typeface="Patrick Hand"/>
              </a:rPr>
              <a:t>min-cost on |dyear|/5 + |dauthors|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A6EA5"/>
                </a:solidFill>
                <a:latin typeface="Patrick Hand"/>
              </a:rPr>
              <a:t>+ |dtitle tokens| + 1.5 |dcitation bin|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A6EA5"/>
                </a:solidFill>
                <a:latin typeface="Patrick Hand"/>
              </a:rPr>
              <a:t>no shared surname, Jaccard &lt;= 0.6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A6EA5"/>
                </a:solidFill>
                <a:latin typeface="Patrick Hand"/>
              </a:rPr>
              <a:t>79% strict tier</a:t>
            </a:r>
          </a:p>
        </p:txBody>
      </p:sp>
      <p:sp>
        <p:nvSpPr>
          <p:cNvPr id="8" name="Rounded Rectangle 7"/>
          <p:cNvSpPr/>
          <p:nvPr/>
        </p:nvSpPr>
        <p:spPr>
          <a:xfrm rot="21570000">
            <a:off x="6309360" y="3977639"/>
            <a:ext cx="5349240" cy="2286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C8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C8D5A"/>
                </a:solidFill>
                <a:latin typeface="Patrick Hand"/>
              </a:rPr>
              <a:t>statistics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8D5A"/>
                </a:solidFill>
                <a:latin typeface="Patrick Hand"/>
              </a:rPr>
              <a:t>target vs control only within citation bin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8D5A"/>
                </a:solidFill>
                <a:latin typeface="Patrick Hand"/>
              </a:rPr>
              <a:t>10 bins with &gt;= 30 per group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8D5A"/>
                </a:solidFill>
                <a:latin typeface="Patrick Hand"/>
              </a:rPr>
              <a:t>weight n_t n_c / (n_t + n_c)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8D5A"/>
                </a:solidFill>
                <a:latin typeface="Patrick Hand"/>
              </a:rPr>
              <a:t>95% bootstrap over papers, 2,000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8D5A"/>
                </a:solidFill>
                <a:latin typeface="Patrick Hand"/>
              </a:rPr>
              <a:t>sensitivity: drop bins 0-4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How we read the model</a:t>
            </a:r>
          </a:p>
        </p:txBody>
      </p:sp>
      <p:sp>
        <p:nvSpPr>
          <p:cNvPr id="4" name="Rounded Rectangle 3"/>
          <p:cNvSpPr/>
          <p:nvPr/>
        </p:nvSpPr>
        <p:spPr>
          <a:xfrm rot="21540000">
            <a:off x="731520" y="1554480"/>
            <a:ext cx="3291840" cy="146304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"Who are the authors of the paper titled 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07A2F"/>
                </a:solidFill>
                <a:latin typeface="Patrick Hand"/>
              </a:rPr>
              <a:t>"{title}"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({year})? Authors: 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3A6EA5"/>
                </a:solidFill>
                <a:latin typeface="Patrick Hand"/>
              </a:rPr>
              <a:t>S. Bree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2286000"/>
            <a:ext cx="731520" cy="0"/>
          </a:xfrm>
          <a:prstGeom prst="line">
            <a:avLst/>
          </a:prstGeom>
          <a:ln w="28575">
            <a:solidFill>
              <a:srgbClr val="2B2D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37760" y="1554480"/>
            <a:ext cx="2743200" cy="146304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B2D42"/>
                </a:solidFill>
                <a:latin typeface="Patrick Hand"/>
              </a:rPr>
              <a:t>hidden state</a:t>
            </a:r>
          </a:p>
          <a:p>
            <a:pPr algn="ctr">
              <a:spcAft>
                <a:spcPts val="4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layers 24 · 32 · 40</a:t>
            </a:r>
          </a:p>
          <a:p>
            <a:pPr algn="ctr">
              <a:spcAft>
                <a:spcPts val="4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48 · 56 · 62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0" y="2286000"/>
            <a:ext cx="731520" cy="0"/>
          </a:xfrm>
          <a:prstGeom prst="line">
            <a:avLst/>
          </a:prstGeom>
          <a:ln w="28575">
            <a:solidFill>
              <a:srgbClr val="2B2D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 rot="60000">
            <a:off x="8595360" y="1417320"/>
            <a:ext cx="3017520" cy="173736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B2D42"/>
                </a:solidFill>
                <a:latin typeface="Patrick Hand"/>
              </a:rPr>
              <a:t>readouts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logit lens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3 Jacobian lenses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real output (L63)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B2D42"/>
                </a:solidFill>
                <a:latin typeface="Patrick Hand"/>
              </a:rPr>
              <a:t>Score</a:t>
            </a:r>
            <a:r>
              <a:rPr sz="2000" b="0">
                <a:solidFill>
                  <a:srgbClr val="2B2D42"/>
                </a:solidFill>
                <a:latin typeface="Patrick Hand"/>
              </a:rPr>
              <a:t> = rank of the correct next name token,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as log10(1 / rank):  0 = rank 1,  -1 = rank 10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2B2D42"/>
                </a:solidFill>
                <a:latin typeface="Patrick Hand"/>
              </a:rPr>
              <a:t>7 title conditions</a:t>
            </a:r>
            <a:r>
              <a:rPr sz="2000" b="0">
                <a:solidFill>
                  <a:srgbClr val="2B2D42"/>
                </a:solidFill>
                <a:latin typeface="Patrick Hand"/>
              </a:rPr>
              <a:t>: the true title, 5 matched false titles, no title</a:t>
            </a:r>
          </a:p>
        </p:txBody>
      </p:sp>
      <p:sp>
        <p:nvSpPr>
          <p:cNvPr id="10" name="Rectangle 9"/>
          <p:cNvSpPr/>
          <p:nvPr/>
        </p:nvSpPr>
        <p:spPr>
          <a:xfrm rot="21510000">
            <a:off x="6675120" y="3657600"/>
            <a:ext cx="4754880" cy="210312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2B2D42"/>
                </a:solidFill>
                <a:latin typeface="Patrick Hand"/>
              </a:rPr>
              <a:t>title-specific signal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= true title  -  mean(5 false titles)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Same name, same tokens: what is left is knowing </a:t>
            </a:r>
          </a:p>
          <a:p>
            <a:pPr algn="l">
              <a:spcAft>
                <a:spcPts val="900"/>
              </a:spcAft>
            </a:pPr>
            <a:r>
              <a:rPr sz="2000" b="1">
                <a:solidFill>
                  <a:srgbClr val="E07A2F"/>
                </a:solidFill>
                <a:latin typeface="Patrick Hand"/>
              </a:rPr>
              <a:t>this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1264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E7080"/>
                </a:solidFill>
                <a:latin typeface="Patrick Hand"/>
              </a:rPr>
              <a:t>Lenses (model weights never change; Jacobians to L63 averaged over prompts): public = 557 WikiText-103 prompts (Neuronpedia) · self100 = 100 frozen WikiText-103 prompts · fitA = 100 other WikiText-103 prompts (Stage 9: one skipped prompt replaced -&gt; 100 valid)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Can we trust the numbers?</a:t>
            </a:r>
          </a:p>
        </p:txBody>
      </p:sp>
      <p:sp>
        <p:nvSpPr>
          <p:cNvPr id="4" name="Rounded Rectangle 3"/>
          <p:cNvSpPr/>
          <p:nvPr/>
        </p:nvSpPr>
        <p:spPr>
          <a:xfrm rot="21540000">
            <a:off x="822960" y="1828800"/>
            <a:ext cx="3383280" cy="237744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3A6EA5"/>
                </a:solidFill>
                <a:latin typeface="Patrick Hand"/>
              </a:rPr>
              <a:t>fast = slow</a:t>
            </a:r>
          </a:p>
          <a:p>
            <a:pPr algn="ctr">
              <a:spcAft>
                <a:spcPts val="400"/>
              </a:spcAft>
            </a:pPr>
            <a:r>
              <a:rPr sz="1900" b="0">
                <a:solidFill>
                  <a:srgbClr val="3A6EA5"/>
                </a:solidFill>
                <a:latin typeface="Patrick Hand"/>
              </a:rPr>
              <a:t>One forward pass vs one per prefix: max gap 0.37 logit (bf16 rounding); ranks 1-41 identical</a:t>
            </a:r>
          </a:p>
        </p:txBody>
      </p:sp>
      <p:sp>
        <p:nvSpPr>
          <p:cNvPr id="5" name="Rounded Rectangle 4"/>
          <p:cNvSpPr/>
          <p:nvPr/>
        </p:nvSpPr>
        <p:spPr>
          <a:xfrm rot="60000">
            <a:off x="4572000" y="1828800"/>
            <a:ext cx="3383280" cy="237744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C8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3C8D5A"/>
                </a:solidFill>
                <a:latin typeface="Patrick Hand"/>
              </a:rPr>
              <a:t>matches Stage 6</a:t>
            </a:r>
          </a:p>
          <a:p>
            <a:pPr algn="ctr">
              <a:spcAft>
                <a:spcPts val="400"/>
              </a:spcAft>
            </a:pPr>
            <a:r>
              <a:rPr sz="1900" b="0">
                <a:solidFill>
                  <a:srgbClr val="3C8D5A"/>
                </a:solidFill>
                <a:latin typeface="Patrick Hand"/>
              </a:rPr>
              <a:t>972 tokens: same token ids, median log-prob gap ~1e-5</a:t>
            </a:r>
          </a:p>
        </p:txBody>
      </p:sp>
      <p:sp>
        <p:nvSpPr>
          <p:cNvPr id="6" name="Rounded Rectangle 5"/>
          <p:cNvSpPr/>
          <p:nvPr/>
        </p:nvSpPr>
        <p:spPr>
          <a:xfrm rot="21570000">
            <a:off x="8321040" y="1828800"/>
            <a:ext cx="3383280" cy="237744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E07A2F"/>
                </a:solidFill>
                <a:latin typeface="Patrick Hand"/>
              </a:rPr>
              <a:t>negative control</a:t>
            </a:r>
          </a:p>
          <a:p>
            <a:pPr algn="ctr">
              <a:spcAft>
                <a:spcPts val="400"/>
              </a:spcAft>
            </a:pPr>
            <a:r>
              <a:rPr sz="1900" b="0">
                <a:solidFill>
                  <a:srgbClr val="E07A2F"/>
                </a:solidFill>
                <a:latin typeface="Patrick Hand"/>
              </a:rPr>
              <a:t>Punctuation tokens show ~0 title-specific signal at every layer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2743200" y="4709160"/>
            <a:ext cx="6583680" cy="114300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2B2D42"/>
                </a:solidFill>
                <a:latin typeface="Patrick Hand"/>
              </a:rPr>
              <a:t>Caveat: 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the parity tolerance was raised 0.25 -&gt; 0.5 after seeing these bf16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Names become readable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all 9,108 papers · true title</a:t>
            </a:r>
          </a:p>
        </p:txBody>
      </p:sp>
      <p:pic>
        <p:nvPicPr>
          <p:cNvPr id="5" name="Picture 4" descr="c1_level_by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7315200" cy="45284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8229600" y="1737360"/>
            <a:ext cx="338328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Logit lens: almost nothing until </a:t>
            </a:r>
            <a:r>
              <a:rPr sz="1900" b="1">
                <a:solidFill>
                  <a:srgbClr val="3A6EA5"/>
                </a:solidFill>
                <a:latin typeface="Patrick Hand"/>
              </a:rPr>
              <a:t>L48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Jacobian lenses read more from </a:t>
            </a:r>
            <a:r>
              <a:rPr sz="1900" b="1">
                <a:solidFill>
                  <a:srgbClr val="3C8D5A"/>
                </a:solidFill>
                <a:latin typeface="Patrick Hand"/>
              </a:rPr>
              <a:t>L40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Everything jumps at </a:t>
            </a:r>
            <a:r>
              <a:rPr sz="1900" b="1">
                <a:solidFill>
                  <a:srgbClr val="E07A2F"/>
                </a:solidFill>
                <a:latin typeface="Patrick Hand"/>
              </a:rPr>
              <a:t>L62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(rank ~10)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Knowing the paper shows up only at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title-specific signal · public Jacobian lens (lines) and model output (diamonds)</a:t>
            </a:r>
          </a:p>
        </p:txBody>
      </p:sp>
      <p:pic>
        <p:nvPicPr>
          <p:cNvPr id="5" name="Picture 4" descr="c2_spec_by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7315200" cy="45284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8229600" y="1737360"/>
            <a:ext cx="338328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2B2D42"/>
                </a:solidFill>
                <a:latin typeface="Patrick Hand"/>
              </a:rPr>
              <a:t>L24-L48: ~0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for both groups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rises at </a:t>
            </a:r>
            <a:r>
              <a:rPr sz="1900" b="1">
                <a:solidFill>
                  <a:srgbClr val="2B2D42"/>
                </a:solidFill>
                <a:latin typeface="Patrick Hand"/>
              </a:rPr>
              <a:t>L56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L62: </a:t>
            </a:r>
            <a:r>
              <a:rPr sz="1900" b="1">
                <a:solidFill>
                  <a:srgbClr val="E07A2F"/>
                </a:solidFill>
                <a:latin typeface="Patrick Hand"/>
              </a:rPr>
              <a:t>target +0.56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vs </a:t>
            </a:r>
            <a:r>
              <a:rPr sz="1900" b="1">
                <a:solidFill>
                  <a:srgbClr val="3A6EA5"/>
                </a:solidFill>
                <a:latin typeface="Patrick Hand"/>
              </a:rPr>
              <a:t>control +0.24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Target pulls ahead only in the last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target - control, within citation bin, 95% CI</a:t>
            </a:r>
          </a:p>
        </p:txBody>
      </p:sp>
      <p:pic>
        <p:nvPicPr>
          <p:cNvPr id="5" name="Picture 4" descr="c3_tc_by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3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93192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Middle layers: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no head start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L62 / output: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E07A2F"/>
                </a:solidFill>
                <a:latin typeface="Patrick Hand"/>
              </a:rPr>
              <a:t>+0.21 to +0.23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almost all title-specific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D42"/>
                </a:solidFill>
                <a:latin typeface="Patrick Hand"/>
              </a:rPr>
              <a:t>R0 only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(no author written): output +0.199 vs +0.207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It builds up over the last dozen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fine layers L40-L62 · title-specific signal · 95% CI</a:t>
            </a:r>
          </a:p>
        </p:txBody>
      </p:sp>
      <p:pic>
        <p:nvPicPr>
          <p:cNvPr id="5" name="Picture 4" descr="c11_fine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3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9098280" y="1737360"/>
            <a:ext cx="265176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Logit lens: target - control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3A6EA5"/>
                </a:solidFill>
                <a:latin typeface="Patrick Hand"/>
              </a:rPr>
              <a:t>+0.007 at L50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E07A2F"/>
                </a:solidFill>
                <a:latin typeface="Patrick Hand"/>
              </a:rPr>
              <a:t>+0.23 at L62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steepest rise </a:t>
            </a:r>
            <a:r>
              <a:rPr sz="1900" b="1">
                <a:solidFill>
                  <a:srgbClr val="2B2D42"/>
                </a:solidFill>
                <a:latin typeface="Patrick Hand"/>
              </a:rPr>
              <a:t>L57-L61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Stage 11: intervene, do not just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593 + 593 papers: min(60, n_t, n_c) per citation bin, seed 11 · patch uses false_0 · knockout masks all heads · all 9,108 for probe and chain</a:t>
            </a:r>
          </a:p>
        </p:txBody>
      </p:sp>
      <p:sp>
        <p:nvSpPr>
          <p:cNvPr id="5" name="Rounded Rectangle 4"/>
          <p:cNvSpPr/>
          <p:nvPr/>
        </p:nvSpPr>
        <p:spPr>
          <a:xfrm rot="21540000">
            <a:off x="822960" y="1737360"/>
            <a:ext cx="5120640" cy="18288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07A2F"/>
                </a:solidFill>
                <a:latin typeface="Patrick Hand"/>
              </a:rPr>
              <a:t>patch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E07A2F"/>
                </a:solidFill>
                <a:latin typeface="Patrick Hand"/>
              </a:rPr>
              <a:t>copy the true-title hidden state into the false-title run at one layer</a:t>
            </a:r>
          </a:p>
        </p:txBody>
      </p:sp>
      <p:sp>
        <p:nvSpPr>
          <p:cNvPr id="6" name="Rounded Rectangle 5"/>
          <p:cNvSpPr/>
          <p:nvPr/>
        </p:nvSpPr>
        <p:spPr>
          <a:xfrm rot="60000">
            <a:off x="6400800" y="1737360"/>
            <a:ext cx="5120640" cy="18288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A6EA5"/>
                </a:solidFill>
                <a:latin typeface="Patrick Hand"/>
              </a:rPr>
              <a:t>knock out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3A6EA5"/>
                </a:solidFill>
                <a:latin typeface="Patrick Hand"/>
              </a:rPr>
              <a:t>block attention to the title tokens (all heads) from layer l to the last layer</a:t>
            </a:r>
          </a:p>
        </p:txBody>
      </p:sp>
      <p:sp>
        <p:nvSpPr>
          <p:cNvPr id="7" name="Rounded Rectangle 6"/>
          <p:cNvSpPr/>
          <p:nvPr/>
        </p:nvSpPr>
        <p:spPr>
          <a:xfrm rot="21570000">
            <a:off x="822960" y="3886200"/>
            <a:ext cx="5120640" cy="18288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3C8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C8D5A"/>
                </a:solidFill>
                <a:latin typeface="Patrick Hand"/>
              </a:rPr>
              <a:t>probe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3C8D5A"/>
                </a:solidFill>
                <a:latin typeface="Patrick Hand"/>
              </a:rPr>
              <a:t>linear map from the last title token to the output state</a:t>
            </a:r>
          </a:p>
        </p:txBody>
      </p:sp>
      <p:sp>
        <p:nvSpPr>
          <p:cNvPr id="8" name="Rounded Rectangle 7"/>
          <p:cNvSpPr/>
          <p:nvPr/>
        </p:nvSpPr>
        <p:spPr>
          <a:xfrm rot="48000">
            <a:off x="6400800" y="3886200"/>
            <a:ext cx="5120640" cy="18288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B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B2D42"/>
                </a:solidFill>
                <a:latin typeface="Patrick Hand"/>
              </a:rPr>
              <a:t>chain</a:t>
            </a:r>
          </a:p>
          <a:p>
            <a:pPr algn="ctr">
              <a:spcAft>
                <a:spcPts val="4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"Authors: A1, A2, ..." instead of each author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E7080"/>
                </a:solidFill>
                <a:latin typeface="Patrick Hand"/>
              </a:rPr>
              <a:t>Score: rank of the correct name token at the model output; "share of the true-false gap" = (intervened - false) / (true - false).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07A2F"/>
                </a:solidFill>
                <a:latin typeface="Patrick Hand"/>
              </a:rPr>
              <a:t>Stage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The title is read in L24-L50,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 · share of the true-false gap · CIs about +/-0.02</a:t>
            </a:r>
          </a:p>
        </p:txBody>
      </p:sp>
      <p:pic>
        <p:nvPicPr>
          <p:cNvPr id="5" name="Picture 4" descr="c12_patch_knoc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29184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E07A2F"/>
                </a:solidFill>
                <a:latin typeface="Patrick Hand"/>
              </a:rPr>
              <a:t>L52+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: title no longer needed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info moved to the tokens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right after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the title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same timing for target and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07A2F"/>
                </a:solidFill>
                <a:latin typeface="Patrick Hand"/>
              </a:rPr>
              <a:t>Stage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Read early: a probe finds it at the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title-specific signal at the last title token · lenses: all 9,108 papers · probe: re-checked, title reuse removed: 1,863 papers (896 target, 499 control)</a:t>
            </a:r>
          </a:p>
        </p:txBody>
      </p:sp>
      <p:pic>
        <p:nvPicPr>
          <p:cNvPr id="5" name="Picture 4" descr="c13_title_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9098280" y="1737360"/>
            <a:ext cx="2651760" cy="384048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lenses: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~0.01-0.03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probe: </a:t>
            </a:r>
            <a:r>
              <a:rPr sz="1800" b="1">
                <a:solidFill>
                  <a:srgbClr val="3C8D5A"/>
                </a:solidFill>
                <a:latin typeface="Patrick Hand"/>
              </a:rPr>
              <a:t>0.05 -&gt; 0.08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target &gt; control by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+0.04-0.08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re-checked: team folds, title reuse removed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3C8D5A"/>
                </a:solidFill>
                <a:latin typeface="Patrick Hand"/>
              </a:rPr>
              <a:t>read early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(title, from L24),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spoken late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(names, L57-61)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07A2F"/>
                </a:solidFill>
                <a:latin typeface="Patrick Hand"/>
              </a:rPr>
              <a:t>Stage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Co-authors help, and partly replace the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 · all 9,108 papers · 95% CI</a:t>
            </a:r>
          </a:p>
        </p:txBody>
      </p:sp>
      <p:pic>
        <p:nvPicPr>
          <p:cNvPr id="5" name="Picture 4" descr="c14_author_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29184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later authors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+0.17 to +0.23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title-specific part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shrinks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target &gt; control still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07A2F"/>
                </a:solidFill>
                <a:latin typeface="Patrick Hand"/>
              </a:rPr>
              <a:t>Stage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How much is just the name prior?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 · no title vs false title vs true title · all 9,108 papers</a:t>
            </a:r>
          </a:p>
        </p:txBody>
      </p:sp>
      <p:pic>
        <p:nvPicPr>
          <p:cNvPr id="5" name="Picture 4" descr="c15_name_p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5661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no title: rank </a:t>
            </a:r>
            <a:r>
              <a:rPr sz="1700" b="1">
                <a:solidFill>
                  <a:srgbClr val="2B2D42"/>
                </a:solidFill>
                <a:latin typeface="Patrick Hand"/>
              </a:rPr>
              <a:t>~12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target - control: </a:t>
            </a:r>
            <a:r>
              <a:rPr sz="1700" b="1">
                <a:solidFill>
                  <a:srgbClr val="6E7080"/>
                </a:solidFill>
                <a:latin typeface="Patrick Hand"/>
              </a:rPr>
              <a:t>+0.09</a:t>
            </a:r>
            <a:r>
              <a:rPr sz="1700" b="0">
                <a:solidFill>
                  <a:srgbClr val="2B2D42"/>
                </a:solidFill>
                <a:latin typeface="Patrick Hand"/>
              </a:rPr>
              <a:t> prior, </a:t>
            </a:r>
            <a:r>
              <a:rPr sz="1700" b="1">
                <a:solidFill>
                  <a:srgbClr val="E07A2F"/>
                </a:solidFill>
                <a:latin typeface="Patrick Hand"/>
              </a:rPr>
              <a:t>+0.21</a:t>
            </a:r>
            <a:r>
              <a:rPr sz="1700" b="0">
                <a:solidFill>
                  <a:srgbClr val="2B2D42"/>
                </a:solidFill>
                <a:latin typeface="Patrick Hand"/>
              </a:rPr>
              <a:t> paper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surname 1st: prior ~0, paper </a:t>
            </a:r>
            <a:r>
              <a:rPr sz="1700" b="1">
                <a:solidFill>
                  <a:srgbClr val="E07A2F"/>
                </a:solidFill>
                <a:latin typeface="Patrick Hand"/>
              </a:rPr>
              <a:t>+0.42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prior vs recognition rho </a:t>
            </a:r>
            <a:r>
              <a:rPr sz="1700" b="1">
                <a:solidFill>
                  <a:srgbClr val="2B2D42"/>
                </a:solidFill>
                <a:latin typeface="Patrick Hand"/>
              </a:rPr>
              <a:t>0.09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E07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07A2F"/>
                </a:solidFill>
                <a:latin typeface="Patrick Hand"/>
              </a:rPr>
              <a:t>Stage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The probe signal is paper-specific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last title token · 5-fold ridge probe · re-checked: author-team folds, title reuse removed</a:t>
            </a:r>
          </a:p>
        </p:txBody>
      </p:sp>
      <p:pic>
        <p:nvPicPr>
          <p:cNvPr id="5" name="Picture 4" descr="c16_probe_contr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7315200" cy="41679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8229600" y="1737360"/>
            <a:ext cx="3383280" cy="329184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another paper's authors: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0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same-field paper: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0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so it is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this paper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, already at L24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lenses cannot read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C8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C8D5A"/>
                </a:solidFill>
                <a:latin typeface="Patrick Hand"/>
              </a:rPr>
              <a:t>Stage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Which lens reads best?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all papers · true title</a:t>
            </a:r>
          </a:p>
        </p:txBody>
      </p:sp>
      <p:pic>
        <p:nvPicPr>
          <p:cNvPr id="5" name="Picture 4" descr="c4_lens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3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9098280" y="1737360"/>
            <a:ext cx="265176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3C8D5A"/>
                </a:solidFill>
                <a:latin typeface="Patrick Hand"/>
              </a:rPr>
              <a:t>Middle layers: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fitA best; at L48 15-18% top-10 vs 1% for logit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3A6EA5"/>
                </a:solidFill>
                <a:latin typeface="Patrick Hand"/>
              </a:rPr>
              <a:t>L62: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logit lens best (59%)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Do lenses reveal hidden paper knowledge?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paired differences, 95% CI</a:t>
            </a:r>
          </a:p>
        </p:txBody>
      </p:sp>
      <p:pic>
        <p:nvPicPr>
          <p:cNvPr id="5" name="Picture 4" descr="c5_lens_ex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3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Extra signal: </a:t>
            </a:r>
            <a:r>
              <a:rPr sz="1900" b="1">
                <a:solidFill>
                  <a:srgbClr val="2B2D42"/>
                </a:solidFill>
                <a:latin typeface="Patrick Hand"/>
              </a:rPr>
              <a:t>+0.01 to +0.03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vs ~0.44 at L62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E07A2F"/>
                </a:solidFill>
                <a:latin typeface="Patrick Hand"/>
              </a:rPr>
              <a:t>Not bigger for target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(even negative at L48-56)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More citations, more paper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 · bins with &lt; 10 papers omitted</a:t>
            </a:r>
          </a:p>
        </p:txBody>
      </p:sp>
      <p:pic>
        <p:nvPicPr>
          <p:cNvPr id="5" name="Picture 4" descr="c6_ci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8946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9098280" y="1737360"/>
            <a:ext cx="265176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Target: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+0.35 -&gt; +0.64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Spearman (title-specific)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D42"/>
                </a:solidFill>
                <a:latin typeface="Patrick Hand"/>
              </a:rPr>
              <a:t>0.45</a:t>
            </a:r>
            <a:r>
              <a:rPr sz="1800" b="0">
                <a:solidFill>
                  <a:srgbClr val="2B2D42"/>
                </a:solidFill>
                <a:latin typeface="Patrick Hand"/>
              </a:rPr>
              <a:t> all · 0.33 target · 0.19 control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Target &gt; control in every 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First token or the rest of the name?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 · split by name format</a:t>
            </a:r>
          </a:p>
        </p:txBody>
      </p:sp>
      <p:pic>
        <p:nvPicPr>
          <p:cNvPr id="5" name="Picture 4" descr="c7_format_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35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3A6EA5"/>
                </a:solidFill>
                <a:latin typeface="Patrick Hand"/>
              </a:rPr>
              <a:t>Initial: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carries little; signal is on the surname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E07A2F"/>
                </a:solidFill>
                <a:latin typeface="Patrick Hand"/>
              </a:rPr>
              <a:t>Full given name: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 carries about as much as the surname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Knowing the given name helps with the surname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true title · later words when the first word is / is not in the top 10</a:t>
            </a:r>
          </a:p>
        </p:txBody>
      </p:sp>
      <p:pic>
        <p:nvPicPr>
          <p:cNvPr id="5" name="Picture 4" descr="c8_first_word_hel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3040"/>
            <a:ext cx="7315200" cy="43542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8229600" y="1737360"/>
            <a:ext cx="3383280" cy="31089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E07A2F"/>
                </a:solidFill>
                <a:latin typeface="Patrick Hand"/>
              </a:rPr>
              <a:t>Given name in top 10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surname +0.22 (output)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+0.32 (logit L62)</a:t>
            </a:r>
          </a:p>
          <a:p>
            <a:pPr algn="l">
              <a:spcAft>
                <a:spcPts val="900"/>
              </a:spcAft>
            </a:pPr>
            <a:r>
              <a:rPr sz="1900" b="1">
                <a:solidFill>
                  <a:srgbClr val="3A6EA5"/>
                </a:solidFill>
                <a:latin typeface="Patrick Hand"/>
              </a:rPr>
              <a:t>Initial in top 10</a:t>
            </a:r>
            <a:r>
              <a:rPr sz="1900" b="0">
                <a:solidFill>
                  <a:srgbClr val="2B2D42"/>
                </a:solidFill>
                <a:latin typeface="Patrick Hand"/>
              </a:rPr>
              <a:t>: no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Where the signal sits, and a dose-response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model output</a:t>
            </a:r>
          </a:p>
        </p:txBody>
      </p:sp>
      <p:pic>
        <p:nvPicPr>
          <p:cNvPr id="5" name="Picture 4" descr="c9_ro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6675120" cy="3973285"/>
          </a:xfrm>
          <a:prstGeom prst="rect">
            <a:avLst/>
          </a:prstGeom>
        </p:spPr>
      </p:pic>
      <p:pic>
        <p:nvPicPr>
          <p:cNvPr id="6" name="Picture 5" descr="c10_gra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0" cy="3282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55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E7080"/>
                </a:solidFill>
                <a:latin typeface="Patrick Hand"/>
              </a:rPr>
              <a:t>Right: R0/R1 papers, centred within citation bin; Spearman rho = 0.27, p &lt; 0.001.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A6EA5"/>
                </a:solidFill>
                <a:latin typeface="Patrick Hand"/>
              </a:rPr>
              <a:t>Stage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What we learned: read early, spoken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E07A2F"/>
                </a:solidFill>
                <a:latin typeface="Caveat"/>
              </a:rPr>
              <a:t>Read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1732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Causally the title is read in L24-L50 and moved into the tokens after it; after L52 it is no longer needed. A probe at the title token reads a little of it from L24 (re-checked).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3C8D5A"/>
                </a:solidFill>
                <a:latin typeface="Caveat"/>
              </a:rPr>
              <a:t>Spoken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5856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At the name positions, paper-specific author knowledge becomes lens-readable only from ~L50, fastest over L57-L61.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08376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3A6EA5"/>
                </a:solidFill>
                <a:latin typeface="Caveat"/>
              </a:rPr>
              <a:t>No lens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99816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Read with a lens at the names, target is not ahead of control in middle layers; the +0.21 gap is at the end (probe at the title: +0.02-0.04).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962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3C8D5A"/>
                </a:solidFill>
                <a:latin typeface="Caveat"/>
              </a:rPr>
              <a:t>Real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41063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Name prior is ~1/3 of the gap overall but ~0 on surnames; the rest is paper-specific and grows with citations.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90872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2B2D42"/>
                </a:solidFill>
                <a:latin typeface="Caveat"/>
              </a:rPr>
              <a:t>Lenses 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82312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Jacobian lenses read more in middle layers, but nothing target-specific.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E07A2F"/>
                </a:solidFill>
                <a:latin typeface="Caveat"/>
              </a:rPr>
              <a:t>Name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62356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B2D42"/>
                </a:solidFill>
                <a:latin typeface="Patrick Hand"/>
              </a:rPr>
              <a:t>Initials carry little; full given names carry as much as surnames and help predict them.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Caveats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2B2D42"/>
                </a:solidFill>
                <a:latin typeface="Patrick Hand"/>
              </a:rPr>
              <a:t>Caveats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B2D42"/>
                </a:solidFill>
                <a:latin typeface="Patrick Hand"/>
              </a:rPr>
              <a:t>- Readout is correlational; patching/knockout fix the timing, not the mechanism inside L24-L50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B2D42"/>
                </a:solidFill>
                <a:latin typeface="Patrick Hand"/>
              </a:rPr>
              <a:t>- Parity tolerance raised 0.25 -&gt; 0.5 after the fact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B2D42"/>
                </a:solidFill>
                <a:latin typeface="Patrick Hand"/>
              </a:rPr>
              <a:t>- Groups are model-specific; low-citation "recognition" is near chance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B2D42"/>
                </a:solidFill>
                <a:latin typeface="Patrick Hand"/>
              </a:rPr>
              <a:t>- Few control papers above 1,000 citations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2B2D42"/>
                </a:solidFill>
                <a:latin typeface="Patrick Hand"/>
              </a:rPr>
              <a:t>- Label run settings (max length, thinking mode) not in the package</a:t>
            </a:r>
          </a:p>
        </p:txBody>
      </p:sp>
      <p:sp>
        <p:nvSpPr>
          <p:cNvPr id="5" name="Rectangle 4"/>
          <p:cNvSpPr/>
          <p:nvPr/>
        </p:nvSpPr>
        <p:spPr>
          <a:xfrm rot="90000">
            <a:off x="6766560" y="1554480"/>
            <a:ext cx="4663440" cy="35661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2B2D42"/>
                </a:solidFill>
                <a:latin typeface="Patrick Hand"/>
              </a:rPr>
              <a:t>Stage 12 (running)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1. Patch single positions (quote, year, "Authors:") - done, analysing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2. Attention vs MLP patching in L8-L56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3. A lens fitted on author prompts, read at L24-L62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2B2D42"/>
                </a:solidFill>
                <a:latin typeface="Patrick Hand"/>
              </a:rPr>
              <a:t>4. Name-prior baselines: distractor lists without a title; a prompt with no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3C8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3C8D5A"/>
                </a:solidFill>
                <a:latin typeface="Patrick Hand"/>
              </a:rPr>
              <a:t>Stage 12 plan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Is it just the R1 papers?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R0 = no true author written · R1 = a few written · A/B/C/D = target/control x R0/R1</a:t>
            </a:r>
          </a:p>
        </p:txBody>
      </p:sp>
      <p:pic>
        <p:nvPicPr>
          <p:cNvPr id="5" name="Picture 4" descr="c17_r0_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90000">
            <a:off x="9098280" y="1737360"/>
            <a:ext cx="2651760" cy="402336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E07A2F"/>
                </a:solidFill>
                <a:latin typeface="Patrick Hand"/>
              </a:rPr>
              <a:t>R0 only (A - B):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output +0.199 vs +0.207, same shape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8A4FA3"/>
                </a:solidFill>
                <a:latin typeface="Patrick Hand"/>
              </a:rPr>
              <a:t>R1 (C - B):</a:t>
            </a:r>
            <a:r>
              <a:rPr sz="1700" b="0">
                <a:solidFill>
                  <a:srgbClr val="2B2D42"/>
                </a:solidFill>
                <a:latin typeface="Patrick Hand"/>
              </a:rPr>
              <a:t> +0.37, also late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B2D42"/>
                </a:solidFill>
                <a:latin typeface="Patrick Hand"/>
              </a:rPr>
              <a:t>C - A within target: +0.11, from L56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2B2D42"/>
                </a:solidFill>
                <a:latin typeface="Patrick Hand"/>
              </a:rPr>
              <a:t>patching:</a:t>
            </a:r>
            <a:r>
              <a:rPr sz="1700" b="0">
                <a:solidFill>
                  <a:srgbClr val="2B2D42"/>
                </a:solidFill>
                <a:latin typeface="Patrick Hand"/>
              </a:rPr>
              <a:t> R1 a bit later, done by L52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8A4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8A4FA3"/>
                </a:solidFill>
                <a:latin typeface="Patrick Hand"/>
              </a:rPr>
              <a:t>Stage 10-11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74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2B2D42"/>
                </a:solidFill>
                <a:latin typeface="Caveat"/>
              </a:rPr>
              <a:t>Authors it wrote vs authors it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E7080"/>
                </a:solidFill>
                <a:latin typeface="Patrick Hand"/>
              </a:rPr>
              <a:t>inside 495 R1 papers · paired within paper · 95% CI</a:t>
            </a:r>
          </a:p>
        </p:txBody>
      </p:sp>
      <p:pic>
        <p:nvPicPr>
          <p:cNvPr id="5" name="Picture 4" descr="c18_r1_auth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8412480" cy="3968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21510000">
            <a:off x="9098280" y="1737360"/>
            <a:ext cx="2651760" cy="3657600"/>
          </a:xfrm>
          <a:prstGeom prst="rect">
            <a:avLst/>
          </a:prstGeom>
          <a:solidFill>
            <a:srgbClr val="FFF1A8"/>
          </a:solidFill>
          <a:ln w="12700">
            <a:solidFill>
              <a:srgbClr val="E2D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written - missed, output: </a:t>
            </a:r>
            <a:r>
              <a:rPr sz="1800" b="1">
                <a:solidFill>
                  <a:srgbClr val="E07A2F"/>
                </a:solidFill>
                <a:latin typeface="Patrick Hand"/>
              </a:rPr>
              <a:t>+0.20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~0 up to L52, grows from </a:t>
            </a:r>
            <a:r>
              <a:rPr sz="1800" b="1">
                <a:solidFill>
                  <a:srgbClr val="2B2D42"/>
                </a:solidFill>
                <a:latin typeface="Patrick Hand"/>
              </a:rPr>
              <a:t>L54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no title (prior): +0.10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B2D42"/>
                </a:solidFill>
                <a:latin typeface="Patrick Hand"/>
              </a:rPr>
              <a:t>same without first authors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82880"/>
            <a:ext cx="16916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8A4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8A4FA3"/>
                </a:solidFill>
                <a:latin typeface="Patrick Hand"/>
              </a:rPr>
              <a:t>Stage 10-11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1428750"/>
            <a:ext cx="529971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AAB4C5"/>
                </a:solidFill>
                <a:latin typeface="Patrick Hand"/>
              </a:rPr>
              <a:t>Stages 1–9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712937"/>
            <a:ext cx="5299710" cy="2343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EEF1F5"/>
                </a:solidFill>
                <a:latin typeface="Caveat"/>
              </a:rPr>
              <a:t>Small samples:</a:t>
            </a:r>
          </a:p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F6A65A"/>
                </a:solidFill>
                <a:latin typeface="Caveat"/>
              </a:rPr>
              <a:t>find</a:t>
            </a:r>
            <a:r>
              <a:rPr sz="5850" b="1" i="0">
                <a:solidFill>
                  <a:srgbClr val="EEF1F5"/>
                </a:solidFill>
                <a:latin typeface="Caveat"/>
              </a:rPr>
              <a:t> a signal,</a:t>
            </a:r>
          </a:p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EEF1F5"/>
                </a:solidFill>
                <a:latin typeface="Caveat"/>
              </a:rPr>
              <a:t>try to break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245025"/>
            <a:ext cx="529971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AAB4C5"/>
                </a:solidFill>
                <a:latin typeface="Patrick Hand"/>
              </a:rPr>
              <a:t>20 → 50 → 200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5" y="1428750"/>
            <a:ext cx="529971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A7385"/>
                </a:solidFill>
                <a:latin typeface="Patrick Hand"/>
              </a:rPr>
              <a:t>Stages 10–11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1712937"/>
            <a:ext cx="5299710" cy="2343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22304A"/>
                </a:solidFill>
                <a:latin typeface="Caveat"/>
              </a:rPr>
              <a:t>Full cohort:</a:t>
            </a:r>
          </a:p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3C78B4"/>
                </a:solidFill>
                <a:latin typeface="Caveat"/>
              </a:rPr>
              <a:t>locate</a:t>
            </a:r>
            <a:r>
              <a:rPr sz="5850" b="1" i="0">
                <a:solidFill>
                  <a:srgbClr val="22304A"/>
                </a:solidFill>
                <a:latin typeface="Caveat"/>
              </a:rPr>
              <a:t> it,</a:t>
            </a:r>
          </a:p>
          <a:p>
            <a:pPr algn="l">
              <a:lnSpc>
                <a:spcPts val="6142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>
                <a:solidFill>
                  <a:srgbClr val="22304A"/>
                </a:solidFill>
                <a:latin typeface="Caveat"/>
              </a:rPr>
              <a:t>then intervene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4245025"/>
            <a:ext cx="529971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6A7385"/>
                </a:solidFill>
                <a:latin typeface="Patrick Hand"/>
              </a:rPr>
              <a:t>9,108 papers · 149,999 name tokens</a:t>
            </a:r>
          </a:p>
        </p:txBody>
      </p:sp>
      <p:sp>
        <p:nvSpPr>
          <p:cNvPr id="9" name="Rectangle 8"/>
          <p:cNvSpPr/>
          <p:nvPr/>
        </p:nvSpPr>
        <p:spPr>
          <a:xfrm rot="21564000">
            <a:off x="2476500" y="419100"/>
            <a:ext cx="7239000" cy="70485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90500" tIns="152400" rIns="190500" bIns="152400">
            <a:noAutofit/>
          </a:bodyPr>
          <a:lstStyle/>
          <a:p>
            <a:pPr algn="ctr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2B2A26"/>
                </a:solidFill>
                <a:latin typeface="Patrick Hand"/>
              </a:rPr>
              <a:t>Where does Qwen3-32B hold a paper’s authors?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096625" y="209550"/>
            <a:ext cx="8477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2304A"/>
                </a:solidFill>
                <a:latin typeface="Caveat"/>
              </a:rPr>
              <a:t>One question, four lines of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2304A">
                    <a:alpha val="75000"/>
                  </a:srgbClr>
                </a:solidFill>
                <a:latin typeface="Patrick Hand"/>
              </a:rPr>
              <a:t>Each line narrows the space of explanations; small samples set it up, the full cohort settles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552575"/>
            <a:ext cx="1714500" cy="276225"/>
          </a:xfrm>
          <a:prstGeom prst="roundRect">
            <a:avLst>
              <a:gd name="adj" fmla="val 20689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tIns="19050" rIns="114300" bIns="1905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EF1F5"/>
                </a:solidFill>
                <a:latin typeface="Patrick Hand"/>
              </a:rPr>
              <a:t>dark pages = Stages 1–9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0" y="1543050"/>
            <a:ext cx="1905000" cy="295275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3825" tIns="28575" rIns="123825" bIns="2857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sng">
                <a:solidFill>
                  <a:srgbClr val="22304A"/>
                </a:solidFill>
                <a:latin typeface="Patrick Hand"/>
              </a:rPr>
              <a:t>light pages = Stages 10–11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6750" y="1543050"/>
            <a:ext cx="1762125" cy="295275"/>
          </a:xfrm>
          <a:prstGeom prst="roundRect">
            <a:avLst>
              <a:gd name="adj" fmla="val 19354"/>
            </a:avLst>
          </a:prstGeom>
          <a:noFill/>
          <a:ln w="9525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3825" tIns="28575" rIns="123825" bIns="2857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sng">
                <a:solidFill>
                  <a:srgbClr val="9B7BD8"/>
                </a:solidFill>
                <a:latin typeface="Patrick Hand"/>
              </a:rPr>
              <a:t>purple tag = comparison</a:t>
            </a:r>
          </a:p>
        </p:txBody>
      </p:sp>
      <p:grpSp>
        <p:nvGrpSpPr>
          <p:cNvPr id="9" name="Mind map: one question, four lines"/>
          <p:cNvGrpSpPr/>
          <p:nvPr/>
        </p:nvGrpSpPr>
        <p:grpSpPr>
          <a:xfrm>
            <a:off x="952500" y="2124075"/>
            <a:ext cx="10287000" cy="4210050"/>
            <a:chOff x="952500" y="2124075"/>
            <a:chExt cx="10287000" cy="4210050"/>
          </a:xfrm>
        </p:grpSpPr>
        <p:sp>
          <p:nvSpPr>
            <p:cNvPr id="10" name="Freeform 9"/>
            <p:cNvSpPr/>
            <p:nvPr/>
          </p:nvSpPr>
          <p:spPr>
            <a:xfrm>
              <a:off x="4476750" y="2943225"/>
              <a:ext cx="762000" cy="1095375"/>
            </a:xfrm>
            <a:custGeom>
              <a:avLst/>
              <a:gdLst/>
              <a:ahLst/>
              <a:cxnLst/>
              <a:rect l="l" t="t" r="r" b="b"/>
              <a:pathLst>
                <a:path w="762000" h="1095375">
                  <a:moveTo>
                    <a:pt x="762000" y="1095375"/>
                  </a:moveTo>
                  <a:lnTo>
                    <a:pt x="738668" y="1078554"/>
                  </a:lnTo>
                  <a:lnTo>
                    <a:pt x="715806" y="1061100"/>
                  </a:lnTo>
                  <a:lnTo>
                    <a:pt x="693426" y="1043031"/>
                  </a:lnTo>
                  <a:lnTo>
                    <a:pt x="671529" y="1024381"/>
                  </a:lnTo>
                  <a:lnTo>
                    <a:pt x="650125" y="1005166"/>
                  </a:lnTo>
                  <a:lnTo>
                    <a:pt x="629209" y="985421"/>
                  </a:lnTo>
                  <a:lnTo>
                    <a:pt x="608786" y="965167"/>
                  </a:lnTo>
                  <a:lnTo>
                    <a:pt x="588852" y="944430"/>
                  </a:lnTo>
                  <a:lnTo>
                    <a:pt x="569400" y="923242"/>
                  </a:lnTo>
                  <a:lnTo>
                    <a:pt x="550431" y="901620"/>
                  </a:lnTo>
                  <a:lnTo>
                    <a:pt x="531929" y="879596"/>
                  </a:lnTo>
                  <a:lnTo>
                    <a:pt x="513890" y="857192"/>
                  </a:lnTo>
                  <a:lnTo>
                    <a:pt x="496301" y="834433"/>
                  </a:lnTo>
                  <a:lnTo>
                    <a:pt x="479152" y="811341"/>
                  </a:lnTo>
                  <a:lnTo>
                    <a:pt x="462429" y="787938"/>
                  </a:lnTo>
                  <a:lnTo>
                    <a:pt x="446118" y="764245"/>
                  </a:lnTo>
                  <a:lnTo>
                    <a:pt x="430205" y="740284"/>
                  </a:lnTo>
                  <a:lnTo>
                    <a:pt x="414676" y="716072"/>
                  </a:lnTo>
                  <a:lnTo>
                    <a:pt x="399511" y="691631"/>
                  </a:lnTo>
                  <a:lnTo>
                    <a:pt x="384699" y="666974"/>
                  </a:lnTo>
                  <a:lnTo>
                    <a:pt x="370218" y="642121"/>
                  </a:lnTo>
                  <a:lnTo>
                    <a:pt x="356050" y="617088"/>
                  </a:lnTo>
                  <a:lnTo>
                    <a:pt x="342184" y="591887"/>
                  </a:lnTo>
                  <a:lnTo>
                    <a:pt x="328588" y="566538"/>
                  </a:lnTo>
                  <a:lnTo>
                    <a:pt x="315246" y="541056"/>
                  </a:lnTo>
                  <a:lnTo>
                    <a:pt x="302144" y="515449"/>
                  </a:lnTo>
                  <a:lnTo>
                    <a:pt x="289248" y="489738"/>
                  </a:lnTo>
                  <a:lnTo>
                    <a:pt x="276547" y="463929"/>
                  </a:lnTo>
                  <a:lnTo>
                    <a:pt x="264003" y="438044"/>
                  </a:lnTo>
                  <a:lnTo>
                    <a:pt x="251605" y="412089"/>
                  </a:lnTo>
                  <a:lnTo>
                    <a:pt x="239307" y="386086"/>
                  </a:lnTo>
                  <a:lnTo>
                    <a:pt x="227089" y="360046"/>
                  </a:lnTo>
                  <a:lnTo>
                    <a:pt x="214894" y="333995"/>
                  </a:lnTo>
                  <a:lnTo>
                    <a:pt x="202706" y="307941"/>
                  </a:lnTo>
                  <a:lnTo>
                    <a:pt x="190480" y="281904"/>
                  </a:lnTo>
                  <a:lnTo>
                    <a:pt x="178149" y="255917"/>
                  </a:lnTo>
                  <a:lnTo>
                    <a:pt x="165656" y="230007"/>
                  </a:lnTo>
                  <a:lnTo>
                    <a:pt x="152930" y="204211"/>
                  </a:lnTo>
                  <a:lnTo>
                    <a:pt x="139874" y="178581"/>
                  </a:lnTo>
                  <a:lnTo>
                    <a:pt x="126387" y="153175"/>
                  </a:lnTo>
                  <a:lnTo>
                    <a:pt x="112317" y="128088"/>
                  </a:lnTo>
                  <a:lnTo>
                    <a:pt x="97481" y="103446"/>
                  </a:lnTo>
                  <a:lnTo>
                    <a:pt x="81639" y="79442"/>
                  </a:lnTo>
                  <a:lnTo>
                    <a:pt x="64457" y="56380"/>
                  </a:lnTo>
                  <a:lnTo>
                    <a:pt x="45497" y="34763"/>
                  </a:lnTo>
                  <a:lnTo>
                    <a:pt x="24193" y="15471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953250" y="2943225"/>
              <a:ext cx="762000" cy="1095375"/>
            </a:xfrm>
            <a:custGeom>
              <a:avLst/>
              <a:gdLst/>
              <a:ahLst/>
              <a:cxnLst/>
              <a:rect l="l" t="t" r="r" b="b"/>
              <a:pathLst>
                <a:path w="762000" h="1095375">
                  <a:moveTo>
                    <a:pt x="0" y="1095375"/>
                  </a:moveTo>
                  <a:lnTo>
                    <a:pt x="23330" y="1078552"/>
                  </a:lnTo>
                  <a:lnTo>
                    <a:pt x="46191" y="1061096"/>
                  </a:lnTo>
                  <a:lnTo>
                    <a:pt x="68574" y="1043031"/>
                  </a:lnTo>
                  <a:lnTo>
                    <a:pt x="90471" y="1024381"/>
                  </a:lnTo>
                  <a:lnTo>
                    <a:pt x="111875" y="1005166"/>
                  </a:lnTo>
                  <a:lnTo>
                    <a:pt x="132791" y="985421"/>
                  </a:lnTo>
                  <a:lnTo>
                    <a:pt x="153214" y="965167"/>
                  </a:lnTo>
                  <a:lnTo>
                    <a:pt x="173148" y="944430"/>
                  </a:lnTo>
                  <a:lnTo>
                    <a:pt x="192599" y="923242"/>
                  </a:lnTo>
                  <a:lnTo>
                    <a:pt x="211569" y="901620"/>
                  </a:lnTo>
                  <a:lnTo>
                    <a:pt x="230071" y="879596"/>
                  </a:lnTo>
                  <a:lnTo>
                    <a:pt x="248110" y="857192"/>
                  </a:lnTo>
                  <a:lnTo>
                    <a:pt x="265698" y="834433"/>
                  </a:lnTo>
                  <a:lnTo>
                    <a:pt x="282848" y="811341"/>
                  </a:lnTo>
                  <a:lnTo>
                    <a:pt x="299571" y="787938"/>
                  </a:lnTo>
                  <a:lnTo>
                    <a:pt x="315882" y="764245"/>
                  </a:lnTo>
                  <a:lnTo>
                    <a:pt x="331795" y="740284"/>
                  </a:lnTo>
                  <a:lnTo>
                    <a:pt x="347324" y="716072"/>
                  </a:lnTo>
                  <a:lnTo>
                    <a:pt x="362489" y="691631"/>
                  </a:lnTo>
                  <a:lnTo>
                    <a:pt x="377301" y="666974"/>
                  </a:lnTo>
                  <a:lnTo>
                    <a:pt x="391777" y="642118"/>
                  </a:lnTo>
                  <a:lnTo>
                    <a:pt x="405950" y="617088"/>
                  </a:lnTo>
                  <a:lnTo>
                    <a:pt x="419816" y="591886"/>
                  </a:lnTo>
                  <a:lnTo>
                    <a:pt x="433412" y="566539"/>
                  </a:lnTo>
                  <a:lnTo>
                    <a:pt x="446754" y="541056"/>
                  </a:lnTo>
                  <a:lnTo>
                    <a:pt x="459856" y="515449"/>
                  </a:lnTo>
                  <a:lnTo>
                    <a:pt x="472753" y="489738"/>
                  </a:lnTo>
                  <a:lnTo>
                    <a:pt x="485453" y="463929"/>
                  </a:lnTo>
                  <a:lnTo>
                    <a:pt x="497996" y="438044"/>
                  </a:lnTo>
                  <a:lnTo>
                    <a:pt x="510395" y="412089"/>
                  </a:lnTo>
                  <a:lnTo>
                    <a:pt x="522693" y="386086"/>
                  </a:lnTo>
                  <a:lnTo>
                    <a:pt x="534911" y="360046"/>
                  </a:lnTo>
                  <a:lnTo>
                    <a:pt x="547106" y="333995"/>
                  </a:lnTo>
                  <a:lnTo>
                    <a:pt x="559294" y="307941"/>
                  </a:lnTo>
                  <a:lnTo>
                    <a:pt x="571520" y="281904"/>
                  </a:lnTo>
                  <a:lnTo>
                    <a:pt x="583860" y="255921"/>
                  </a:lnTo>
                  <a:lnTo>
                    <a:pt x="596344" y="230007"/>
                  </a:lnTo>
                  <a:lnTo>
                    <a:pt x="609070" y="204211"/>
                  </a:lnTo>
                  <a:lnTo>
                    <a:pt x="622125" y="178581"/>
                  </a:lnTo>
                  <a:lnTo>
                    <a:pt x="635619" y="153178"/>
                  </a:lnTo>
                  <a:lnTo>
                    <a:pt x="649683" y="128088"/>
                  </a:lnTo>
                  <a:lnTo>
                    <a:pt x="664519" y="103447"/>
                  </a:lnTo>
                  <a:lnTo>
                    <a:pt x="680361" y="79442"/>
                  </a:lnTo>
                  <a:lnTo>
                    <a:pt x="697543" y="56380"/>
                  </a:lnTo>
                  <a:lnTo>
                    <a:pt x="716503" y="34764"/>
                  </a:lnTo>
                  <a:lnTo>
                    <a:pt x="737807" y="15471"/>
                  </a:ln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4476750" y="4419600"/>
              <a:ext cx="762000" cy="1095375"/>
            </a:xfrm>
            <a:custGeom>
              <a:avLst/>
              <a:gdLst/>
              <a:ahLst/>
              <a:cxnLst/>
              <a:rect l="l" t="t" r="r" b="b"/>
              <a:pathLst>
                <a:path w="762000" h="1095375">
                  <a:moveTo>
                    <a:pt x="762000" y="0"/>
                  </a:moveTo>
                  <a:lnTo>
                    <a:pt x="738670" y="16823"/>
                  </a:lnTo>
                  <a:lnTo>
                    <a:pt x="715809" y="34279"/>
                  </a:lnTo>
                  <a:lnTo>
                    <a:pt x="693426" y="52344"/>
                  </a:lnTo>
                  <a:lnTo>
                    <a:pt x="671528" y="70994"/>
                  </a:lnTo>
                  <a:lnTo>
                    <a:pt x="650125" y="90209"/>
                  </a:lnTo>
                  <a:lnTo>
                    <a:pt x="629209" y="109954"/>
                  </a:lnTo>
                  <a:lnTo>
                    <a:pt x="608786" y="130208"/>
                  </a:lnTo>
                  <a:lnTo>
                    <a:pt x="588852" y="150945"/>
                  </a:lnTo>
                  <a:lnTo>
                    <a:pt x="569400" y="172133"/>
                  </a:lnTo>
                  <a:lnTo>
                    <a:pt x="550432" y="193756"/>
                  </a:lnTo>
                  <a:lnTo>
                    <a:pt x="531929" y="215779"/>
                  </a:lnTo>
                  <a:lnTo>
                    <a:pt x="513890" y="238183"/>
                  </a:lnTo>
                  <a:lnTo>
                    <a:pt x="496302" y="260942"/>
                  </a:lnTo>
                  <a:lnTo>
                    <a:pt x="479152" y="284034"/>
                  </a:lnTo>
                  <a:lnTo>
                    <a:pt x="462429" y="307437"/>
                  </a:lnTo>
                  <a:lnTo>
                    <a:pt x="446118" y="331129"/>
                  </a:lnTo>
                  <a:lnTo>
                    <a:pt x="430205" y="355091"/>
                  </a:lnTo>
                  <a:lnTo>
                    <a:pt x="414676" y="379303"/>
                  </a:lnTo>
                  <a:lnTo>
                    <a:pt x="399510" y="403744"/>
                  </a:lnTo>
                  <a:lnTo>
                    <a:pt x="384699" y="428401"/>
                  </a:lnTo>
                  <a:lnTo>
                    <a:pt x="370217" y="453254"/>
                  </a:lnTo>
                  <a:lnTo>
                    <a:pt x="356050" y="478287"/>
                  </a:lnTo>
                  <a:lnTo>
                    <a:pt x="342184" y="503488"/>
                  </a:lnTo>
                  <a:lnTo>
                    <a:pt x="328588" y="528837"/>
                  </a:lnTo>
                  <a:lnTo>
                    <a:pt x="315246" y="554319"/>
                  </a:lnTo>
                  <a:lnTo>
                    <a:pt x="302144" y="579926"/>
                  </a:lnTo>
                  <a:lnTo>
                    <a:pt x="289248" y="605637"/>
                  </a:lnTo>
                  <a:lnTo>
                    <a:pt x="276547" y="631445"/>
                  </a:lnTo>
                  <a:lnTo>
                    <a:pt x="264003" y="657331"/>
                  </a:lnTo>
                  <a:lnTo>
                    <a:pt x="251605" y="683286"/>
                  </a:lnTo>
                  <a:lnTo>
                    <a:pt x="239307" y="709288"/>
                  </a:lnTo>
                  <a:lnTo>
                    <a:pt x="227089" y="735329"/>
                  </a:lnTo>
                  <a:lnTo>
                    <a:pt x="214894" y="761380"/>
                  </a:lnTo>
                  <a:lnTo>
                    <a:pt x="202706" y="787434"/>
                  </a:lnTo>
                  <a:lnTo>
                    <a:pt x="190480" y="813471"/>
                  </a:lnTo>
                  <a:lnTo>
                    <a:pt x="178149" y="839458"/>
                  </a:lnTo>
                  <a:lnTo>
                    <a:pt x="165656" y="865368"/>
                  </a:lnTo>
                  <a:lnTo>
                    <a:pt x="152930" y="891163"/>
                  </a:lnTo>
                  <a:lnTo>
                    <a:pt x="139875" y="916794"/>
                  </a:lnTo>
                  <a:lnTo>
                    <a:pt x="126387" y="942200"/>
                  </a:lnTo>
                  <a:lnTo>
                    <a:pt x="112318" y="967287"/>
                  </a:lnTo>
                  <a:lnTo>
                    <a:pt x="97482" y="991928"/>
                  </a:lnTo>
                  <a:lnTo>
                    <a:pt x="81639" y="1015933"/>
                  </a:lnTo>
                  <a:lnTo>
                    <a:pt x="64457" y="1038995"/>
                  </a:lnTo>
                  <a:lnTo>
                    <a:pt x="45497" y="1060612"/>
                  </a:lnTo>
                  <a:lnTo>
                    <a:pt x="24193" y="1079904"/>
                  </a:lnTo>
                  <a:lnTo>
                    <a:pt x="0" y="1095375"/>
                  </a:lnTo>
                </a:path>
              </a:pathLst>
            </a:custGeom>
            <a:noFill/>
            <a:ln w="28575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953250" y="4419600"/>
              <a:ext cx="762000" cy="1095375"/>
            </a:xfrm>
            <a:custGeom>
              <a:avLst/>
              <a:gdLst/>
              <a:ahLst/>
              <a:cxnLst/>
              <a:rect l="l" t="t" r="r" b="b"/>
              <a:pathLst>
                <a:path w="762000" h="1095375">
                  <a:moveTo>
                    <a:pt x="0" y="0"/>
                  </a:moveTo>
                  <a:lnTo>
                    <a:pt x="23330" y="16823"/>
                  </a:lnTo>
                  <a:lnTo>
                    <a:pt x="46191" y="34279"/>
                  </a:lnTo>
                  <a:lnTo>
                    <a:pt x="68574" y="52344"/>
                  </a:lnTo>
                  <a:lnTo>
                    <a:pt x="90471" y="70994"/>
                  </a:lnTo>
                  <a:lnTo>
                    <a:pt x="111875" y="90209"/>
                  </a:lnTo>
                  <a:lnTo>
                    <a:pt x="132791" y="109954"/>
                  </a:lnTo>
                  <a:lnTo>
                    <a:pt x="153214" y="130208"/>
                  </a:lnTo>
                  <a:lnTo>
                    <a:pt x="173148" y="150945"/>
                  </a:lnTo>
                  <a:lnTo>
                    <a:pt x="192600" y="172133"/>
                  </a:lnTo>
                  <a:lnTo>
                    <a:pt x="211568" y="193755"/>
                  </a:lnTo>
                  <a:lnTo>
                    <a:pt x="230071" y="215779"/>
                  </a:lnTo>
                  <a:lnTo>
                    <a:pt x="248110" y="238183"/>
                  </a:lnTo>
                  <a:lnTo>
                    <a:pt x="265698" y="260942"/>
                  </a:lnTo>
                  <a:lnTo>
                    <a:pt x="282848" y="284034"/>
                  </a:lnTo>
                  <a:lnTo>
                    <a:pt x="299571" y="307437"/>
                  </a:lnTo>
                  <a:lnTo>
                    <a:pt x="315882" y="331129"/>
                  </a:lnTo>
                  <a:lnTo>
                    <a:pt x="331795" y="355091"/>
                  </a:lnTo>
                  <a:lnTo>
                    <a:pt x="347324" y="379303"/>
                  </a:lnTo>
                  <a:lnTo>
                    <a:pt x="362489" y="403744"/>
                  </a:lnTo>
                  <a:lnTo>
                    <a:pt x="377296" y="428404"/>
                  </a:lnTo>
                  <a:lnTo>
                    <a:pt x="391777" y="453257"/>
                  </a:lnTo>
                  <a:lnTo>
                    <a:pt x="405950" y="478287"/>
                  </a:lnTo>
                  <a:lnTo>
                    <a:pt x="419816" y="503488"/>
                  </a:lnTo>
                  <a:lnTo>
                    <a:pt x="433412" y="528836"/>
                  </a:lnTo>
                  <a:lnTo>
                    <a:pt x="446754" y="554319"/>
                  </a:lnTo>
                  <a:lnTo>
                    <a:pt x="459856" y="579926"/>
                  </a:lnTo>
                  <a:lnTo>
                    <a:pt x="472753" y="605637"/>
                  </a:lnTo>
                  <a:lnTo>
                    <a:pt x="485453" y="631446"/>
                  </a:lnTo>
                  <a:lnTo>
                    <a:pt x="497996" y="657331"/>
                  </a:lnTo>
                  <a:lnTo>
                    <a:pt x="510395" y="683286"/>
                  </a:lnTo>
                  <a:lnTo>
                    <a:pt x="522693" y="709288"/>
                  </a:lnTo>
                  <a:lnTo>
                    <a:pt x="534910" y="735329"/>
                  </a:lnTo>
                  <a:lnTo>
                    <a:pt x="547106" y="761380"/>
                  </a:lnTo>
                  <a:lnTo>
                    <a:pt x="559294" y="787434"/>
                  </a:lnTo>
                  <a:lnTo>
                    <a:pt x="571520" y="813471"/>
                  </a:lnTo>
                  <a:lnTo>
                    <a:pt x="583860" y="839454"/>
                  </a:lnTo>
                  <a:lnTo>
                    <a:pt x="596344" y="865368"/>
                  </a:lnTo>
                  <a:lnTo>
                    <a:pt x="609070" y="891163"/>
                  </a:lnTo>
                  <a:lnTo>
                    <a:pt x="622125" y="916794"/>
                  </a:lnTo>
                  <a:lnTo>
                    <a:pt x="635619" y="942197"/>
                  </a:lnTo>
                  <a:lnTo>
                    <a:pt x="649683" y="967287"/>
                  </a:lnTo>
                  <a:lnTo>
                    <a:pt x="664519" y="991928"/>
                  </a:lnTo>
                  <a:lnTo>
                    <a:pt x="680361" y="1015933"/>
                  </a:lnTo>
                  <a:lnTo>
                    <a:pt x="697543" y="1038995"/>
                  </a:lnTo>
                  <a:lnTo>
                    <a:pt x="716503" y="1060611"/>
                  </a:lnTo>
                  <a:lnTo>
                    <a:pt x="737807" y="1079904"/>
                  </a:lnTo>
                  <a:lnTo>
                    <a:pt x="762000" y="1095375"/>
                  </a:lnTo>
                </a:path>
              </a:pathLst>
            </a:custGeom>
            <a:noFill/>
            <a:ln w="28575">
              <a:solidFill>
                <a:srgbClr val="C84A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21480000">
              <a:off x="4972050" y="3543300"/>
              <a:ext cx="2247900" cy="1371600"/>
            </a:xfrm>
            <a:prstGeom prst="ellipse">
              <a:avLst/>
            </a:prstGeom>
            <a:solidFill>
              <a:srgbClr val="F2E3A6"/>
            </a:solidFill>
            <a:ln w="23812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03495" y="3857625"/>
              <a:ext cx="1985010" cy="2762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2B2A26"/>
                  </a:solidFill>
                  <a:latin typeface="Patrick Hand"/>
                </a:rPr>
                <a:t>Where does Qwen3-32B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41833" y="4105275"/>
              <a:ext cx="1908334" cy="2762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2B2A26"/>
                  </a:solidFill>
                  <a:latin typeface="Patrick Hand"/>
                </a:rPr>
                <a:t>hold a paper’s authors,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29463" y="4352925"/>
              <a:ext cx="1733074" cy="2762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75" b="0" i="0">
                  <a:solidFill>
                    <a:srgbClr val="2B2A26"/>
                  </a:solidFill>
                  <a:latin typeface="Patrick Hand"/>
                </a:rPr>
                <a:t>and can it say them?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52500" y="2124075"/>
              <a:ext cx="3524250" cy="1600200"/>
            </a:xfrm>
            <a:prstGeom prst="roundRect">
              <a:avLst>
                <a:gd name="adj" fmla="val 9523"/>
              </a:avLst>
            </a:prstGeom>
            <a:solidFill>
              <a:srgbClr val="FBFAF5"/>
            </a:solidFill>
            <a:ln w="28575">
              <a:solidFill>
                <a:srgbClr val="D977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23950" y="2171700"/>
              <a:ext cx="2039779" cy="4095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50" b="1" i="0">
                  <a:solidFill>
                    <a:srgbClr val="D9772B"/>
                  </a:solidFill>
                  <a:latin typeface="Caveat"/>
                </a:rPr>
                <a:t>A · This paper?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23950" y="2581275"/>
              <a:ext cx="2576512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22304A"/>
                  </a:solidFill>
                  <a:latin typeface="Patrick Hand"/>
                </a:rPr>
                <a:t>Paper-specific, not an easy name?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85850" y="292417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1B22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00150" y="2962275"/>
              <a:ext cx="1645444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EF1F5"/>
                  </a:solidFill>
                  <a:latin typeface="Patrick Hand"/>
                </a:rPr>
                <a:t>1–9 · Stage 5, 7.2, 7.3, 8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85850" y="330517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00150" y="3343275"/>
              <a:ext cx="2620327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22304A"/>
                  </a:solidFill>
                  <a:latin typeface="Patrick Hand"/>
                </a:rPr>
                <a:t>10–11 · title signal, name prior, probe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715250" y="2124075"/>
              <a:ext cx="3524250" cy="1600200"/>
            </a:xfrm>
            <a:prstGeom prst="roundRect">
              <a:avLst>
                <a:gd name="adj" fmla="val 9523"/>
              </a:avLst>
            </a:prstGeom>
            <a:solidFill>
              <a:srgbClr val="FBFAF5"/>
            </a:solidFill>
            <a:ln w="28575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886700" y="2171700"/>
              <a:ext cx="2138362" cy="4095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50" b="1" i="0">
                  <a:solidFill>
                    <a:srgbClr val="3C78B4"/>
                  </a:solidFill>
                  <a:latin typeface="Caveat"/>
                </a:rPr>
                <a:t>B · Readout tool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886700" y="2581275"/>
              <a:ext cx="2083594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22304A"/>
                  </a:solidFill>
                  <a:latin typeface="Patrick Hand"/>
                </a:rPr>
                <a:t>What can each readout see?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848600" y="292417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1B22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62900" y="2962275"/>
              <a:ext cx="1481138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EF1F5"/>
                  </a:solidFill>
                  <a:latin typeface="Patrick Hand"/>
                </a:rPr>
                <a:t>1–9 · Stage 3, 7.4, 8, 9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848600" y="330517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962900" y="3343275"/>
              <a:ext cx="2598420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22304A"/>
                  </a:solidFill>
                  <a:latin typeface="Patrick Hand"/>
                </a:rPr>
                <a:t>10–11 · lens comparison, linear probe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52500" y="4733925"/>
              <a:ext cx="3524250" cy="1600200"/>
            </a:xfrm>
            <a:prstGeom prst="roundRect">
              <a:avLst>
                <a:gd name="adj" fmla="val 9523"/>
              </a:avLst>
            </a:prstGeom>
            <a:solidFill>
              <a:srgbClr val="FBFAF5"/>
            </a:solidFill>
            <a:ln w="28575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23950" y="4781550"/>
              <a:ext cx="2039779" cy="4095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50" b="1" i="0">
                  <a:solidFill>
                    <a:srgbClr val="3E8E4E"/>
                  </a:solidFill>
                  <a:latin typeface="Caveat"/>
                </a:rPr>
                <a:t>C · Which layer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123950" y="5191125"/>
              <a:ext cx="2773680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22304A"/>
                  </a:solidFill>
                  <a:latin typeface="Patrick Hand"/>
                </a:rPr>
                <a:t>When does it appear, when is it used?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85850" y="553402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1B22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200150" y="5572125"/>
              <a:ext cx="2028825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EF1F5"/>
                  </a:solidFill>
                  <a:latin typeface="Patrick Hand"/>
                </a:rPr>
                <a:t>1–9 · Stage 4, 7.2, 7.3, 8 (L56)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85850" y="591502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00150" y="5953125"/>
              <a:ext cx="2631281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22304A"/>
                  </a:solidFill>
                  <a:latin typeface="Patrick Hand"/>
                </a:rPr>
                <a:t>10–11 · fine layers, patching, knockout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715250" y="4733925"/>
              <a:ext cx="3524250" cy="1600200"/>
            </a:xfrm>
            <a:prstGeom prst="roundRect">
              <a:avLst>
                <a:gd name="adj" fmla="val 9523"/>
              </a:avLst>
            </a:prstGeom>
            <a:solidFill>
              <a:srgbClr val="FBFAF5"/>
            </a:solidFill>
            <a:ln w="28575">
              <a:solidFill>
                <a:srgbClr val="C84A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886700" y="4781550"/>
              <a:ext cx="2149316" cy="4095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50" b="1" i="0">
                  <a:solidFill>
                    <a:srgbClr val="C84A3E"/>
                  </a:solidFill>
                  <a:latin typeface="Caveat"/>
                </a:rPr>
                <a:t>D · Which token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886700" y="5191125"/>
              <a:ext cx="3113246" cy="2476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25" b="0" i="0">
                  <a:solidFill>
                    <a:srgbClr val="22304A"/>
                  </a:solidFill>
                  <a:latin typeface="Patrick Hand"/>
                </a:rPr>
                <a:t>Which part of name or prompt carries it?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848600" y="553402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1B22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962900" y="5572125"/>
              <a:ext cx="1174432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EEF1F5"/>
                  </a:solidFill>
                  <a:latin typeface="Patrick Hand"/>
                </a:rPr>
                <a:t>1–9 · Stage 6, 7.1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848600" y="5915025"/>
              <a:ext cx="3257550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62900" y="5953125"/>
              <a:ext cx="3102292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22304A"/>
                  </a:solidFill>
                  <a:latin typeface="Patrick Hand"/>
                </a:rPr>
                <a:t>10–11 · name format, tail tokens, co-authors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11830050" y="6467475"/>
            <a:ext cx="7924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AAB4C5"/>
                </a:solidFill>
                <a:latin typeface="Patrick Hand"/>
              </a:rPr>
              <a:t>Stages 1–9 · 20–200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EEF1F5"/>
                </a:solidFill>
                <a:latin typeface="Caveat"/>
              </a:rPr>
              <a:t>Pilot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Pilot50 / Stage 8: 50 and 200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68384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Mostly first-listed author, first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071092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Score: gold vs 1 or 100 false names (logit margin, win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52" y="24583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A/B both R0, matched in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852" y="2845594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Wrong titles: 1 crossed or 20 shuffled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852" y="3232845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Layer L56 chosen after repeated looks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91800" y="209550"/>
            <a:ext cx="135255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A7385"/>
                </a:solidFill>
                <a:latin typeface="Patrick Hand"/>
              </a:rPr>
              <a:t>Stages 10–11 · 9,108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22304A"/>
                </a:solidFill>
                <a:latin typeface="Caveat"/>
              </a:rPr>
              <a:t>Full-cohort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727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All 9,108 papers, every author, every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727" y="168384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Score: rank over the whole vocabulary, log10(1/rank)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727" y="2074218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target = A + C, control = B + D (R0 + R1), compared within citation bins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727" y="2769394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5 matched false titles + no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727" y="3156645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All layers reported, fine layers 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727" y="3543895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Parity and Stage 6 cross-check before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30050" y="6467475"/>
            <a:ext cx="7924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 rot="21570000">
            <a:off x="1809750" y="4810274"/>
            <a:ext cx="8572500" cy="149542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What changed in the design, and why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Small samples could not separate “small effect” from “no effect” in a given layer. The full cohort trades candidate-based scores for full-vocabulary ranks and pays for it with GPU time.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Note: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target/control include R1 papers; with R0 only (A vs B, as in the pilot) the output gap is +0.199 vs +0.207 and every layer looks the same.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63225" y="209550"/>
            <a:ext cx="13811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2304A"/>
                </a:solidFill>
                <a:latin typeface="Caveat"/>
              </a:rPr>
              <a:t>Same papers, two ways of grouping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2304A">
                    <a:alpha val="75000"/>
                  </a:srgbClr>
                </a:solidFill>
                <a:latin typeface="Patrick Hand"/>
              </a:rPr>
              <a:t>Stages 1–9 compare A vs B; Stages 10–11 compare target vs control. Counts from the 6,841-paper cohort.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6750" y="1542008"/>
          <a:ext cx="10848975" cy="16859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752975"/>
                <a:gridCol w="2962275"/>
                <a:gridCol w="313372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recognised (target)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not recognised (control)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</a:tr>
              <a:tr h="4476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R0 · no true author written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D9772B"/>
                          </a:solidFill>
                          <a:latin typeface="Patrick Hand"/>
                        </a:rPr>
                        <a:t>A</a:t>
                      </a: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 = 4,110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3C78B4"/>
                          </a:solidFill>
                          <a:latin typeface="Patrick Hand"/>
                        </a:rPr>
                        <a:t>B</a:t>
                      </a: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 = 2,186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4476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R1 · some authors written (HR2 &gt; 0.5)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C = 511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2304A"/>
                          </a:solidFill>
                          <a:latin typeface="Patrick Hand"/>
                        </a:rPr>
                        <a:t>D = 34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4476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22304A"/>
                          </a:solidFill>
                          <a:latin typeface="Patrick Hand"/>
                        </a:rPr>
                        <a:t>Total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D9772B"/>
                          </a:solidFill>
                          <a:latin typeface="Patrick Hand"/>
                        </a:rPr>
                        <a:t>target = A + C = 4,621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3C78B4"/>
                          </a:solidFill>
                          <a:latin typeface="Patrick Hand"/>
                        </a:rPr>
                        <a:t>control = B + D = 2,220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6750" y="3523655"/>
            <a:ext cx="5314950" cy="1181100"/>
          </a:xfrm>
          <a:prstGeom prst="roundRect">
            <a:avLst>
              <a:gd name="adj" fmla="val 11290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76300" y="3674566"/>
            <a:ext cx="5091684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Stages 1–9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33230"/>
            <a:ext cx="509168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A vs B: both R0, so the contrast is purely “knows but cannot say”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3523655"/>
            <a:ext cx="5314950" cy="1181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850" y="3674566"/>
            <a:ext cx="5091684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385"/>
                </a:solidFill>
                <a:latin typeface="Patrick Hand"/>
              </a:rPr>
              <a:t>Stages 10–11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933230"/>
            <a:ext cx="509168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22304A"/>
                </a:solidFill>
                <a:latin typeface="Patrick Hand"/>
              </a:rPr>
              <a:t>(A + C) vs (B + D): adds 511 partial-recall papers, almost all on the target side</a:t>
            </a:r>
          </a:p>
        </p:txBody>
      </p:sp>
      <p:sp>
        <p:nvSpPr>
          <p:cNvPr id="13" name="Rectangle 12"/>
          <p:cNvSpPr/>
          <p:nvPr/>
        </p:nvSpPr>
        <p:spPr>
          <a:xfrm rot="72000">
            <a:off x="2000250" y="4952851"/>
            <a:ext cx="81915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Check done: with R0 only (A vs B) the output gap is +0.199, versus +0.207 for target vs control, and every layer looks the same. The two phases compare like with like.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49100" y="6467475"/>
            <a:ext cx="5943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191875" y="209550"/>
            <a:ext cx="7524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Cohort and behavioural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From the 15 Oct label package (9,108 papers) to a frozen 6,841-paper analysis cohort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6750" y="1544910"/>
          <a:ext cx="4076700" cy="18383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95300"/>
                <a:gridCol w="2514600"/>
                <a:gridCol w="485775"/>
                <a:gridCol w="58102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Group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Recognition / open recall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Full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Pilot50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pass / R0 (no true author written)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4,110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20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7DC4F5"/>
                          </a:solidFill>
                          <a:latin typeface="Patrick Hand"/>
                        </a:rPr>
                        <a:t>B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fail / R0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2,186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20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C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pass / R1 (some authors matched)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511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7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fail / R1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34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3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8852" y="3535859"/>
            <a:ext cx="742854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Pass = 4/4 option orders correct </a:t>
            </a:r>
            <a:r>
              <a:rPr sz="1725" b="0" i="1">
                <a:solidFill>
                  <a:srgbClr val="EEF1F5"/>
                </a:solidFill>
                <a:latin typeface="Patrick Hand"/>
              </a:rPr>
              <a:t>and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mean true-option probability ≥ 0.5; fail = 0–1/4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52" y="3923109"/>
            <a:ext cx="742854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Pilot50: seed 35150, keeps the 20 Stage 4 papers + 30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852" y="4310360"/>
            <a:ext cx="742854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20 A/B pairs matched on exact field and citation bin, then |Δyear| + 2·|Δauthors|</a:t>
            </a:r>
          </a:p>
        </p:txBody>
      </p:sp>
      <p:sp>
        <p:nvSpPr>
          <p:cNvPr id="10" name="Rectangle 9"/>
          <p:cNvSpPr/>
          <p:nvPr/>
        </p:nvSpPr>
        <p:spPr>
          <a:xfrm rot="72000">
            <a:off x="8096250" y="1732211"/>
            <a:ext cx="3429000" cy="324802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Why A vs B?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Both groups write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no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correct author. They differ only in whether the model recognises the true list. That isolates “knows but cannot say”.</a:t>
            </a:r>
          </a:p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Caveat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In the 0–2-citation bin the strict pass rate is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25.5%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, above the planned ≤10% floor: “pass” is not proof of stored knowledge.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9575" y="6467475"/>
            <a:ext cx="6934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182350" y="209550"/>
            <a:ext cx="7620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One fixed model, prompt and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Everything later is measured under these settings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6750" y="1543050"/>
          <a:ext cx="5267325" cy="222885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762000"/>
                <a:gridCol w="4505325"/>
              </a:tblGrid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Model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Qwen/Qwen3-32B, BF16, revision 9216db57, 64 blocks, d = 5,120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Layers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L16, 24, 32, 40, 48, 56, 62 → target L63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Readouts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Public J-Lens · Vanilla (logit lens) · real final logits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Position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last input position; context limit 512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Names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encode(prompt) + encode(" " + author)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Hardware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29 blocks on GPU, 35 offloaded to CPU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9825" y="1543050"/>
            <a:ext cx="5305425" cy="8763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EEF1F5"/>
                </a:solidFill>
                <a:latin typeface="Patrick Hand"/>
              </a:rPr>
              <a:t>Who are the authors of the paper titled "{title}" ({year})?</a:t>
            </a:r>
          </a:p>
          <a:p>
            <a:pPr algn="l">
              <a:lnSpc>
                <a:spcPts val="1979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EEF1F5"/>
                </a:solidFill>
                <a:latin typeface="Patrick Hand"/>
              </a:rPr>
              <a:t>Authors: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825" y="2589163"/>
            <a:ext cx="551764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6A65A"/>
                </a:solidFill>
                <a:latin typeface="Patrick Hand"/>
              </a:rPr>
              <a:t>Rank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r = 1 + #tokens with a strictly larger logit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9825" y="2957364"/>
            <a:ext cx="551764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6A65A"/>
                </a:solidFill>
                <a:latin typeface="Patrick Hand"/>
              </a:rPr>
              <a:t>JMRR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= mean over authors of mean over tokens of 1/r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9825" y="3325564"/>
            <a:ext cx="551764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F6A65A"/>
                </a:solidFill>
                <a:latin typeface="Patrick Hand"/>
              </a:rPr>
              <a:t>Integrated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= average of the 7 source layers (L63 excluded)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9825" y="3751511"/>
            <a:ext cx="5517642" cy="542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Guard: forced token IDs are checked, and a J-Lens/Vanilla final-logit gap &gt; 0.1 rejects the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39575" y="6467475"/>
            <a:ext cx="6934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A</a:t>
            </a:r>
          </a:p>
        </p:txBody>
      </p:sp>
      <p:grpSp>
        <p:nvGrpSpPr>
          <p:cNvPr id="4" name="illustration"/>
          <p:cNvGrpSpPr/>
          <p:nvPr/>
        </p:nvGrpSpPr>
        <p:grpSpPr>
          <a:xfrm>
            <a:off x="9705186" y="652607"/>
            <a:ext cx="1601557" cy="1524627"/>
            <a:chOff x="9705186" y="652607"/>
            <a:chExt cx="1601557" cy="1524627"/>
          </a:xfrm>
        </p:grpSpPr>
        <p:sp>
          <p:nvSpPr>
            <p:cNvPr id="5" name="Freeform 4"/>
            <p:cNvSpPr/>
            <p:nvPr/>
          </p:nvSpPr>
          <p:spPr>
            <a:xfrm>
              <a:off x="9705186" y="906656"/>
              <a:ext cx="1069119" cy="1255540"/>
            </a:xfrm>
            <a:custGeom>
              <a:avLst/>
              <a:gdLst/>
              <a:ahLst/>
              <a:cxnLst/>
              <a:rect l="l" t="t" r="r" b="b"/>
              <a:pathLst>
                <a:path w="1069119" h="1255540">
                  <a:moveTo>
                    <a:pt x="0" y="165654"/>
                  </a:moveTo>
                  <a:lnTo>
                    <a:pt x="24349" y="160921"/>
                  </a:lnTo>
                  <a:lnTo>
                    <a:pt x="48698" y="156188"/>
                  </a:lnTo>
                  <a:lnTo>
                    <a:pt x="73046" y="151455"/>
                  </a:lnTo>
                  <a:lnTo>
                    <a:pt x="97395" y="146722"/>
                  </a:lnTo>
                  <a:lnTo>
                    <a:pt x="121744" y="141989"/>
                  </a:lnTo>
                  <a:lnTo>
                    <a:pt x="146093" y="137256"/>
                  </a:lnTo>
                  <a:lnTo>
                    <a:pt x="170442" y="132523"/>
                  </a:lnTo>
                  <a:lnTo>
                    <a:pt x="194791" y="127790"/>
                  </a:lnTo>
                  <a:lnTo>
                    <a:pt x="219140" y="123057"/>
                  </a:lnTo>
                  <a:lnTo>
                    <a:pt x="243489" y="118324"/>
                  </a:lnTo>
                  <a:lnTo>
                    <a:pt x="267838" y="113591"/>
                  </a:lnTo>
                  <a:lnTo>
                    <a:pt x="292187" y="108858"/>
                  </a:lnTo>
                  <a:lnTo>
                    <a:pt x="316536" y="104125"/>
                  </a:lnTo>
                  <a:lnTo>
                    <a:pt x="340885" y="99392"/>
                  </a:lnTo>
                  <a:lnTo>
                    <a:pt x="365234" y="94659"/>
                  </a:lnTo>
                  <a:lnTo>
                    <a:pt x="389583" y="89926"/>
                  </a:lnTo>
                  <a:lnTo>
                    <a:pt x="413932" y="85193"/>
                  </a:lnTo>
                  <a:lnTo>
                    <a:pt x="438281" y="80460"/>
                  </a:lnTo>
                  <a:lnTo>
                    <a:pt x="462630" y="75728"/>
                  </a:lnTo>
                  <a:lnTo>
                    <a:pt x="486979" y="70995"/>
                  </a:lnTo>
                  <a:lnTo>
                    <a:pt x="511328" y="66262"/>
                  </a:lnTo>
                  <a:lnTo>
                    <a:pt x="535677" y="61529"/>
                  </a:lnTo>
                  <a:lnTo>
                    <a:pt x="560026" y="56796"/>
                  </a:lnTo>
                  <a:lnTo>
                    <a:pt x="584375" y="52063"/>
                  </a:lnTo>
                  <a:lnTo>
                    <a:pt x="608724" y="47330"/>
                  </a:lnTo>
                  <a:lnTo>
                    <a:pt x="633072" y="42597"/>
                  </a:lnTo>
                  <a:lnTo>
                    <a:pt x="657421" y="37864"/>
                  </a:lnTo>
                  <a:lnTo>
                    <a:pt x="681770" y="33131"/>
                  </a:lnTo>
                  <a:lnTo>
                    <a:pt x="706119" y="28398"/>
                  </a:lnTo>
                  <a:lnTo>
                    <a:pt x="730468" y="23665"/>
                  </a:lnTo>
                  <a:lnTo>
                    <a:pt x="754817" y="18932"/>
                  </a:lnTo>
                  <a:lnTo>
                    <a:pt x="779166" y="14199"/>
                  </a:lnTo>
                  <a:lnTo>
                    <a:pt x="803515" y="9466"/>
                  </a:lnTo>
                  <a:lnTo>
                    <a:pt x="827864" y="4733"/>
                  </a:lnTo>
                  <a:lnTo>
                    <a:pt x="852213" y="0"/>
                  </a:lnTo>
                  <a:lnTo>
                    <a:pt x="860869" y="18533"/>
                  </a:lnTo>
                  <a:lnTo>
                    <a:pt x="865602" y="42882"/>
                  </a:lnTo>
                  <a:lnTo>
                    <a:pt x="870335" y="67231"/>
                  </a:lnTo>
                  <a:lnTo>
                    <a:pt x="875068" y="91580"/>
                  </a:lnTo>
                  <a:lnTo>
                    <a:pt x="879801" y="115929"/>
                  </a:lnTo>
                  <a:lnTo>
                    <a:pt x="884534" y="140278"/>
                  </a:lnTo>
                  <a:lnTo>
                    <a:pt x="889267" y="164627"/>
                  </a:lnTo>
                  <a:lnTo>
                    <a:pt x="894000" y="188975"/>
                  </a:lnTo>
                  <a:lnTo>
                    <a:pt x="898733" y="213324"/>
                  </a:lnTo>
                  <a:lnTo>
                    <a:pt x="903466" y="237673"/>
                  </a:lnTo>
                  <a:lnTo>
                    <a:pt x="908199" y="262022"/>
                  </a:lnTo>
                  <a:lnTo>
                    <a:pt x="912932" y="286371"/>
                  </a:lnTo>
                  <a:lnTo>
                    <a:pt x="917665" y="310720"/>
                  </a:lnTo>
                  <a:lnTo>
                    <a:pt x="922398" y="335069"/>
                  </a:lnTo>
                  <a:lnTo>
                    <a:pt x="927131" y="359418"/>
                  </a:lnTo>
                  <a:lnTo>
                    <a:pt x="931864" y="383767"/>
                  </a:lnTo>
                  <a:lnTo>
                    <a:pt x="936597" y="408116"/>
                  </a:lnTo>
                  <a:lnTo>
                    <a:pt x="941330" y="432465"/>
                  </a:lnTo>
                  <a:lnTo>
                    <a:pt x="946062" y="456814"/>
                  </a:lnTo>
                  <a:lnTo>
                    <a:pt x="950795" y="481163"/>
                  </a:lnTo>
                  <a:lnTo>
                    <a:pt x="955528" y="505512"/>
                  </a:lnTo>
                  <a:lnTo>
                    <a:pt x="960261" y="529861"/>
                  </a:lnTo>
                  <a:lnTo>
                    <a:pt x="964994" y="554210"/>
                  </a:lnTo>
                  <a:lnTo>
                    <a:pt x="969727" y="578559"/>
                  </a:lnTo>
                  <a:lnTo>
                    <a:pt x="974460" y="602908"/>
                  </a:lnTo>
                  <a:lnTo>
                    <a:pt x="979193" y="627257"/>
                  </a:lnTo>
                  <a:lnTo>
                    <a:pt x="983926" y="651606"/>
                  </a:lnTo>
                  <a:lnTo>
                    <a:pt x="988659" y="675955"/>
                  </a:lnTo>
                  <a:lnTo>
                    <a:pt x="993392" y="700304"/>
                  </a:lnTo>
                  <a:lnTo>
                    <a:pt x="998125" y="724652"/>
                  </a:lnTo>
                  <a:lnTo>
                    <a:pt x="1002858" y="749001"/>
                  </a:lnTo>
                  <a:lnTo>
                    <a:pt x="1007591" y="773350"/>
                  </a:lnTo>
                  <a:lnTo>
                    <a:pt x="1012324" y="797699"/>
                  </a:lnTo>
                  <a:lnTo>
                    <a:pt x="1017057" y="822048"/>
                  </a:lnTo>
                  <a:lnTo>
                    <a:pt x="1021790" y="846397"/>
                  </a:lnTo>
                  <a:lnTo>
                    <a:pt x="1026523" y="870746"/>
                  </a:lnTo>
                  <a:lnTo>
                    <a:pt x="1031256" y="895095"/>
                  </a:lnTo>
                  <a:lnTo>
                    <a:pt x="1035989" y="919444"/>
                  </a:lnTo>
                  <a:lnTo>
                    <a:pt x="1040722" y="943793"/>
                  </a:lnTo>
                  <a:lnTo>
                    <a:pt x="1045455" y="968142"/>
                  </a:lnTo>
                  <a:lnTo>
                    <a:pt x="1050188" y="992491"/>
                  </a:lnTo>
                  <a:lnTo>
                    <a:pt x="1054920" y="1016840"/>
                  </a:lnTo>
                  <a:lnTo>
                    <a:pt x="1059653" y="1041189"/>
                  </a:lnTo>
                  <a:lnTo>
                    <a:pt x="1064386" y="1065538"/>
                  </a:lnTo>
                  <a:lnTo>
                    <a:pt x="1069119" y="1089887"/>
                  </a:lnTo>
                  <a:lnTo>
                    <a:pt x="1044770" y="1094620"/>
                  </a:lnTo>
                  <a:lnTo>
                    <a:pt x="1020421" y="1099353"/>
                  </a:lnTo>
                  <a:lnTo>
                    <a:pt x="996073" y="1104086"/>
                  </a:lnTo>
                  <a:lnTo>
                    <a:pt x="971724" y="1108819"/>
                  </a:lnTo>
                  <a:lnTo>
                    <a:pt x="947375" y="1113552"/>
                  </a:lnTo>
                  <a:lnTo>
                    <a:pt x="923026" y="1118285"/>
                  </a:lnTo>
                  <a:lnTo>
                    <a:pt x="898677" y="1123018"/>
                  </a:lnTo>
                  <a:lnTo>
                    <a:pt x="874328" y="1127750"/>
                  </a:lnTo>
                  <a:lnTo>
                    <a:pt x="849979" y="1132483"/>
                  </a:lnTo>
                  <a:lnTo>
                    <a:pt x="825630" y="1137216"/>
                  </a:lnTo>
                  <a:lnTo>
                    <a:pt x="801281" y="1141949"/>
                  </a:lnTo>
                  <a:lnTo>
                    <a:pt x="776932" y="1146682"/>
                  </a:lnTo>
                  <a:lnTo>
                    <a:pt x="752583" y="1151415"/>
                  </a:lnTo>
                  <a:lnTo>
                    <a:pt x="728234" y="1156148"/>
                  </a:lnTo>
                  <a:lnTo>
                    <a:pt x="703885" y="1160881"/>
                  </a:lnTo>
                  <a:lnTo>
                    <a:pt x="679536" y="1165614"/>
                  </a:lnTo>
                  <a:lnTo>
                    <a:pt x="655187" y="1170347"/>
                  </a:lnTo>
                  <a:lnTo>
                    <a:pt x="630838" y="1175080"/>
                  </a:lnTo>
                  <a:lnTo>
                    <a:pt x="606489" y="1179813"/>
                  </a:lnTo>
                  <a:lnTo>
                    <a:pt x="582140" y="1184546"/>
                  </a:lnTo>
                  <a:lnTo>
                    <a:pt x="557791" y="1189279"/>
                  </a:lnTo>
                  <a:lnTo>
                    <a:pt x="533442" y="1194012"/>
                  </a:lnTo>
                  <a:lnTo>
                    <a:pt x="509093" y="1198745"/>
                  </a:lnTo>
                  <a:lnTo>
                    <a:pt x="484744" y="1203478"/>
                  </a:lnTo>
                  <a:lnTo>
                    <a:pt x="460395" y="1208211"/>
                  </a:lnTo>
                  <a:lnTo>
                    <a:pt x="436047" y="1212944"/>
                  </a:lnTo>
                  <a:lnTo>
                    <a:pt x="411698" y="1217677"/>
                  </a:lnTo>
                  <a:lnTo>
                    <a:pt x="387349" y="1222410"/>
                  </a:lnTo>
                  <a:lnTo>
                    <a:pt x="363000" y="1227143"/>
                  </a:lnTo>
                  <a:lnTo>
                    <a:pt x="338651" y="1231876"/>
                  </a:lnTo>
                  <a:lnTo>
                    <a:pt x="314302" y="1236609"/>
                  </a:lnTo>
                  <a:lnTo>
                    <a:pt x="289953" y="1241341"/>
                  </a:lnTo>
                  <a:lnTo>
                    <a:pt x="265604" y="1246074"/>
                  </a:lnTo>
                  <a:lnTo>
                    <a:pt x="241255" y="1250807"/>
                  </a:lnTo>
                  <a:lnTo>
                    <a:pt x="216906" y="1255540"/>
                  </a:lnTo>
                  <a:lnTo>
                    <a:pt x="208250" y="1237008"/>
                  </a:lnTo>
                  <a:lnTo>
                    <a:pt x="203517" y="1212659"/>
                  </a:lnTo>
                  <a:lnTo>
                    <a:pt x="198784" y="1188310"/>
                  </a:lnTo>
                  <a:lnTo>
                    <a:pt x="194051" y="1163961"/>
                  </a:lnTo>
                  <a:lnTo>
                    <a:pt x="189318" y="1139612"/>
                  </a:lnTo>
                  <a:lnTo>
                    <a:pt x="184585" y="1115263"/>
                  </a:lnTo>
                  <a:lnTo>
                    <a:pt x="179852" y="1090914"/>
                  </a:lnTo>
                  <a:lnTo>
                    <a:pt x="175119" y="1066565"/>
                  </a:lnTo>
                  <a:lnTo>
                    <a:pt x="170386" y="1042216"/>
                  </a:lnTo>
                  <a:lnTo>
                    <a:pt x="165653" y="1017867"/>
                  </a:lnTo>
                  <a:lnTo>
                    <a:pt x="160920" y="993518"/>
                  </a:lnTo>
                  <a:lnTo>
                    <a:pt x="156187" y="969169"/>
                  </a:lnTo>
                  <a:lnTo>
                    <a:pt x="151454" y="944820"/>
                  </a:lnTo>
                  <a:lnTo>
                    <a:pt x="146721" y="920471"/>
                  </a:lnTo>
                  <a:lnTo>
                    <a:pt x="141988" y="896122"/>
                  </a:lnTo>
                  <a:lnTo>
                    <a:pt x="137255" y="871773"/>
                  </a:lnTo>
                  <a:lnTo>
                    <a:pt x="132522" y="847424"/>
                  </a:lnTo>
                  <a:lnTo>
                    <a:pt x="127790" y="823076"/>
                  </a:lnTo>
                  <a:lnTo>
                    <a:pt x="123057" y="798727"/>
                  </a:lnTo>
                  <a:lnTo>
                    <a:pt x="118324" y="774378"/>
                  </a:lnTo>
                  <a:lnTo>
                    <a:pt x="113591" y="750029"/>
                  </a:lnTo>
                  <a:lnTo>
                    <a:pt x="108858" y="725680"/>
                  </a:lnTo>
                  <a:lnTo>
                    <a:pt x="104125" y="701331"/>
                  </a:lnTo>
                  <a:lnTo>
                    <a:pt x="99392" y="676982"/>
                  </a:lnTo>
                  <a:lnTo>
                    <a:pt x="94659" y="652633"/>
                  </a:lnTo>
                  <a:lnTo>
                    <a:pt x="89926" y="628284"/>
                  </a:lnTo>
                  <a:lnTo>
                    <a:pt x="85193" y="603935"/>
                  </a:lnTo>
                  <a:lnTo>
                    <a:pt x="80460" y="579586"/>
                  </a:lnTo>
                  <a:lnTo>
                    <a:pt x="75727" y="555237"/>
                  </a:lnTo>
                  <a:lnTo>
                    <a:pt x="70994" y="530888"/>
                  </a:lnTo>
                  <a:lnTo>
                    <a:pt x="66261" y="506539"/>
                  </a:lnTo>
                  <a:lnTo>
                    <a:pt x="61528" y="482190"/>
                  </a:lnTo>
                  <a:lnTo>
                    <a:pt x="56795" y="457841"/>
                  </a:lnTo>
                  <a:lnTo>
                    <a:pt x="52062" y="433492"/>
                  </a:lnTo>
                  <a:lnTo>
                    <a:pt x="47329" y="409143"/>
                  </a:lnTo>
                  <a:lnTo>
                    <a:pt x="42596" y="384794"/>
                  </a:lnTo>
                  <a:lnTo>
                    <a:pt x="37863" y="360445"/>
                  </a:lnTo>
                  <a:lnTo>
                    <a:pt x="33130" y="336096"/>
                  </a:lnTo>
                  <a:lnTo>
                    <a:pt x="28397" y="311747"/>
                  </a:lnTo>
                  <a:lnTo>
                    <a:pt x="23664" y="287398"/>
                  </a:lnTo>
                  <a:lnTo>
                    <a:pt x="18931" y="263050"/>
                  </a:lnTo>
                  <a:lnTo>
                    <a:pt x="14198" y="238701"/>
                  </a:lnTo>
                  <a:lnTo>
                    <a:pt x="9466" y="214352"/>
                  </a:lnTo>
                  <a:lnTo>
                    <a:pt x="4733" y="190003"/>
                  </a:lnTo>
                  <a:lnTo>
                    <a:pt x="0" y="165654"/>
                  </a:lnTo>
                  <a:close/>
                </a:path>
              </a:pathLst>
            </a:custGeom>
            <a:solidFill>
              <a:srgbClr val="FBFAF5"/>
            </a:solidFill>
            <a:ln w="15875">
              <a:solidFill>
                <a:srgbClr val="6A738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 flipV="1">
              <a:off x="9869230" y="1138584"/>
              <a:ext cx="576584" cy="112076"/>
            </a:xfrm>
            <a:prstGeom prst="line">
              <a:avLst/>
            </a:prstGeom>
            <a:ln w="23812">
              <a:solidFill>
                <a:srgbClr val="6A738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 rot="20940000">
              <a:off x="10013715" y="1327306"/>
              <a:ext cx="467206" cy="492156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625" b="0" i="0">
                  <a:solidFill>
                    <a:srgbClr val="C84A3E"/>
                  </a:solidFill>
                  <a:latin typeface="Patrick Hand"/>
                </a:rPr>
                <a:t>✗</a:t>
              </a:r>
            </a:p>
          </p:txBody>
        </p:sp>
        <p:sp>
          <p:nvSpPr>
            <p:cNvPr id="8" name="Freeform 7"/>
            <p:cNvSpPr/>
            <p:nvPr/>
          </p:nvSpPr>
          <p:spPr>
            <a:xfrm>
              <a:off x="9997837" y="652607"/>
              <a:ext cx="972719" cy="1207067"/>
            </a:xfrm>
            <a:custGeom>
              <a:avLst/>
              <a:gdLst/>
              <a:ahLst/>
              <a:cxnLst/>
              <a:rect l="l" t="t" r="r" b="b"/>
              <a:pathLst>
                <a:path w="972719" h="1207067">
                  <a:moveTo>
                    <a:pt x="20571" y="0"/>
                  </a:moveTo>
                  <a:lnTo>
                    <a:pt x="47356" y="468"/>
                  </a:lnTo>
                  <a:lnTo>
                    <a:pt x="74141" y="935"/>
                  </a:lnTo>
                  <a:lnTo>
                    <a:pt x="100926" y="1403"/>
                  </a:lnTo>
                  <a:lnTo>
                    <a:pt x="127711" y="1870"/>
                  </a:lnTo>
                  <a:lnTo>
                    <a:pt x="154496" y="2338"/>
                  </a:lnTo>
                  <a:lnTo>
                    <a:pt x="181281" y="2805"/>
                  </a:lnTo>
                  <a:lnTo>
                    <a:pt x="208066" y="3273"/>
                  </a:lnTo>
                  <a:lnTo>
                    <a:pt x="234851" y="3741"/>
                  </a:lnTo>
                  <a:lnTo>
                    <a:pt x="261636" y="4208"/>
                  </a:lnTo>
                  <a:lnTo>
                    <a:pt x="288421" y="4676"/>
                  </a:lnTo>
                  <a:lnTo>
                    <a:pt x="315206" y="5143"/>
                  </a:lnTo>
                  <a:lnTo>
                    <a:pt x="341991" y="5611"/>
                  </a:lnTo>
                  <a:lnTo>
                    <a:pt x="368776" y="6078"/>
                  </a:lnTo>
                  <a:lnTo>
                    <a:pt x="395561" y="6546"/>
                  </a:lnTo>
                  <a:lnTo>
                    <a:pt x="422346" y="7013"/>
                  </a:lnTo>
                  <a:lnTo>
                    <a:pt x="449131" y="7481"/>
                  </a:lnTo>
                  <a:lnTo>
                    <a:pt x="475916" y="7948"/>
                  </a:lnTo>
                  <a:lnTo>
                    <a:pt x="502701" y="8416"/>
                  </a:lnTo>
                  <a:lnTo>
                    <a:pt x="529486" y="8883"/>
                  </a:lnTo>
                  <a:lnTo>
                    <a:pt x="556271" y="9351"/>
                  </a:lnTo>
                  <a:lnTo>
                    <a:pt x="583056" y="9818"/>
                  </a:lnTo>
                  <a:lnTo>
                    <a:pt x="609841" y="10286"/>
                  </a:lnTo>
                  <a:lnTo>
                    <a:pt x="636626" y="10754"/>
                  </a:lnTo>
                  <a:lnTo>
                    <a:pt x="663411" y="11221"/>
                  </a:lnTo>
                  <a:lnTo>
                    <a:pt x="690196" y="11689"/>
                  </a:lnTo>
                  <a:lnTo>
                    <a:pt x="716981" y="12156"/>
                  </a:lnTo>
                  <a:lnTo>
                    <a:pt x="743766" y="12624"/>
                  </a:lnTo>
                  <a:lnTo>
                    <a:pt x="770551" y="13091"/>
                  </a:lnTo>
                  <a:lnTo>
                    <a:pt x="797336" y="13559"/>
                  </a:lnTo>
                  <a:lnTo>
                    <a:pt x="824121" y="14026"/>
                  </a:lnTo>
                  <a:lnTo>
                    <a:pt x="850906" y="14494"/>
                  </a:lnTo>
                  <a:lnTo>
                    <a:pt x="877691" y="14961"/>
                  </a:lnTo>
                  <a:lnTo>
                    <a:pt x="904476" y="15429"/>
                  </a:lnTo>
                  <a:lnTo>
                    <a:pt x="931261" y="15896"/>
                  </a:lnTo>
                  <a:lnTo>
                    <a:pt x="958046" y="16364"/>
                  </a:lnTo>
                  <a:lnTo>
                    <a:pt x="972719" y="28528"/>
                  </a:lnTo>
                  <a:lnTo>
                    <a:pt x="972251" y="55313"/>
                  </a:lnTo>
                  <a:lnTo>
                    <a:pt x="971784" y="82098"/>
                  </a:lnTo>
                  <a:lnTo>
                    <a:pt x="971316" y="108883"/>
                  </a:lnTo>
                  <a:lnTo>
                    <a:pt x="970848" y="135668"/>
                  </a:lnTo>
                  <a:lnTo>
                    <a:pt x="970381" y="162453"/>
                  </a:lnTo>
                  <a:lnTo>
                    <a:pt x="969913" y="189238"/>
                  </a:lnTo>
                  <a:lnTo>
                    <a:pt x="969446" y="216023"/>
                  </a:lnTo>
                  <a:lnTo>
                    <a:pt x="968978" y="242808"/>
                  </a:lnTo>
                  <a:lnTo>
                    <a:pt x="968511" y="269593"/>
                  </a:lnTo>
                  <a:lnTo>
                    <a:pt x="968043" y="296378"/>
                  </a:lnTo>
                  <a:lnTo>
                    <a:pt x="967576" y="323163"/>
                  </a:lnTo>
                  <a:lnTo>
                    <a:pt x="967108" y="349948"/>
                  </a:lnTo>
                  <a:lnTo>
                    <a:pt x="966641" y="376733"/>
                  </a:lnTo>
                  <a:lnTo>
                    <a:pt x="966173" y="403518"/>
                  </a:lnTo>
                  <a:lnTo>
                    <a:pt x="965706" y="430303"/>
                  </a:lnTo>
                  <a:lnTo>
                    <a:pt x="965238" y="457088"/>
                  </a:lnTo>
                  <a:lnTo>
                    <a:pt x="964771" y="483873"/>
                  </a:lnTo>
                  <a:lnTo>
                    <a:pt x="964303" y="510658"/>
                  </a:lnTo>
                  <a:lnTo>
                    <a:pt x="963835" y="537443"/>
                  </a:lnTo>
                  <a:lnTo>
                    <a:pt x="963368" y="564228"/>
                  </a:lnTo>
                  <a:lnTo>
                    <a:pt x="962900" y="591013"/>
                  </a:lnTo>
                  <a:lnTo>
                    <a:pt x="962433" y="617798"/>
                  </a:lnTo>
                  <a:lnTo>
                    <a:pt x="961965" y="644583"/>
                  </a:lnTo>
                  <a:lnTo>
                    <a:pt x="961498" y="671368"/>
                  </a:lnTo>
                  <a:lnTo>
                    <a:pt x="961030" y="698153"/>
                  </a:lnTo>
                  <a:lnTo>
                    <a:pt x="960563" y="724938"/>
                  </a:lnTo>
                  <a:lnTo>
                    <a:pt x="960095" y="751723"/>
                  </a:lnTo>
                  <a:lnTo>
                    <a:pt x="959628" y="778508"/>
                  </a:lnTo>
                  <a:lnTo>
                    <a:pt x="959160" y="805293"/>
                  </a:lnTo>
                  <a:lnTo>
                    <a:pt x="958693" y="832078"/>
                  </a:lnTo>
                  <a:lnTo>
                    <a:pt x="958225" y="858863"/>
                  </a:lnTo>
                  <a:lnTo>
                    <a:pt x="957758" y="885648"/>
                  </a:lnTo>
                  <a:lnTo>
                    <a:pt x="957290" y="912433"/>
                  </a:lnTo>
                  <a:lnTo>
                    <a:pt x="956822" y="939218"/>
                  </a:lnTo>
                  <a:lnTo>
                    <a:pt x="956355" y="966002"/>
                  </a:lnTo>
                  <a:lnTo>
                    <a:pt x="955887" y="992787"/>
                  </a:lnTo>
                  <a:lnTo>
                    <a:pt x="955420" y="1019572"/>
                  </a:lnTo>
                  <a:lnTo>
                    <a:pt x="954952" y="1046357"/>
                  </a:lnTo>
                  <a:lnTo>
                    <a:pt x="954485" y="1073142"/>
                  </a:lnTo>
                  <a:lnTo>
                    <a:pt x="954017" y="1099927"/>
                  </a:lnTo>
                  <a:lnTo>
                    <a:pt x="953550" y="1126712"/>
                  </a:lnTo>
                  <a:lnTo>
                    <a:pt x="953082" y="1153497"/>
                  </a:lnTo>
                  <a:lnTo>
                    <a:pt x="952615" y="1180282"/>
                  </a:lnTo>
                  <a:lnTo>
                    <a:pt x="952147" y="1207067"/>
                  </a:lnTo>
                  <a:lnTo>
                    <a:pt x="925362" y="1206600"/>
                  </a:lnTo>
                  <a:lnTo>
                    <a:pt x="898577" y="1206132"/>
                  </a:lnTo>
                  <a:lnTo>
                    <a:pt x="871792" y="1205665"/>
                  </a:lnTo>
                  <a:lnTo>
                    <a:pt x="845007" y="1205197"/>
                  </a:lnTo>
                  <a:lnTo>
                    <a:pt x="818222" y="1204730"/>
                  </a:lnTo>
                  <a:lnTo>
                    <a:pt x="791437" y="1204262"/>
                  </a:lnTo>
                  <a:lnTo>
                    <a:pt x="764652" y="1203795"/>
                  </a:lnTo>
                  <a:lnTo>
                    <a:pt x="737867" y="1203327"/>
                  </a:lnTo>
                  <a:lnTo>
                    <a:pt x="711082" y="1202860"/>
                  </a:lnTo>
                  <a:lnTo>
                    <a:pt x="684297" y="1202392"/>
                  </a:lnTo>
                  <a:lnTo>
                    <a:pt x="657512" y="1201924"/>
                  </a:lnTo>
                  <a:lnTo>
                    <a:pt x="630727" y="1201457"/>
                  </a:lnTo>
                  <a:lnTo>
                    <a:pt x="603942" y="1200989"/>
                  </a:lnTo>
                  <a:lnTo>
                    <a:pt x="577157" y="1200522"/>
                  </a:lnTo>
                  <a:lnTo>
                    <a:pt x="550372" y="1200054"/>
                  </a:lnTo>
                  <a:lnTo>
                    <a:pt x="523587" y="1199587"/>
                  </a:lnTo>
                  <a:lnTo>
                    <a:pt x="496802" y="1199119"/>
                  </a:lnTo>
                  <a:lnTo>
                    <a:pt x="470017" y="1198652"/>
                  </a:lnTo>
                  <a:lnTo>
                    <a:pt x="443232" y="1198184"/>
                  </a:lnTo>
                  <a:lnTo>
                    <a:pt x="416447" y="1197717"/>
                  </a:lnTo>
                  <a:lnTo>
                    <a:pt x="389662" y="1197249"/>
                  </a:lnTo>
                  <a:lnTo>
                    <a:pt x="362877" y="1196782"/>
                  </a:lnTo>
                  <a:lnTo>
                    <a:pt x="336093" y="1196314"/>
                  </a:lnTo>
                  <a:lnTo>
                    <a:pt x="309308" y="1195847"/>
                  </a:lnTo>
                  <a:lnTo>
                    <a:pt x="282523" y="1195379"/>
                  </a:lnTo>
                  <a:lnTo>
                    <a:pt x="255738" y="1194911"/>
                  </a:lnTo>
                  <a:lnTo>
                    <a:pt x="228953" y="1194444"/>
                  </a:lnTo>
                  <a:lnTo>
                    <a:pt x="202168" y="1193976"/>
                  </a:lnTo>
                  <a:lnTo>
                    <a:pt x="175383" y="1193509"/>
                  </a:lnTo>
                  <a:lnTo>
                    <a:pt x="148598" y="1193041"/>
                  </a:lnTo>
                  <a:lnTo>
                    <a:pt x="121813" y="1192574"/>
                  </a:lnTo>
                  <a:lnTo>
                    <a:pt x="95028" y="1192106"/>
                  </a:lnTo>
                  <a:lnTo>
                    <a:pt x="68243" y="1191639"/>
                  </a:lnTo>
                  <a:lnTo>
                    <a:pt x="41458" y="1191171"/>
                  </a:lnTo>
                  <a:lnTo>
                    <a:pt x="14673" y="1190704"/>
                  </a:lnTo>
                  <a:lnTo>
                    <a:pt x="0" y="1178539"/>
                  </a:lnTo>
                  <a:lnTo>
                    <a:pt x="468" y="1151755"/>
                  </a:lnTo>
                  <a:lnTo>
                    <a:pt x="935" y="1124970"/>
                  </a:lnTo>
                  <a:lnTo>
                    <a:pt x="1403" y="1098185"/>
                  </a:lnTo>
                  <a:lnTo>
                    <a:pt x="1870" y="1071400"/>
                  </a:lnTo>
                  <a:lnTo>
                    <a:pt x="2338" y="1044615"/>
                  </a:lnTo>
                  <a:lnTo>
                    <a:pt x="2805" y="1017830"/>
                  </a:lnTo>
                  <a:lnTo>
                    <a:pt x="3273" y="991045"/>
                  </a:lnTo>
                  <a:lnTo>
                    <a:pt x="3740" y="964260"/>
                  </a:lnTo>
                  <a:lnTo>
                    <a:pt x="4208" y="937475"/>
                  </a:lnTo>
                  <a:lnTo>
                    <a:pt x="4675" y="910690"/>
                  </a:lnTo>
                  <a:lnTo>
                    <a:pt x="5143" y="883905"/>
                  </a:lnTo>
                  <a:lnTo>
                    <a:pt x="5610" y="857120"/>
                  </a:lnTo>
                  <a:lnTo>
                    <a:pt x="6078" y="830335"/>
                  </a:lnTo>
                  <a:lnTo>
                    <a:pt x="6546" y="803550"/>
                  </a:lnTo>
                  <a:lnTo>
                    <a:pt x="7013" y="776765"/>
                  </a:lnTo>
                  <a:lnTo>
                    <a:pt x="7481" y="749980"/>
                  </a:lnTo>
                  <a:lnTo>
                    <a:pt x="7948" y="723195"/>
                  </a:lnTo>
                  <a:lnTo>
                    <a:pt x="8416" y="696410"/>
                  </a:lnTo>
                  <a:lnTo>
                    <a:pt x="8883" y="669625"/>
                  </a:lnTo>
                  <a:lnTo>
                    <a:pt x="9351" y="642840"/>
                  </a:lnTo>
                  <a:lnTo>
                    <a:pt x="9818" y="616055"/>
                  </a:lnTo>
                  <a:lnTo>
                    <a:pt x="10286" y="589270"/>
                  </a:lnTo>
                  <a:lnTo>
                    <a:pt x="10753" y="562485"/>
                  </a:lnTo>
                  <a:lnTo>
                    <a:pt x="11221" y="535700"/>
                  </a:lnTo>
                  <a:lnTo>
                    <a:pt x="11688" y="508915"/>
                  </a:lnTo>
                  <a:lnTo>
                    <a:pt x="12156" y="482130"/>
                  </a:lnTo>
                  <a:lnTo>
                    <a:pt x="12623" y="455345"/>
                  </a:lnTo>
                  <a:lnTo>
                    <a:pt x="13091" y="428560"/>
                  </a:lnTo>
                  <a:lnTo>
                    <a:pt x="13558" y="401775"/>
                  </a:lnTo>
                  <a:lnTo>
                    <a:pt x="14026" y="374990"/>
                  </a:lnTo>
                  <a:lnTo>
                    <a:pt x="14494" y="348205"/>
                  </a:lnTo>
                  <a:lnTo>
                    <a:pt x="14961" y="321420"/>
                  </a:lnTo>
                  <a:lnTo>
                    <a:pt x="15429" y="294635"/>
                  </a:lnTo>
                  <a:lnTo>
                    <a:pt x="15896" y="267850"/>
                  </a:lnTo>
                  <a:lnTo>
                    <a:pt x="16364" y="241065"/>
                  </a:lnTo>
                  <a:lnTo>
                    <a:pt x="16831" y="214280"/>
                  </a:lnTo>
                  <a:lnTo>
                    <a:pt x="17299" y="187495"/>
                  </a:lnTo>
                  <a:lnTo>
                    <a:pt x="17766" y="160710"/>
                  </a:lnTo>
                  <a:lnTo>
                    <a:pt x="18234" y="133925"/>
                  </a:lnTo>
                  <a:lnTo>
                    <a:pt x="18701" y="107140"/>
                  </a:lnTo>
                  <a:lnTo>
                    <a:pt x="19169" y="80355"/>
                  </a:lnTo>
                  <a:lnTo>
                    <a:pt x="19636" y="53570"/>
                  </a:lnTo>
                  <a:lnTo>
                    <a:pt x="20104" y="26785"/>
                  </a:lnTo>
                  <a:lnTo>
                    <a:pt x="20571" y="0"/>
                  </a:lnTo>
                  <a:close/>
                </a:path>
              </a:pathLst>
            </a:custGeom>
            <a:solidFill>
              <a:srgbClr val="FFFFFF"/>
            </a:solidFill>
            <a:ln w="23812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0157383" y="877317"/>
              <a:ext cx="666648" cy="11636"/>
            </a:xfrm>
            <a:prstGeom prst="line">
              <a:avLst/>
            </a:prstGeom>
            <a:ln w="39687">
              <a:solidFill>
                <a:srgbClr val="D977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0154889" y="1020170"/>
              <a:ext cx="571413" cy="9974"/>
            </a:xfrm>
            <a:prstGeom prst="line">
              <a:avLst/>
            </a:prstGeom>
            <a:ln w="39687">
              <a:solidFill>
                <a:srgbClr val="D977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0151011" y="1242386"/>
              <a:ext cx="650775" cy="11360"/>
            </a:xfrm>
            <a:prstGeom prst="line">
              <a:avLst/>
            </a:prstGeom>
            <a:ln w="23812">
              <a:solidFill>
                <a:srgbClr val="E4EA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10149071" y="1353494"/>
              <a:ext cx="492050" cy="8589"/>
            </a:xfrm>
            <a:prstGeom prst="line">
              <a:avLst/>
            </a:prstGeom>
            <a:ln w="23812">
              <a:solidFill>
                <a:srgbClr val="E4EAF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0831797" y="1113057"/>
              <a:ext cx="277964" cy="786431"/>
            </a:xfrm>
            <a:custGeom>
              <a:avLst/>
              <a:gdLst/>
              <a:ahLst/>
              <a:cxnLst/>
              <a:rect l="l" t="t" r="r" b="b"/>
              <a:pathLst>
                <a:path w="277964" h="786431">
                  <a:moveTo>
                    <a:pt x="0" y="0"/>
                  </a:moveTo>
                  <a:lnTo>
                    <a:pt x="21521" y="9972"/>
                  </a:lnTo>
                  <a:lnTo>
                    <a:pt x="42557" y="20929"/>
                  </a:lnTo>
                  <a:lnTo>
                    <a:pt x="63043" y="32884"/>
                  </a:lnTo>
                  <a:lnTo>
                    <a:pt x="82909" y="45842"/>
                  </a:lnTo>
                  <a:lnTo>
                    <a:pt x="102089" y="59796"/>
                  </a:lnTo>
                  <a:lnTo>
                    <a:pt x="120511" y="74735"/>
                  </a:lnTo>
                  <a:lnTo>
                    <a:pt x="138112" y="90634"/>
                  </a:lnTo>
                  <a:lnTo>
                    <a:pt x="154827" y="107461"/>
                  </a:lnTo>
                  <a:lnTo>
                    <a:pt x="170601" y="125174"/>
                  </a:lnTo>
                  <a:lnTo>
                    <a:pt x="185381" y="143724"/>
                  </a:lnTo>
                  <a:lnTo>
                    <a:pt x="199125" y="163055"/>
                  </a:lnTo>
                  <a:lnTo>
                    <a:pt x="211799" y="183103"/>
                  </a:lnTo>
                  <a:lnTo>
                    <a:pt x="223374" y="203805"/>
                  </a:lnTo>
                  <a:lnTo>
                    <a:pt x="233835" y="225092"/>
                  </a:lnTo>
                  <a:lnTo>
                    <a:pt x="243169" y="246897"/>
                  </a:lnTo>
                  <a:lnTo>
                    <a:pt x="251375" y="269151"/>
                  </a:lnTo>
                  <a:lnTo>
                    <a:pt x="258455" y="291788"/>
                  </a:lnTo>
                  <a:lnTo>
                    <a:pt x="264417" y="314746"/>
                  </a:lnTo>
                  <a:lnTo>
                    <a:pt x="269273" y="337963"/>
                  </a:lnTo>
                  <a:lnTo>
                    <a:pt x="273037" y="361381"/>
                  </a:lnTo>
                  <a:lnTo>
                    <a:pt x="275728" y="384947"/>
                  </a:lnTo>
                  <a:lnTo>
                    <a:pt x="277363" y="408610"/>
                  </a:lnTo>
                  <a:lnTo>
                    <a:pt x="277964" y="432322"/>
                  </a:lnTo>
                  <a:lnTo>
                    <a:pt x="277546" y="456038"/>
                  </a:lnTo>
                  <a:lnTo>
                    <a:pt x="276133" y="479715"/>
                  </a:lnTo>
                  <a:lnTo>
                    <a:pt x="273741" y="503314"/>
                  </a:lnTo>
                  <a:lnTo>
                    <a:pt x="270388" y="526795"/>
                  </a:lnTo>
                  <a:lnTo>
                    <a:pt x="266091" y="550123"/>
                  </a:lnTo>
                  <a:lnTo>
                    <a:pt x="260867" y="573260"/>
                  </a:lnTo>
                  <a:lnTo>
                    <a:pt x="254730" y="596172"/>
                  </a:lnTo>
                  <a:lnTo>
                    <a:pt x="247693" y="618824"/>
                  </a:lnTo>
                  <a:lnTo>
                    <a:pt x="239769" y="641181"/>
                  </a:lnTo>
                  <a:lnTo>
                    <a:pt x="230971" y="663209"/>
                  </a:lnTo>
                  <a:lnTo>
                    <a:pt x="221310" y="684872"/>
                  </a:lnTo>
                  <a:lnTo>
                    <a:pt x="210797" y="706135"/>
                  </a:lnTo>
                  <a:lnTo>
                    <a:pt x="199442" y="726960"/>
                  </a:lnTo>
                  <a:lnTo>
                    <a:pt x="187257" y="747310"/>
                  </a:lnTo>
                  <a:lnTo>
                    <a:pt x="174253" y="767147"/>
                  </a:lnTo>
                  <a:lnTo>
                    <a:pt x="160441" y="786431"/>
                  </a:lnTo>
                </a:path>
              </a:pathLst>
            </a:custGeom>
            <a:noFill/>
            <a:ln w="23812">
              <a:solidFill>
                <a:srgbClr val="D9772B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530832" y="1851995"/>
              <a:ext cx="775911" cy="325239"/>
            </a:xfrm>
            <a:custGeom>
              <a:avLst/>
              <a:gdLst/>
              <a:ahLst/>
              <a:cxnLst/>
              <a:rect l="l" t="t" r="r" b="b"/>
              <a:pathLst>
                <a:path w="775911" h="325239">
                  <a:moveTo>
                    <a:pt x="0" y="39880"/>
                  </a:moveTo>
                  <a:lnTo>
                    <a:pt x="23780" y="38634"/>
                  </a:lnTo>
                  <a:lnTo>
                    <a:pt x="47560" y="37388"/>
                  </a:lnTo>
                  <a:lnTo>
                    <a:pt x="71339" y="36141"/>
                  </a:lnTo>
                  <a:lnTo>
                    <a:pt x="95119" y="34895"/>
                  </a:lnTo>
                  <a:lnTo>
                    <a:pt x="118899" y="33649"/>
                  </a:lnTo>
                  <a:lnTo>
                    <a:pt x="142679" y="32403"/>
                  </a:lnTo>
                  <a:lnTo>
                    <a:pt x="166459" y="31156"/>
                  </a:lnTo>
                  <a:lnTo>
                    <a:pt x="190239" y="29910"/>
                  </a:lnTo>
                  <a:lnTo>
                    <a:pt x="214019" y="28664"/>
                  </a:lnTo>
                  <a:lnTo>
                    <a:pt x="237799" y="27418"/>
                  </a:lnTo>
                  <a:lnTo>
                    <a:pt x="261578" y="26171"/>
                  </a:lnTo>
                  <a:lnTo>
                    <a:pt x="285358" y="24925"/>
                  </a:lnTo>
                  <a:lnTo>
                    <a:pt x="309138" y="23679"/>
                  </a:lnTo>
                  <a:lnTo>
                    <a:pt x="332918" y="22433"/>
                  </a:lnTo>
                  <a:lnTo>
                    <a:pt x="356698" y="21186"/>
                  </a:lnTo>
                  <a:lnTo>
                    <a:pt x="380478" y="19940"/>
                  </a:lnTo>
                  <a:lnTo>
                    <a:pt x="404258" y="18694"/>
                  </a:lnTo>
                  <a:lnTo>
                    <a:pt x="428037" y="17448"/>
                  </a:lnTo>
                  <a:lnTo>
                    <a:pt x="451817" y="16201"/>
                  </a:lnTo>
                  <a:lnTo>
                    <a:pt x="475597" y="14955"/>
                  </a:lnTo>
                  <a:lnTo>
                    <a:pt x="499377" y="13709"/>
                  </a:lnTo>
                  <a:lnTo>
                    <a:pt x="523157" y="12463"/>
                  </a:lnTo>
                  <a:lnTo>
                    <a:pt x="546937" y="11216"/>
                  </a:lnTo>
                  <a:lnTo>
                    <a:pt x="570717" y="9970"/>
                  </a:lnTo>
                  <a:lnTo>
                    <a:pt x="594496" y="8724"/>
                  </a:lnTo>
                  <a:lnTo>
                    <a:pt x="618276" y="7478"/>
                  </a:lnTo>
                  <a:lnTo>
                    <a:pt x="642056" y="6231"/>
                  </a:lnTo>
                  <a:lnTo>
                    <a:pt x="665836" y="4985"/>
                  </a:lnTo>
                  <a:lnTo>
                    <a:pt x="689616" y="3739"/>
                  </a:lnTo>
                  <a:lnTo>
                    <a:pt x="713396" y="2493"/>
                  </a:lnTo>
                  <a:lnTo>
                    <a:pt x="737176" y="1246"/>
                  </a:lnTo>
                  <a:lnTo>
                    <a:pt x="760956" y="0"/>
                  </a:lnTo>
                  <a:lnTo>
                    <a:pt x="762202" y="23780"/>
                  </a:lnTo>
                  <a:lnTo>
                    <a:pt x="763448" y="47560"/>
                  </a:lnTo>
                  <a:lnTo>
                    <a:pt x="764694" y="71340"/>
                  </a:lnTo>
                  <a:lnTo>
                    <a:pt x="765941" y="95120"/>
                  </a:lnTo>
                  <a:lnTo>
                    <a:pt x="767187" y="118900"/>
                  </a:lnTo>
                  <a:lnTo>
                    <a:pt x="768433" y="142679"/>
                  </a:lnTo>
                  <a:lnTo>
                    <a:pt x="769679" y="166459"/>
                  </a:lnTo>
                  <a:lnTo>
                    <a:pt x="770926" y="190239"/>
                  </a:lnTo>
                  <a:lnTo>
                    <a:pt x="772172" y="214019"/>
                  </a:lnTo>
                  <a:lnTo>
                    <a:pt x="773418" y="237799"/>
                  </a:lnTo>
                  <a:lnTo>
                    <a:pt x="774664" y="261579"/>
                  </a:lnTo>
                  <a:lnTo>
                    <a:pt x="775911" y="285359"/>
                  </a:lnTo>
                  <a:lnTo>
                    <a:pt x="752131" y="286605"/>
                  </a:lnTo>
                  <a:lnTo>
                    <a:pt x="728351" y="287851"/>
                  </a:lnTo>
                  <a:lnTo>
                    <a:pt x="704571" y="289097"/>
                  </a:lnTo>
                  <a:lnTo>
                    <a:pt x="680791" y="290344"/>
                  </a:lnTo>
                  <a:lnTo>
                    <a:pt x="657011" y="291590"/>
                  </a:lnTo>
                  <a:lnTo>
                    <a:pt x="633231" y="292836"/>
                  </a:lnTo>
                  <a:lnTo>
                    <a:pt x="609451" y="294082"/>
                  </a:lnTo>
                  <a:lnTo>
                    <a:pt x="585672" y="295329"/>
                  </a:lnTo>
                  <a:lnTo>
                    <a:pt x="561892" y="296575"/>
                  </a:lnTo>
                  <a:lnTo>
                    <a:pt x="538112" y="297821"/>
                  </a:lnTo>
                  <a:lnTo>
                    <a:pt x="514332" y="299067"/>
                  </a:lnTo>
                  <a:lnTo>
                    <a:pt x="490552" y="300314"/>
                  </a:lnTo>
                  <a:lnTo>
                    <a:pt x="466772" y="301560"/>
                  </a:lnTo>
                  <a:lnTo>
                    <a:pt x="442992" y="302806"/>
                  </a:lnTo>
                  <a:lnTo>
                    <a:pt x="419213" y="304052"/>
                  </a:lnTo>
                  <a:lnTo>
                    <a:pt x="395433" y="305299"/>
                  </a:lnTo>
                  <a:lnTo>
                    <a:pt x="371653" y="306545"/>
                  </a:lnTo>
                  <a:lnTo>
                    <a:pt x="347873" y="307791"/>
                  </a:lnTo>
                  <a:lnTo>
                    <a:pt x="324093" y="309037"/>
                  </a:lnTo>
                  <a:lnTo>
                    <a:pt x="300313" y="310284"/>
                  </a:lnTo>
                  <a:lnTo>
                    <a:pt x="276533" y="311530"/>
                  </a:lnTo>
                  <a:lnTo>
                    <a:pt x="252754" y="312776"/>
                  </a:lnTo>
                  <a:lnTo>
                    <a:pt x="228974" y="314022"/>
                  </a:lnTo>
                  <a:lnTo>
                    <a:pt x="205194" y="315269"/>
                  </a:lnTo>
                  <a:lnTo>
                    <a:pt x="181414" y="316515"/>
                  </a:lnTo>
                  <a:lnTo>
                    <a:pt x="157634" y="317761"/>
                  </a:lnTo>
                  <a:lnTo>
                    <a:pt x="133854" y="319007"/>
                  </a:lnTo>
                  <a:lnTo>
                    <a:pt x="110074" y="320254"/>
                  </a:lnTo>
                  <a:lnTo>
                    <a:pt x="86294" y="321500"/>
                  </a:lnTo>
                  <a:lnTo>
                    <a:pt x="62515" y="322746"/>
                  </a:lnTo>
                  <a:lnTo>
                    <a:pt x="38735" y="323992"/>
                  </a:lnTo>
                  <a:lnTo>
                    <a:pt x="14955" y="325239"/>
                  </a:lnTo>
                  <a:lnTo>
                    <a:pt x="13709" y="301459"/>
                  </a:lnTo>
                  <a:lnTo>
                    <a:pt x="12462" y="277679"/>
                  </a:lnTo>
                  <a:lnTo>
                    <a:pt x="11216" y="253899"/>
                  </a:lnTo>
                  <a:lnTo>
                    <a:pt x="9970" y="230119"/>
                  </a:lnTo>
                  <a:lnTo>
                    <a:pt x="8724" y="206339"/>
                  </a:lnTo>
                  <a:lnTo>
                    <a:pt x="7477" y="182559"/>
                  </a:lnTo>
                  <a:lnTo>
                    <a:pt x="6231" y="158780"/>
                  </a:lnTo>
                  <a:lnTo>
                    <a:pt x="4985" y="135000"/>
                  </a:lnTo>
                  <a:lnTo>
                    <a:pt x="3739" y="111220"/>
                  </a:lnTo>
                  <a:lnTo>
                    <a:pt x="2492" y="87440"/>
                  </a:lnTo>
                  <a:lnTo>
                    <a:pt x="1246" y="63660"/>
                  </a:lnTo>
                  <a:lnTo>
                    <a:pt x="0" y="39880"/>
                  </a:lnTo>
                  <a:close/>
                </a:path>
              </a:pathLst>
            </a:custGeom>
            <a:solidFill>
              <a:srgbClr val="D977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 rot="21420000">
              <a:off x="10566721" y="1895526"/>
              <a:ext cx="703635" cy="228664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FFFFFF"/>
                  </a:solidFill>
                  <a:latin typeface="Patrick Hand"/>
                </a:rPr>
                <a:t>its authors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66750" y="1009650"/>
            <a:ext cx="1129284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A7385"/>
                </a:solidFill>
                <a:latin typeface="Patrick Hand"/>
              </a:rPr>
              <a:t>Line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315343"/>
            <a:ext cx="8122920" cy="838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615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D9772B"/>
                </a:solidFill>
                <a:latin typeface="Caveat"/>
              </a:rPr>
              <a:t>Is it about </a:t>
            </a:r>
            <a:r>
              <a:rPr sz="6300" b="1" i="1">
                <a:solidFill>
                  <a:srgbClr val="D9772B"/>
                </a:solidFill>
                <a:latin typeface="Caveat"/>
              </a:rPr>
              <a:t>this</a:t>
            </a:r>
            <a:r>
              <a:rPr sz="6300" b="1" i="0">
                <a:solidFill>
                  <a:srgbClr val="D9772B"/>
                </a:solidFill>
                <a:latin typeface="Caveat"/>
              </a:rPr>
              <a:t> paper?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" y="2575024"/>
            <a:ext cx="5038725" cy="1257300"/>
          </a:xfrm>
          <a:prstGeom prst="roundRect">
            <a:avLst>
              <a:gd name="adj" fmla="val 10606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tIns="190500" rIns="247650" bIns="1905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14400" y="27640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small samples asked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22699"/>
            <a:ext cx="4725162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Does the true title beat a crossed or shuffled title? Does A gain more than B?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1225" y="3013174"/>
            <a:ext cx="29718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22304A">
                    <a:alpha val="80000"/>
                  </a:srgbClr>
                </a:solidFill>
                <a:latin typeface="Patrick Han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2725" y="2575024"/>
            <a:ext cx="4962525" cy="1181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772275" y="27259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385"/>
                </a:solidFill>
                <a:latin typeface="Patrick Hand"/>
              </a:rPr>
              <a:t>the full cohort answered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984599"/>
            <a:ext cx="4725162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22304A"/>
                </a:solidFill>
                <a:latin typeface="Patrick Hand"/>
              </a:rPr>
              <a:t>Title-specific signal for every token; target beats control only late; name prior split out; probe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96575" y="209550"/>
            <a:ext cx="12477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5 · Line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Crossed title–author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Is the gold name high because of the title, or because the name is easy?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545134"/>
            <a:ext cx="5276850" cy="1152525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lnSpc>
                <a:spcPts val="2236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/>
                </a:solidFill>
                <a:latin typeface="Patrick Hand"/>
              </a:rPr>
              <a:t>Paper P (author G) and source paper Q (author F, same field &amp; bin).</a:t>
            </a:r>
          </a:p>
          <a:p>
            <a:pPr algn="l">
              <a:lnSpc>
                <a:spcPts val="2236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/>
                </a:solidFill>
                <a:latin typeface="Patrick Hand"/>
              </a:rPr>
              <a:t>M = logit(G) − logit(F) · </a:t>
            </a:r>
            <a:r>
              <a:rPr sz="1575" b="0" i="0">
                <a:solidFill>
                  <a:srgbClr val="F6A65A"/>
                </a:solidFill>
                <a:latin typeface="Patrick Hand"/>
              </a:rPr>
              <a:t>T = M(P title) − M(Q title)</a:t>
            </a:r>
          </a:p>
          <a:p>
            <a:pPr algn="l">
              <a:lnSpc>
                <a:spcPts val="2236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/>
                </a:solidFill>
                <a:latin typeface="Patrick Hand"/>
              </a:rPr>
              <a:t>A fixed preference for G cancels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850505"/>
            <a:ext cx="544734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All 50 papers: L56 </a:t>
            </a:r>
            <a:r>
              <a:rPr sz="1725" b="0" i="0" u="sng">
                <a:solidFill>
                  <a:srgbClr val="F6A65A"/>
                </a:solidFill>
                <a:latin typeface="Patrick Hand"/>
              </a:rPr>
              <a:t>+1.17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[0.53, 1.84], L62 +1.08 [0.36, 1.82]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52" y="3237756"/>
            <a:ext cx="544734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Matched A−B, 7-layer integrated: +0.08 [−0.43, +0.65]</a:t>
            </a:r>
          </a:p>
        </p:txBody>
      </p:sp>
      <p:sp>
        <p:nvSpPr>
          <p:cNvPr id="9" name="Rectangle 8"/>
          <p:cNvSpPr/>
          <p:nvPr/>
        </p:nvSpPr>
        <p:spPr>
          <a:xfrm rot="42000">
            <a:off x="6191250" y="1540818"/>
            <a:ext cx="5334000" cy="203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0" name="chart image" descr="0da7c5b04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">
            <a:off x="6287722" y="1636075"/>
            <a:ext cx="5143500" cy="1647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rot="42000">
            <a:off x="6295279" y="3319697"/>
            <a:ext cx="531114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Left: all 50 papers · Right: 20 A/B pairs</a:t>
            </a:r>
          </a:p>
        </p:txBody>
      </p:sp>
      <p:sp>
        <p:nvSpPr>
          <p:cNvPr id="12" name="Rectangle 11"/>
          <p:cNvSpPr/>
          <p:nvPr/>
        </p:nvSpPr>
        <p:spPr>
          <a:xfrm rot="72000">
            <a:off x="857250" y="5401717"/>
            <a:ext cx="5334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The title changes which name wins in late layers. Whether A gains more than B: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not established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1950" y="6467475"/>
            <a:ext cx="11887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11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72750" y="209550"/>
            <a:ext cx="13716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7.3 · Line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Shuffled titles: the true title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Same 100 candidates, 20 metadata-matched wrong titles per paper, 1,000 contexts; only the title changes</a:t>
            </a:r>
          </a:p>
        </p:txBody>
      </p:sp>
      <p:sp>
        <p:nvSpPr>
          <p:cNvPr id="6" name="Rectangle 5"/>
          <p:cNvSpPr/>
          <p:nvPr/>
        </p:nvSpPr>
        <p:spPr>
          <a:xfrm rot="36000">
            <a:off x="666750" y="1541711"/>
            <a:ext cx="6096000" cy="208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cb8ae119e7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">
            <a:off x="763048" y="1636966"/>
            <a:ext cx="5905500" cy="1695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36000">
            <a:off x="771987" y="3369124"/>
            <a:ext cx="610362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All 50 papers: true vs mean of 20 alternative titles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2502" y="1544538"/>
            <a:ext cx="465486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Pooled L56: 0.616 vs 0.523 → </a:t>
            </a:r>
            <a:r>
              <a:rPr sz="1725" b="0" i="0" u="sng">
                <a:solidFill>
                  <a:srgbClr val="F6A65A"/>
                </a:solidFill>
                <a:latin typeface="Patrick Hand"/>
              </a:rPr>
              <a:t>+9.3 pp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[4.7, 13.9], 35/50 papers 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2502" y="2239714"/>
            <a:ext cx="465486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Leave-one-out: +8.6 to +10.0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2502" y="2626965"/>
            <a:ext cx="465486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Vanilla L56 +10.6 pp, final output +7.2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2502" y="3014216"/>
            <a:ext cx="465486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FF8A80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FF8A80"/>
                </a:solidFill>
                <a:latin typeface="Patrick Hand"/>
              </a:rPr>
              <a:t>Matched A−B integrated: +0.018 [−0.021, +0.063]</a:t>
            </a:r>
          </a:p>
        </p:txBody>
      </p:sp>
      <p:sp>
        <p:nvSpPr>
          <p:cNvPr id="13" name="Rectangle 12"/>
          <p:cNvSpPr/>
          <p:nvPr/>
        </p:nvSpPr>
        <p:spPr>
          <a:xfrm rot="72000">
            <a:off x="857250" y="5401717"/>
            <a:ext cx="6096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Two different questions: “does the title help?”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yes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; “does it help A more than B?”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not shown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12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277475" y="209550"/>
            <a:ext cx="16668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7.3 ·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Does the title effect survive the obvious objections?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5113" y="1132061"/>
            <a:ext cx="3457575" cy="1876425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497086" rIns="209550" bIns="152400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199/1,000 wrong titles come from a paper whose author is in the false pool. Excluding them: +0.026 → +0.028.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663" y="1286247"/>
            <a:ext cx="3160014" cy="323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A65A"/>
                </a:solidFill>
                <a:latin typeface="Patrick Hand"/>
              </a:rPr>
              <a:t>Source-author overlap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138" y="1133698"/>
            <a:ext cx="3457575" cy="1562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495449" rIns="209550" bIns="152400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Author-, unique-token- and non-collision weights: pooled +0.026 to +0.032; all six A−B CIs include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6688" y="1286247"/>
            <a:ext cx="3160014" cy="323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A65A"/>
                </a:solidFill>
                <a:latin typeface="Patrick Hand"/>
              </a:rPr>
              <a:t>Candidate weighting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9238" y="1133698"/>
            <a:ext cx="3457575" cy="1562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EF1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495449" rIns="209550" bIns="152400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0–2 citations (n = 6): L56 +0.22, 5/6 positive, but 0/6 beyond its own 20-title tail (≤ 0.05).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8788" y="1286247"/>
            <a:ext cx="3160014" cy="323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A65A"/>
                </a:solidFill>
                <a:latin typeface="Patrick Hand"/>
              </a:rPr>
              <a:t>Low citations</a:t>
            </a:r>
          </a:p>
        </p:txBody>
      </p:sp>
      <p:sp>
        <p:nvSpPr>
          <p:cNvPr id="11" name="Rectangle 10"/>
          <p:cNvSpPr/>
          <p:nvPr/>
        </p:nvSpPr>
        <p:spPr>
          <a:xfrm rot="21564000">
            <a:off x="666750" y="3237830"/>
            <a:ext cx="5715000" cy="209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2" name="chart image" descr="2931105f5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64000">
            <a:off x="760952" y="3333086"/>
            <a:ext cx="5524500" cy="1704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21564000">
            <a:off x="790199" y="5078266"/>
            <a:ext cx="570738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Title-adjusted A−B win rate by layer</a:t>
            </a:r>
          </a:p>
        </p:txBody>
      </p:sp>
      <p:sp>
        <p:nvSpPr>
          <p:cNvPr id="14" name="Rectangle 13"/>
          <p:cNvSpPr/>
          <p:nvPr/>
        </p:nvSpPr>
        <p:spPr>
          <a:xfrm rot="72000">
            <a:off x="6629400" y="3424163"/>
            <a:ext cx="4895850" cy="12192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Layer heterogeneity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L56 +0.11 but L32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−0.03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(CI below 0). Reporting only the positive layers would mislead.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13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382250" y="209550"/>
            <a:ext cx="15621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8D · Lines A,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On 200 new papers the title effect replicates</a:t>
            </a:r>
          </a:p>
        </p:txBody>
      </p:sp>
      <p:sp>
        <p:nvSpPr>
          <p:cNvPr id="5" name="Rectangle 4"/>
          <p:cNvSpPr/>
          <p:nvPr/>
        </p:nvSpPr>
        <p:spPr>
          <a:xfrm rot="21564000">
            <a:off x="666750" y="1113234"/>
            <a:ext cx="5334000" cy="2228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6" name="chart image" descr="83de9da5f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64000">
            <a:off x="760953" y="1208490"/>
            <a:ext cx="5143500" cy="1838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564000">
            <a:off x="790862" y="3083667"/>
            <a:ext cx="531114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Stage 8D frozen estimates, 95% CI (pp)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8400" y="1116285"/>
          <a:ext cx="2952750" cy="18383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33475"/>
                <a:gridCol w="723900"/>
                <a:gridCol w="109537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Estimate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95% CI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RQ1 title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+5.18 pp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[+2.93, +7.48]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RQ2 A−B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+4.98 pp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[+0.32, +9.91]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RQ3 low−high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+2.45 pp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[−3.69, +8.60]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7DC4F5"/>
                          </a:solidFill>
                          <a:latin typeface="Patrick Hand"/>
                        </a:rPr>
                        <a:t>J-Lens−Vanilla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−1.38 pp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[−3.48, +0.68]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48400" y="3069134"/>
            <a:ext cx="548792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Citation bands: low +6.8 [2.6, 11.6], mid +4.8, high +4.4 [−1.1, 10.0]</a:t>
            </a:r>
          </a:p>
        </p:txBody>
      </p:sp>
      <p:sp>
        <p:nvSpPr>
          <p:cNvPr id="10" name="Rectangle 9"/>
          <p:cNvSpPr/>
          <p:nvPr/>
        </p:nvSpPr>
        <p:spPr>
          <a:xfrm rot="72000">
            <a:off x="857250" y="5401717"/>
            <a:ext cx="6096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RQ1 is the first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independent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confirmation: correct titles help the gold author on new papers. J-Lens still adds nothing over Vanilla.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1950" y="6467475"/>
            <a:ext cx="11887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14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382250" y="209550"/>
            <a:ext cx="15621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8D–8E · Line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But the A−B gap rests on a few pairs</a:t>
            </a:r>
          </a:p>
        </p:txBody>
      </p:sp>
      <p:sp>
        <p:nvSpPr>
          <p:cNvPr id="5" name="Rectangle 4"/>
          <p:cNvSpPr/>
          <p:nvPr/>
        </p:nvSpPr>
        <p:spPr>
          <a:xfrm rot="36000">
            <a:off x="666750" y="1113234"/>
            <a:ext cx="4953000" cy="2181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6" name="chart image" descr="777cca83c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">
            <a:off x="763047" y="1208490"/>
            <a:ext cx="4762500" cy="1790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36000">
            <a:off x="771487" y="3036044"/>
            <a:ext cx="491490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Remaining A−B after removing the largest positive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9502" y="1112788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100 pairs: 55 positive, 45 negative; median +4.4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9502" y="1500039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One pair (S8P094) ≈ +84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9502" y="1887289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Remove top 5 → +1.9 pp; top 10 → </a:t>
            </a:r>
            <a:r>
              <a:rPr sz="1725" b="0" i="0">
                <a:solidFill>
                  <a:srgbClr val="FF8A80"/>
                </a:solidFill>
                <a:latin typeface="Patrick Hand"/>
              </a:rPr>
              <a:t>−0.4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2352749"/>
            <a:ext cx="5884164" cy="323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DC4F5"/>
                </a:solidFill>
                <a:latin typeface="Patrick Hand"/>
              </a:rPr>
              <a:t>8E external audit (post-hoc)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9502" y="2675334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Unique-token weights: RQ1 +4.6, RQ2 +5.4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9502" y="3062585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Wrong-title length gap: +0.12 pp per token (association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9502" y="3449836"/>
            <a:ext cx="58435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Scripts not yet archived: </a:t>
            </a:r>
            <a:r>
              <a:rPr sz="1725" b="0" i="0">
                <a:solidFill>
                  <a:srgbClr val="FF8A80"/>
                </a:solidFill>
                <a:latin typeface="Patrick Hand"/>
              </a:rPr>
              <a:t>not a completed experiment</a:t>
            </a:r>
          </a:p>
        </p:txBody>
      </p:sp>
      <p:sp>
        <p:nvSpPr>
          <p:cNvPr id="15" name="Rectangle 14"/>
          <p:cNvSpPr/>
          <p:nvPr/>
        </p:nvSpPr>
        <p:spPr>
          <a:xfrm rot="72000">
            <a:off x="6953250" y="5123631"/>
            <a:ext cx="4476750" cy="11430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Small samples can show a positive A−B mean that a handful of papers carry. This is the main reason Stage 10 moved to the full cohort.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82425" y="6467475"/>
            <a:ext cx="12877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AAB4C5"/>
                </a:solidFill>
                <a:latin typeface="Patrick Hand"/>
              </a:rPr>
              <a:t>Stages 1–9 · 20–200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EEF1F5"/>
                </a:solidFill>
                <a:latin typeface="Caveat"/>
              </a:rPr>
              <a:t>What we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True title helps: pilot L56 +9.3 pp; 200 new papers </a:t>
            </a:r>
            <a:r>
              <a:rPr sz="1725" b="0" i="0">
                <a:solidFill>
                  <a:srgbClr val="F6A65A"/>
                </a:solidFill>
                <a:latin typeface="Patrick Hand"/>
              </a:rPr>
              <a:t>+5.2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686967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A−B uncertain in the pilot; +5.0 pp on 200 papers but gone after dropping 10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Low − high citation: inconclusive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A7385"/>
                </a:solidFill>
                <a:latin typeface="Patrick Hand"/>
              </a:rPr>
              <a:t>Stages 10–11 · 9,108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22304A"/>
                </a:solidFill>
                <a:latin typeface="Caveat"/>
              </a:rPr>
              <a:t>What scale showed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727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Title-specific signal clear in every group, ≈0.44 at L62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727" y="1686967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target − control ≈0 in middle layers, </a:t>
            </a:r>
            <a:r>
              <a:rPr sz="1725" b="0" i="0">
                <a:solidFill>
                  <a:srgbClr val="3C78B4"/>
                </a:solidFill>
                <a:latin typeface="Patrick Hand"/>
              </a:rPr>
              <a:t>+0.21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 [0.20, 0.22] at the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727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Name prior is only ~1/3 of the gap; ~0 on surnames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727" y="2769394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Signal rises steadily with citations (ρ = 0.45)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727" y="3159770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Same groups as the pilot (R0 only, A − B): </a:t>
            </a:r>
            <a:r>
              <a:rPr sz="1725" b="0" i="0">
                <a:solidFill>
                  <a:srgbClr val="3C78B4"/>
                </a:solidFill>
                <a:latin typeface="Patrick Hand"/>
              </a:rPr>
              <a:t>+0.20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 [0.19, 0.21], same late 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727" y="3854946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R1 papers (C) know more (+0.11 over A) but are just as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3850" y="6467475"/>
            <a:ext cx="15849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22</a:t>
            </a:r>
          </a:p>
        </p:txBody>
      </p:sp>
      <p:sp>
        <p:nvSpPr>
          <p:cNvPr id="18" name="Rectangle 17"/>
          <p:cNvSpPr/>
          <p:nvPr/>
        </p:nvSpPr>
        <p:spPr>
          <a:xfrm rot="21570000">
            <a:off x="1809750" y="4810274"/>
            <a:ext cx="8572500" cy="149542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Line A: from “the title helps” to “this paper, late, graded by fame”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The pilot was right that the title matters. It could not see that the target advantage is real but confined to the last layers, so the 7-layer average and the L56 endpoint both diluted it. Restricting the full cohort to the pilot’s A/B groups (R0 only) changes nothing: the R1 papers do not drive the result.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B</a:t>
            </a:r>
          </a:p>
        </p:txBody>
      </p:sp>
      <p:grpSp>
        <p:nvGrpSpPr>
          <p:cNvPr id="4" name="illustration"/>
          <p:cNvGrpSpPr/>
          <p:nvPr/>
        </p:nvGrpSpPr>
        <p:grpSpPr>
          <a:xfrm>
            <a:off x="9494502" y="710682"/>
            <a:ext cx="1755531" cy="1515840"/>
            <a:chOff x="9494502" y="710682"/>
            <a:chExt cx="1755531" cy="1515840"/>
          </a:xfrm>
        </p:grpSpPr>
        <p:sp>
          <p:nvSpPr>
            <p:cNvPr id="5" name="Freeform 4"/>
            <p:cNvSpPr/>
            <p:nvPr/>
          </p:nvSpPr>
          <p:spPr>
            <a:xfrm>
              <a:off x="9712311" y="710682"/>
              <a:ext cx="1036409" cy="210114"/>
            </a:xfrm>
            <a:custGeom>
              <a:avLst/>
              <a:gdLst/>
              <a:ahLst/>
              <a:cxnLst/>
              <a:rect l="l" t="t" r="r" b="b"/>
              <a:pathLst>
                <a:path w="1036409" h="210114">
                  <a:moveTo>
                    <a:pt x="5837" y="0"/>
                  </a:moveTo>
                  <a:lnTo>
                    <a:pt x="29713" y="834"/>
                  </a:lnTo>
                  <a:lnTo>
                    <a:pt x="53590" y="1668"/>
                  </a:lnTo>
                  <a:lnTo>
                    <a:pt x="77466" y="2501"/>
                  </a:lnTo>
                  <a:lnTo>
                    <a:pt x="101343" y="3335"/>
                  </a:lnTo>
                  <a:lnTo>
                    <a:pt x="125220" y="4169"/>
                  </a:lnTo>
                  <a:lnTo>
                    <a:pt x="149096" y="5003"/>
                  </a:lnTo>
                  <a:lnTo>
                    <a:pt x="172973" y="5837"/>
                  </a:lnTo>
                  <a:lnTo>
                    <a:pt x="196849" y="6670"/>
                  </a:lnTo>
                  <a:lnTo>
                    <a:pt x="220726" y="7504"/>
                  </a:lnTo>
                  <a:lnTo>
                    <a:pt x="244602" y="8338"/>
                  </a:lnTo>
                  <a:lnTo>
                    <a:pt x="268479" y="9172"/>
                  </a:lnTo>
                  <a:lnTo>
                    <a:pt x="292355" y="10005"/>
                  </a:lnTo>
                  <a:lnTo>
                    <a:pt x="316232" y="10839"/>
                  </a:lnTo>
                  <a:lnTo>
                    <a:pt x="340108" y="11673"/>
                  </a:lnTo>
                  <a:lnTo>
                    <a:pt x="363985" y="12507"/>
                  </a:lnTo>
                  <a:lnTo>
                    <a:pt x="387861" y="13341"/>
                  </a:lnTo>
                  <a:lnTo>
                    <a:pt x="411738" y="14174"/>
                  </a:lnTo>
                  <a:lnTo>
                    <a:pt x="435615" y="15008"/>
                  </a:lnTo>
                  <a:lnTo>
                    <a:pt x="459491" y="15842"/>
                  </a:lnTo>
                  <a:lnTo>
                    <a:pt x="483368" y="16676"/>
                  </a:lnTo>
                  <a:lnTo>
                    <a:pt x="507244" y="17510"/>
                  </a:lnTo>
                  <a:lnTo>
                    <a:pt x="531121" y="18343"/>
                  </a:lnTo>
                  <a:lnTo>
                    <a:pt x="554997" y="19177"/>
                  </a:lnTo>
                  <a:lnTo>
                    <a:pt x="578874" y="20011"/>
                  </a:lnTo>
                  <a:lnTo>
                    <a:pt x="602750" y="20845"/>
                  </a:lnTo>
                  <a:lnTo>
                    <a:pt x="626627" y="21678"/>
                  </a:lnTo>
                  <a:lnTo>
                    <a:pt x="650503" y="22512"/>
                  </a:lnTo>
                  <a:lnTo>
                    <a:pt x="674380" y="23346"/>
                  </a:lnTo>
                  <a:lnTo>
                    <a:pt x="698256" y="24180"/>
                  </a:lnTo>
                  <a:lnTo>
                    <a:pt x="722133" y="25014"/>
                  </a:lnTo>
                  <a:lnTo>
                    <a:pt x="746009" y="25847"/>
                  </a:lnTo>
                  <a:lnTo>
                    <a:pt x="769886" y="26681"/>
                  </a:lnTo>
                  <a:lnTo>
                    <a:pt x="793763" y="27515"/>
                  </a:lnTo>
                  <a:lnTo>
                    <a:pt x="817639" y="28349"/>
                  </a:lnTo>
                  <a:lnTo>
                    <a:pt x="841516" y="29183"/>
                  </a:lnTo>
                  <a:lnTo>
                    <a:pt x="865392" y="30016"/>
                  </a:lnTo>
                  <a:lnTo>
                    <a:pt x="889269" y="30850"/>
                  </a:lnTo>
                  <a:lnTo>
                    <a:pt x="913145" y="31684"/>
                  </a:lnTo>
                  <a:lnTo>
                    <a:pt x="937022" y="32518"/>
                  </a:lnTo>
                  <a:lnTo>
                    <a:pt x="960898" y="33352"/>
                  </a:lnTo>
                  <a:lnTo>
                    <a:pt x="984775" y="34185"/>
                  </a:lnTo>
                  <a:lnTo>
                    <a:pt x="1008651" y="35019"/>
                  </a:lnTo>
                  <a:lnTo>
                    <a:pt x="1032528" y="35853"/>
                  </a:lnTo>
                  <a:lnTo>
                    <a:pt x="1036409" y="55333"/>
                  </a:lnTo>
                  <a:lnTo>
                    <a:pt x="1035575" y="79210"/>
                  </a:lnTo>
                  <a:lnTo>
                    <a:pt x="1034741" y="103086"/>
                  </a:lnTo>
                  <a:lnTo>
                    <a:pt x="1033907" y="126963"/>
                  </a:lnTo>
                  <a:lnTo>
                    <a:pt x="1033073" y="150839"/>
                  </a:lnTo>
                  <a:lnTo>
                    <a:pt x="1032240" y="174716"/>
                  </a:lnTo>
                  <a:lnTo>
                    <a:pt x="1031406" y="198592"/>
                  </a:lnTo>
                  <a:lnTo>
                    <a:pt x="1019051" y="210114"/>
                  </a:lnTo>
                  <a:lnTo>
                    <a:pt x="995174" y="209280"/>
                  </a:lnTo>
                  <a:lnTo>
                    <a:pt x="971298" y="208446"/>
                  </a:lnTo>
                  <a:lnTo>
                    <a:pt x="947421" y="207612"/>
                  </a:lnTo>
                  <a:lnTo>
                    <a:pt x="923545" y="206779"/>
                  </a:lnTo>
                  <a:lnTo>
                    <a:pt x="899668" y="205945"/>
                  </a:lnTo>
                  <a:lnTo>
                    <a:pt x="875791" y="205111"/>
                  </a:lnTo>
                  <a:lnTo>
                    <a:pt x="851915" y="204277"/>
                  </a:lnTo>
                  <a:lnTo>
                    <a:pt x="828038" y="203443"/>
                  </a:lnTo>
                  <a:lnTo>
                    <a:pt x="804162" y="202610"/>
                  </a:lnTo>
                  <a:lnTo>
                    <a:pt x="780285" y="201776"/>
                  </a:lnTo>
                  <a:lnTo>
                    <a:pt x="756409" y="200942"/>
                  </a:lnTo>
                  <a:lnTo>
                    <a:pt x="732532" y="200108"/>
                  </a:lnTo>
                  <a:lnTo>
                    <a:pt x="708656" y="199275"/>
                  </a:lnTo>
                  <a:lnTo>
                    <a:pt x="684779" y="198441"/>
                  </a:lnTo>
                  <a:lnTo>
                    <a:pt x="660903" y="197607"/>
                  </a:lnTo>
                  <a:lnTo>
                    <a:pt x="637026" y="196773"/>
                  </a:lnTo>
                  <a:lnTo>
                    <a:pt x="613150" y="195939"/>
                  </a:lnTo>
                  <a:lnTo>
                    <a:pt x="589273" y="195106"/>
                  </a:lnTo>
                  <a:lnTo>
                    <a:pt x="565397" y="194272"/>
                  </a:lnTo>
                  <a:lnTo>
                    <a:pt x="541520" y="193438"/>
                  </a:lnTo>
                  <a:lnTo>
                    <a:pt x="517643" y="192604"/>
                  </a:lnTo>
                  <a:lnTo>
                    <a:pt x="493767" y="191770"/>
                  </a:lnTo>
                  <a:lnTo>
                    <a:pt x="469890" y="190937"/>
                  </a:lnTo>
                  <a:lnTo>
                    <a:pt x="446014" y="190103"/>
                  </a:lnTo>
                  <a:lnTo>
                    <a:pt x="422137" y="189269"/>
                  </a:lnTo>
                  <a:lnTo>
                    <a:pt x="398261" y="188435"/>
                  </a:lnTo>
                  <a:lnTo>
                    <a:pt x="374384" y="187601"/>
                  </a:lnTo>
                  <a:lnTo>
                    <a:pt x="350508" y="186768"/>
                  </a:lnTo>
                  <a:lnTo>
                    <a:pt x="326631" y="185934"/>
                  </a:lnTo>
                  <a:lnTo>
                    <a:pt x="302755" y="185100"/>
                  </a:lnTo>
                  <a:lnTo>
                    <a:pt x="278878" y="184266"/>
                  </a:lnTo>
                  <a:lnTo>
                    <a:pt x="255002" y="183433"/>
                  </a:lnTo>
                  <a:lnTo>
                    <a:pt x="231125" y="182599"/>
                  </a:lnTo>
                  <a:lnTo>
                    <a:pt x="207248" y="181765"/>
                  </a:lnTo>
                  <a:lnTo>
                    <a:pt x="183372" y="180931"/>
                  </a:lnTo>
                  <a:lnTo>
                    <a:pt x="159495" y="180097"/>
                  </a:lnTo>
                  <a:lnTo>
                    <a:pt x="135619" y="179264"/>
                  </a:lnTo>
                  <a:lnTo>
                    <a:pt x="111742" y="178430"/>
                  </a:lnTo>
                  <a:lnTo>
                    <a:pt x="87866" y="177596"/>
                  </a:lnTo>
                  <a:lnTo>
                    <a:pt x="63989" y="176762"/>
                  </a:lnTo>
                  <a:lnTo>
                    <a:pt x="40113" y="175928"/>
                  </a:lnTo>
                  <a:lnTo>
                    <a:pt x="16236" y="175095"/>
                  </a:lnTo>
                  <a:lnTo>
                    <a:pt x="0" y="167136"/>
                  </a:lnTo>
                  <a:lnTo>
                    <a:pt x="834" y="143259"/>
                  </a:lnTo>
                  <a:lnTo>
                    <a:pt x="1668" y="119383"/>
                  </a:lnTo>
                  <a:lnTo>
                    <a:pt x="2502" y="95506"/>
                  </a:lnTo>
                  <a:lnTo>
                    <a:pt x="3336" y="71630"/>
                  </a:lnTo>
                  <a:lnTo>
                    <a:pt x="4169" y="47753"/>
                  </a:lnTo>
                  <a:lnTo>
                    <a:pt x="5003" y="23876"/>
                  </a:lnTo>
                  <a:lnTo>
                    <a:pt x="5837" y="0"/>
                  </a:lnTo>
                  <a:close/>
                </a:path>
              </a:pathLst>
            </a:custGeom>
            <a:solidFill>
              <a:srgbClr val="E4EAF2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703447" y="964527"/>
              <a:ext cx="1036408" cy="210114"/>
            </a:xfrm>
            <a:custGeom>
              <a:avLst/>
              <a:gdLst/>
              <a:ahLst/>
              <a:cxnLst/>
              <a:rect l="l" t="t" r="r" b="b"/>
              <a:pathLst>
                <a:path w="1036408" h="210114">
                  <a:moveTo>
                    <a:pt x="5836" y="0"/>
                  </a:moveTo>
                  <a:lnTo>
                    <a:pt x="29713" y="834"/>
                  </a:lnTo>
                  <a:lnTo>
                    <a:pt x="53589" y="1668"/>
                  </a:lnTo>
                  <a:lnTo>
                    <a:pt x="77466" y="2502"/>
                  </a:lnTo>
                  <a:lnTo>
                    <a:pt x="101343" y="3335"/>
                  </a:lnTo>
                  <a:lnTo>
                    <a:pt x="125219" y="4169"/>
                  </a:lnTo>
                  <a:lnTo>
                    <a:pt x="149096" y="5003"/>
                  </a:lnTo>
                  <a:lnTo>
                    <a:pt x="172972" y="5837"/>
                  </a:lnTo>
                  <a:lnTo>
                    <a:pt x="196849" y="6671"/>
                  </a:lnTo>
                  <a:lnTo>
                    <a:pt x="220725" y="7504"/>
                  </a:lnTo>
                  <a:lnTo>
                    <a:pt x="244602" y="8338"/>
                  </a:lnTo>
                  <a:lnTo>
                    <a:pt x="268478" y="9172"/>
                  </a:lnTo>
                  <a:lnTo>
                    <a:pt x="292355" y="10006"/>
                  </a:lnTo>
                  <a:lnTo>
                    <a:pt x="316231" y="10840"/>
                  </a:lnTo>
                  <a:lnTo>
                    <a:pt x="340108" y="11673"/>
                  </a:lnTo>
                  <a:lnTo>
                    <a:pt x="363984" y="12507"/>
                  </a:lnTo>
                  <a:lnTo>
                    <a:pt x="387861" y="13341"/>
                  </a:lnTo>
                  <a:lnTo>
                    <a:pt x="411738" y="14175"/>
                  </a:lnTo>
                  <a:lnTo>
                    <a:pt x="435614" y="15008"/>
                  </a:lnTo>
                  <a:lnTo>
                    <a:pt x="459491" y="15842"/>
                  </a:lnTo>
                  <a:lnTo>
                    <a:pt x="483367" y="16676"/>
                  </a:lnTo>
                  <a:lnTo>
                    <a:pt x="507244" y="17510"/>
                  </a:lnTo>
                  <a:lnTo>
                    <a:pt x="531120" y="18344"/>
                  </a:lnTo>
                  <a:lnTo>
                    <a:pt x="554997" y="19177"/>
                  </a:lnTo>
                  <a:lnTo>
                    <a:pt x="578873" y="20011"/>
                  </a:lnTo>
                  <a:lnTo>
                    <a:pt x="602750" y="20845"/>
                  </a:lnTo>
                  <a:lnTo>
                    <a:pt x="626626" y="21679"/>
                  </a:lnTo>
                  <a:lnTo>
                    <a:pt x="650503" y="22513"/>
                  </a:lnTo>
                  <a:lnTo>
                    <a:pt x="674379" y="23346"/>
                  </a:lnTo>
                  <a:lnTo>
                    <a:pt x="698256" y="24180"/>
                  </a:lnTo>
                  <a:lnTo>
                    <a:pt x="722132" y="25014"/>
                  </a:lnTo>
                  <a:lnTo>
                    <a:pt x="746009" y="25848"/>
                  </a:lnTo>
                  <a:lnTo>
                    <a:pt x="769886" y="26681"/>
                  </a:lnTo>
                  <a:lnTo>
                    <a:pt x="793762" y="27515"/>
                  </a:lnTo>
                  <a:lnTo>
                    <a:pt x="817639" y="28349"/>
                  </a:lnTo>
                  <a:lnTo>
                    <a:pt x="841515" y="29183"/>
                  </a:lnTo>
                  <a:lnTo>
                    <a:pt x="865392" y="30017"/>
                  </a:lnTo>
                  <a:lnTo>
                    <a:pt x="889268" y="30850"/>
                  </a:lnTo>
                  <a:lnTo>
                    <a:pt x="913145" y="31684"/>
                  </a:lnTo>
                  <a:lnTo>
                    <a:pt x="937021" y="32518"/>
                  </a:lnTo>
                  <a:lnTo>
                    <a:pt x="960898" y="33352"/>
                  </a:lnTo>
                  <a:lnTo>
                    <a:pt x="984774" y="34186"/>
                  </a:lnTo>
                  <a:lnTo>
                    <a:pt x="1008651" y="35019"/>
                  </a:lnTo>
                  <a:lnTo>
                    <a:pt x="1032527" y="35853"/>
                  </a:lnTo>
                  <a:lnTo>
                    <a:pt x="1036408" y="55333"/>
                  </a:lnTo>
                  <a:lnTo>
                    <a:pt x="1035574" y="79210"/>
                  </a:lnTo>
                  <a:lnTo>
                    <a:pt x="1034741" y="103086"/>
                  </a:lnTo>
                  <a:lnTo>
                    <a:pt x="1033907" y="126963"/>
                  </a:lnTo>
                  <a:lnTo>
                    <a:pt x="1033073" y="150840"/>
                  </a:lnTo>
                  <a:lnTo>
                    <a:pt x="1032239" y="174716"/>
                  </a:lnTo>
                  <a:lnTo>
                    <a:pt x="1031405" y="198593"/>
                  </a:lnTo>
                  <a:lnTo>
                    <a:pt x="1019050" y="210114"/>
                  </a:lnTo>
                  <a:lnTo>
                    <a:pt x="995174" y="209280"/>
                  </a:lnTo>
                  <a:lnTo>
                    <a:pt x="971297" y="208446"/>
                  </a:lnTo>
                  <a:lnTo>
                    <a:pt x="947421" y="207613"/>
                  </a:lnTo>
                  <a:lnTo>
                    <a:pt x="923544" y="206779"/>
                  </a:lnTo>
                  <a:lnTo>
                    <a:pt x="899668" y="205945"/>
                  </a:lnTo>
                  <a:lnTo>
                    <a:pt x="875791" y="205111"/>
                  </a:lnTo>
                  <a:lnTo>
                    <a:pt x="851914" y="204277"/>
                  </a:lnTo>
                  <a:lnTo>
                    <a:pt x="828038" y="203444"/>
                  </a:lnTo>
                  <a:lnTo>
                    <a:pt x="804161" y="202610"/>
                  </a:lnTo>
                  <a:lnTo>
                    <a:pt x="780285" y="201776"/>
                  </a:lnTo>
                  <a:lnTo>
                    <a:pt x="756408" y="200942"/>
                  </a:lnTo>
                  <a:lnTo>
                    <a:pt x="732532" y="200109"/>
                  </a:lnTo>
                  <a:lnTo>
                    <a:pt x="708655" y="199275"/>
                  </a:lnTo>
                  <a:lnTo>
                    <a:pt x="684779" y="198441"/>
                  </a:lnTo>
                  <a:lnTo>
                    <a:pt x="660902" y="197607"/>
                  </a:lnTo>
                  <a:lnTo>
                    <a:pt x="637026" y="196773"/>
                  </a:lnTo>
                  <a:lnTo>
                    <a:pt x="613149" y="195940"/>
                  </a:lnTo>
                  <a:lnTo>
                    <a:pt x="589273" y="195106"/>
                  </a:lnTo>
                  <a:lnTo>
                    <a:pt x="565396" y="194272"/>
                  </a:lnTo>
                  <a:lnTo>
                    <a:pt x="541519" y="193438"/>
                  </a:lnTo>
                  <a:lnTo>
                    <a:pt x="517643" y="192604"/>
                  </a:lnTo>
                  <a:lnTo>
                    <a:pt x="493766" y="191771"/>
                  </a:lnTo>
                  <a:lnTo>
                    <a:pt x="469890" y="190937"/>
                  </a:lnTo>
                  <a:lnTo>
                    <a:pt x="446013" y="190103"/>
                  </a:lnTo>
                  <a:lnTo>
                    <a:pt x="422137" y="189269"/>
                  </a:lnTo>
                  <a:lnTo>
                    <a:pt x="398260" y="188436"/>
                  </a:lnTo>
                  <a:lnTo>
                    <a:pt x="374384" y="187602"/>
                  </a:lnTo>
                  <a:lnTo>
                    <a:pt x="350507" y="186768"/>
                  </a:lnTo>
                  <a:lnTo>
                    <a:pt x="326631" y="185934"/>
                  </a:lnTo>
                  <a:lnTo>
                    <a:pt x="302754" y="185100"/>
                  </a:lnTo>
                  <a:lnTo>
                    <a:pt x="278878" y="184267"/>
                  </a:lnTo>
                  <a:lnTo>
                    <a:pt x="255001" y="183433"/>
                  </a:lnTo>
                  <a:lnTo>
                    <a:pt x="231125" y="182599"/>
                  </a:lnTo>
                  <a:lnTo>
                    <a:pt x="207248" y="181765"/>
                  </a:lnTo>
                  <a:lnTo>
                    <a:pt x="183372" y="180931"/>
                  </a:lnTo>
                  <a:lnTo>
                    <a:pt x="159495" y="180098"/>
                  </a:lnTo>
                  <a:lnTo>
                    <a:pt x="135618" y="179264"/>
                  </a:lnTo>
                  <a:lnTo>
                    <a:pt x="111742" y="178430"/>
                  </a:lnTo>
                  <a:lnTo>
                    <a:pt x="87865" y="177596"/>
                  </a:lnTo>
                  <a:lnTo>
                    <a:pt x="63989" y="176762"/>
                  </a:lnTo>
                  <a:lnTo>
                    <a:pt x="40112" y="175929"/>
                  </a:lnTo>
                  <a:lnTo>
                    <a:pt x="16236" y="175095"/>
                  </a:lnTo>
                  <a:lnTo>
                    <a:pt x="0" y="167136"/>
                  </a:lnTo>
                  <a:lnTo>
                    <a:pt x="834" y="143260"/>
                  </a:lnTo>
                  <a:lnTo>
                    <a:pt x="1667" y="119383"/>
                  </a:lnTo>
                  <a:lnTo>
                    <a:pt x="2501" y="95507"/>
                  </a:lnTo>
                  <a:lnTo>
                    <a:pt x="3335" y="71630"/>
                  </a:lnTo>
                  <a:lnTo>
                    <a:pt x="4169" y="47753"/>
                  </a:lnTo>
                  <a:lnTo>
                    <a:pt x="5003" y="23877"/>
                  </a:lnTo>
                  <a:lnTo>
                    <a:pt x="5836" y="0"/>
                  </a:lnTo>
                  <a:close/>
                </a:path>
              </a:pathLst>
            </a:custGeom>
            <a:solidFill>
              <a:srgbClr val="E4EAF2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9694582" y="1218373"/>
              <a:ext cx="1036409" cy="210113"/>
            </a:xfrm>
            <a:custGeom>
              <a:avLst/>
              <a:gdLst/>
              <a:ahLst/>
              <a:cxnLst/>
              <a:rect l="l" t="t" r="r" b="b"/>
              <a:pathLst>
                <a:path w="1036409" h="210113">
                  <a:moveTo>
                    <a:pt x="5837" y="0"/>
                  </a:moveTo>
                  <a:lnTo>
                    <a:pt x="29713" y="833"/>
                  </a:lnTo>
                  <a:lnTo>
                    <a:pt x="53590" y="1667"/>
                  </a:lnTo>
                  <a:lnTo>
                    <a:pt x="77467" y="2501"/>
                  </a:lnTo>
                  <a:lnTo>
                    <a:pt x="101343" y="3335"/>
                  </a:lnTo>
                  <a:lnTo>
                    <a:pt x="125220" y="4169"/>
                  </a:lnTo>
                  <a:lnTo>
                    <a:pt x="149096" y="5002"/>
                  </a:lnTo>
                  <a:lnTo>
                    <a:pt x="172973" y="5836"/>
                  </a:lnTo>
                  <a:lnTo>
                    <a:pt x="196849" y="6670"/>
                  </a:lnTo>
                  <a:lnTo>
                    <a:pt x="220726" y="7504"/>
                  </a:lnTo>
                  <a:lnTo>
                    <a:pt x="244602" y="8337"/>
                  </a:lnTo>
                  <a:lnTo>
                    <a:pt x="268479" y="9171"/>
                  </a:lnTo>
                  <a:lnTo>
                    <a:pt x="292355" y="10005"/>
                  </a:lnTo>
                  <a:lnTo>
                    <a:pt x="316232" y="10839"/>
                  </a:lnTo>
                  <a:lnTo>
                    <a:pt x="340108" y="11673"/>
                  </a:lnTo>
                  <a:lnTo>
                    <a:pt x="363985" y="12506"/>
                  </a:lnTo>
                  <a:lnTo>
                    <a:pt x="387861" y="13340"/>
                  </a:lnTo>
                  <a:lnTo>
                    <a:pt x="411738" y="14174"/>
                  </a:lnTo>
                  <a:lnTo>
                    <a:pt x="435615" y="15008"/>
                  </a:lnTo>
                  <a:lnTo>
                    <a:pt x="459491" y="15842"/>
                  </a:lnTo>
                  <a:lnTo>
                    <a:pt x="483368" y="16675"/>
                  </a:lnTo>
                  <a:lnTo>
                    <a:pt x="507244" y="17509"/>
                  </a:lnTo>
                  <a:lnTo>
                    <a:pt x="531121" y="18343"/>
                  </a:lnTo>
                  <a:lnTo>
                    <a:pt x="554997" y="19177"/>
                  </a:lnTo>
                  <a:lnTo>
                    <a:pt x="578874" y="20010"/>
                  </a:lnTo>
                  <a:lnTo>
                    <a:pt x="602750" y="20844"/>
                  </a:lnTo>
                  <a:lnTo>
                    <a:pt x="626627" y="21678"/>
                  </a:lnTo>
                  <a:lnTo>
                    <a:pt x="650503" y="22512"/>
                  </a:lnTo>
                  <a:lnTo>
                    <a:pt x="674380" y="23346"/>
                  </a:lnTo>
                  <a:lnTo>
                    <a:pt x="698256" y="24179"/>
                  </a:lnTo>
                  <a:lnTo>
                    <a:pt x="722133" y="25013"/>
                  </a:lnTo>
                  <a:lnTo>
                    <a:pt x="746010" y="25847"/>
                  </a:lnTo>
                  <a:lnTo>
                    <a:pt x="769886" y="26681"/>
                  </a:lnTo>
                  <a:lnTo>
                    <a:pt x="793763" y="27515"/>
                  </a:lnTo>
                  <a:lnTo>
                    <a:pt x="817639" y="28348"/>
                  </a:lnTo>
                  <a:lnTo>
                    <a:pt x="841516" y="29182"/>
                  </a:lnTo>
                  <a:lnTo>
                    <a:pt x="865392" y="30016"/>
                  </a:lnTo>
                  <a:lnTo>
                    <a:pt x="889269" y="30850"/>
                  </a:lnTo>
                  <a:lnTo>
                    <a:pt x="913145" y="31683"/>
                  </a:lnTo>
                  <a:lnTo>
                    <a:pt x="937022" y="32517"/>
                  </a:lnTo>
                  <a:lnTo>
                    <a:pt x="960898" y="33351"/>
                  </a:lnTo>
                  <a:lnTo>
                    <a:pt x="984775" y="34185"/>
                  </a:lnTo>
                  <a:lnTo>
                    <a:pt x="1008651" y="35019"/>
                  </a:lnTo>
                  <a:lnTo>
                    <a:pt x="1032528" y="35852"/>
                  </a:lnTo>
                  <a:lnTo>
                    <a:pt x="1036409" y="55333"/>
                  </a:lnTo>
                  <a:lnTo>
                    <a:pt x="1035575" y="79209"/>
                  </a:lnTo>
                  <a:lnTo>
                    <a:pt x="1034741" y="103086"/>
                  </a:lnTo>
                  <a:lnTo>
                    <a:pt x="1033907" y="126962"/>
                  </a:lnTo>
                  <a:lnTo>
                    <a:pt x="1033073" y="150839"/>
                  </a:lnTo>
                  <a:lnTo>
                    <a:pt x="1032240" y="174715"/>
                  </a:lnTo>
                  <a:lnTo>
                    <a:pt x="1031406" y="198592"/>
                  </a:lnTo>
                  <a:lnTo>
                    <a:pt x="1019051" y="210113"/>
                  </a:lnTo>
                  <a:lnTo>
                    <a:pt x="995174" y="209279"/>
                  </a:lnTo>
                  <a:lnTo>
                    <a:pt x="971298" y="208446"/>
                  </a:lnTo>
                  <a:lnTo>
                    <a:pt x="947421" y="207612"/>
                  </a:lnTo>
                  <a:lnTo>
                    <a:pt x="923545" y="206778"/>
                  </a:lnTo>
                  <a:lnTo>
                    <a:pt x="899668" y="205944"/>
                  </a:lnTo>
                  <a:lnTo>
                    <a:pt x="875791" y="205111"/>
                  </a:lnTo>
                  <a:lnTo>
                    <a:pt x="851915" y="204277"/>
                  </a:lnTo>
                  <a:lnTo>
                    <a:pt x="828039" y="203443"/>
                  </a:lnTo>
                  <a:lnTo>
                    <a:pt x="804162" y="202609"/>
                  </a:lnTo>
                  <a:lnTo>
                    <a:pt x="780285" y="201775"/>
                  </a:lnTo>
                  <a:lnTo>
                    <a:pt x="756409" y="200942"/>
                  </a:lnTo>
                  <a:lnTo>
                    <a:pt x="732532" y="200108"/>
                  </a:lnTo>
                  <a:lnTo>
                    <a:pt x="708656" y="199274"/>
                  </a:lnTo>
                  <a:lnTo>
                    <a:pt x="684779" y="198440"/>
                  </a:lnTo>
                  <a:lnTo>
                    <a:pt x="660903" y="197606"/>
                  </a:lnTo>
                  <a:lnTo>
                    <a:pt x="637026" y="196773"/>
                  </a:lnTo>
                  <a:lnTo>
                    <a:pt x="613150" y="195939"/>
                  </a:lnTo>
                  <a:lnTo>
                    <a:pt x="589273" y="195105"/>
                  </a:lnTo>
                  <a:lnTo>
                    <a:pt x="565397" y="194271"/>
                  </a:lnTo>
                  <a:lnTo>
                    <a:pt x="541520" y="193438"/>
                  </a:lnTo>
                  <a:lnTo>
                    <a:pt x="517643" y="192604"/>
                  </a:lnTo>
                  <a:lnTo>
                    <a:pt x="493767" y="191770"/>
                  </a:lnTo>
                  <a:lnTo>
                    <a:pt x="469890" y="190936"/>
                  </a:lnTo>
                  <a:lnTo>
                    <a:pt x="446014" y="190102"/>
                  </a:lnTo>
                  <a:lnTo>
                    <a:pt x="422137" y="189269"/>
                  </a:lnTo>
                  <a:lnTo>
                    <a:pt x="398261" y="188435"/>
                  </a:lnTo>
                  <a:lnTo>
                    <a:pt x="374384" y="187601"/>
                  </a:lnTo>
                  <a:lnTo>
                    <a:pt x="350508" y="186767"/>
                  </a:lnTo>
                  <a:lnTo>
                    <a:pt x="326631" y="185933"/>
                  </a:lnTo>
                  <a:lnTo>
                    <a:pt x="302755" y="185100"/>
                  </a:lnTo>
                  <a:lnTo>
                    <a:pt x="278878" y="184266"/>
                  </a:lnTo>
                  <a:lnTo>
                    <a:pt x="255002" y="183432"/>
                  </a:lnTo>
                  <a:lnTo>
                    <a:pt x="231125" y="182598"/>
                  </a:lnTo>
                  <a:lnTo>
                    <a:pt x="207249" y="181764"/>
                  </a:lnTo>
                  <a:lnTo>
                    <a:pt x="183372" y="180931"/>
                  </a:lnTo>
                  <a:lnTo>
                    <a:pt x="159495" y="180097"/>
                  </a:lnTo>
                  <a:lnTo>
                    <a:pt x="135619" y="179263"/>
                  </a:lnTo>
                  <a:lnTo>
                    <a:pt x="111742" y="178429"/>
                  </a:lnTo>
                  <a:lnTo>
                    <a:pt x="87866" y="177596"/>
                  </a:lnTo>
                  <a:lnTo>
                    <a:pt x="63989" y="176762"/>
                  </a:lnTo>
                  <a:lnTo>
                    <a:pt x="40113" y="175928"/>
                  </a:lnTo>
                  <a:lnTo>
                    <a:pt x="16236" y="175094"/>
                  </a:lnTo>
                  <a:lnTo>
                    <a:pt x="0" y="167135"/>
                  </a:lnTo>
                  <a:lnTo>
                    <a:pt x="834" y="143259"/>
                  </a:lnTo>
                  <a:lnTo>
                    <a:pt x="1668" y="119382"/>
                  </a:lnTo>
                  <a:lnTo>
                    <a:pt x="2502" y="95506"/>
                  </a:lnTo>
                  <a:lnTo>
                    <a:pt x="3336" y="71629"/>
                  </a:lnTo>
                  <a:lnTo>
                    <a:pt x="4169" y="47753"/>
                  </a:lnTo>
                  <a:lnTo>
                    <a:pt x="5003" y="23876"/>
                  </a:lnTo>
                  <a:lnTo>
                    <a:pt x="5837" y="0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685718" y="1472218"/>
              <a:ext cx="1036408" cy="210114"/>
            </a:xfrm>
            <a:custGeom>
              <a:avLst/>
              <a:gdLst/>
              <a:ahLst/>
              <a:cxnLst/>
              <a:rect l="l" t="t" r="r" b="b"/>
              <a:pathLst>
                <a:path w="1036408" h="210114">
                  <a:moveTo>
                    <a:pt x="5836" y="0"/>
                  </a:moveTo>
                  <a:lnTo>
                    <a:pt x="29713" y="834"/>
                  </a:lnTo>
                  <a:lnTo>
                    <a:pt x="53590" y="1667"/>
                  </a:lnTo>
                  <a:lnTo>
                    <a:pt x="77466" y="2501"/>
                  </a:lnTo>
                  <a:lnTo>
                    <a:pt x="101343" y="3335"/>
                  </a:lnTo>
                  <a:lnTo>
                    <a:pt x="125219" y="4169"/>
                  </a:lnTo>
                  <a:lnTo>
                    <a:pt x="149096" y="5003"/>
                  </a:lnTo>
                  <a:lnTo>
                    <a:pt x="172972" y="5836"/>
                  </a:lnTo>
                  <a:lnTo>
                    <a:pt x="196849" y="6670"/>
                  </a:lnTo>
                  <a:lnTo>
                    <a:pt x="220725" y="7504"/>
                  </a:lnTo>
                  <a:lnTo>
                    <a:pt x="244602" y="8338"/>
                  </a:lnTo>
                  <a:lnTo>
                    <a:pt x="268478" y="9171"/>
                  </a:lnTo>
                  <a:lnTo>
                    <a:pt x="292355" y="10005"/>
                  </a:lnTo>
                  <a:lnTo>
                    <a:pt x="316231" y="10839"/>
                  </a:lnTo>
                  <a:lnTo>
                    <a:pt x="340108" y="11673"/>
                  </a:lnTo>
                  <a:lnTo>
                    <a:pt x="363984" y="12507"/>
                  </a:lnTo>
                  <a:lnTo>
                    <a:pt x="387861" y="13340"/>
                  </a:lnTo>
                  <a:lnTo>
                    <a:pt x="411738" y="14174"/>
                  </a:lnTo>
                  <a:lnTo>
                    <a:pt x="435614" y="15008"/>
                  </a:lnTo>
                  <a:lnTo>
                    <a:pt x="459491" y="15842"/>
                  </a:lnTo>
                  <a:lnTo>
                    <a:pt x="483367" y="16676"/>
                  </a:lnTo>
                  <a:lnTo>
                    <a:pt x="507244" y="17509"/>
                  </a:lnTo>
                  <a:lnTo>
                    <a:pt x="531120" y="18343"/>
                  </a:lnTo>
                  <a:lnTo>
                    <a:pt x="554997" y="19177"/>
                  </a:lnTo>
                  <a:lnTo>
                    <a:pt x="578873" y="20011"/>
                  </a:lnTo>
                  <a:lnTo>
                    <a:pt x="602750" y="20845"/>
                  </a:lnTo>
                  <a:lnTo>
                    <a:pt x="626626" y="21678"/>
                  </a:lnTo>
                  <a:lnTo>
                    <a:pt x="650503" y="22512"/>
                  </a:lnTo>
                  <a:lnTo>
                    <a:pt x="674379" y="23346"/>
                  </a:lnTo>
                  <a:lnTo>
                    <a:pt x="698256" y="24180"/>
                  </a:lnTo>
                  <a:lnTo>
                    <a:pt x="722132" y="25013"/>
                  </a:lnTo>
                  <a:lnTo>
                    <a:pt x="746009" y="25847"/>
                  </a:lnTo>
                  <a:lnTo>
                    <a:pt x="769886" y="26681"/>
                  </a:lnTo>
                  <a:lnTo>
                    <a:pt x="793762" y="27515"/>
                  </a:lnTo>
                  <a:lnTo>
                    <a:pt x="817639" y="28349"/>
                  </a:lnTo>
                  <a:lnTo>
                    <a:pt x="841515" y="29182"/>
                  </a:lnTo>
                  <a:lnTo>
                    <a:pt x="865392" y="30016"/>
                  </a:lnTo>
                  <a:lnTo>
                    <a:pt x="889268" y="30850"/>
                  </a:lnTo>
                  <a:lnTo>
                    <a:pt x="913145" y="31684"/>
                  </a:lnTo>
                  <a:lnTo>
                    <a:pt x="937021" y="32518"/>
                  </a:lnTo>
                  <a:lnTo>
                    <a:pt x="960898" y="33351"/>
                  </a:lnTo>
                  <a:lnTo>
                    <a:pt x="984774" y="34185"/>
                  </a:lnTo>
                  <a:lnTo>
                    <a:pt x="1008651" y="35019"/>
                  </a:lnTo>
                  <a:lnTo>
                    <a:pt x="1032527" y="35853"/>
                  </a:lnTo>
                  <a:lnTo>
                    <a:pt x="1036408" y="55333"/>
                  </a:lnTo>
                  <a:lnTo>
                    <a:pt x="1035574" y="79209"/>
                  </a:lnTo>
                  <a:lnTo>
                    <a:pt x="1034741" y="103086"/>
                  </a:lnTo>
                  <a:lnTo>
                    <a:pt x="1033907" y="126963"/>
                  </a:lnTo>
                  <a:lnTo>
                    <a:pt x="1033073" y="150839"/>
                  </a:lnTo>
                  <a:lnTo>
                    <a:pt x="1032239" y="174716"/>
                  </a:lnTo>
                  <a:lnTo>
                    <a:pt x="1031405" y="198592"/>
                  </a:lnTo>
                  <a:lnTo>
                    <a:pt x="1019050" y="210114"/>
                  </a:lnTo>
                  <a:lnTo>
                    <a:pt x="995174" y="209280"/>
                  </a:lnTo>
                  <a:lnTo>
                    <a:pt x="971297" y="208446"/>
                  </a:lnTo>
                  <a:lnTo>
                    <a:pt x="947421" y="207612"/>
                  </a:lnTo>
                  <a:lnTo>
                    <a:pt x="923544" y="206778"/>
                  </a:lnTo>
                  <a:lnTo>
                    <a:pt x="899668" y="205945"/>
                  </a:lnTo>
                  <a:lnTo>
                    <a:pt x="875791" y="205111"/>
                  </a:lnTo>
                  <a:lnTo>
                    <a:pt x="851914" y="204277"/>
                  </a:lnTo>
                  <a:lnTo>
                    <a:pt x="828038" y="203443"/>
                  </a:lnTo>
                  <a:lnTo>
                    <a:pt x="804161" y="202610"/>
                  </a:lnTo>
                  <a:lnTo>
                    <a:pt x="780285" y="201776"/>
                  </a:lnTo>
                  <a:lnTo>
                    <a:pt x="756408" y="200942"/>
                  </a:lnTo>
                  <a:lnTo>
                    <a:pt x="732532" y="200108"/>
                  </a:lnTo>
                  <a:lnTo>
                    <a:pt x="708655" y="199274"/>
                  </a:lnTo>
                  <a:lnTo>
                    <a:pt x="684779" y="198440"/>
                  </a:lnTo>
                  <a:lnTo>
                    <a:pt x="660902" y="197607"/>
                  </a:lnTo>
                  <a:lnTo>
                    <a:pt x="637026" y="196773"/>
                  </a:lnTo>
                  <a:lnTo>
                    <a:pt x="613149" y="195939"/>
                  </a:lnTo>
                  <a:lnTo>
                    <a:pt x="589273" y="195105"/>
                  </a:lnTo>
                  <a:lnTo>
                    <a:pt x="565396" y="194272"/>
                  </a:lnTo>
                  <a:lnTo>
                    <a:pt x="541520" y="193438"/>
                  </a:lnTo>
                  <a:lnTo>
                    <a:pt x="517643" y="192604"/>
                  </a:lnTo>
                  <a:lnTo>
                    <a:pt x="493766" y="191770"/>
                  </a:lnTo>
                  <a:lnTo>
                    <a:pt x="469890" y="190936"/>
                  </a:lnTo>
                  <a:lnTo>
                    <a:pt x="446013" y="190103"/>
                  </a:lnTo>
                  <a:lnTo>
                    <a:pt x="422137" y="189269"/>
                  </a:lnTo>
                  <a:lnTo>
                    <a:pt x="398260" y="188435"/>
                  </a:lnTo>
                  <a:lnTo>
                    <a:pt x="374384" y="187601"/>
                  </a:lnTo>
                  <a:lnTo>
                    <a:pt x="350507" y="186767"/>
                  </a:lnTo>
                  <a:lnTo>
                    <a:pt x="326631" y="185934"/>
                  </a:lnTo>
                  <a:lnTo>
                    <a:pt x="302754" y="185100"/>
                  </a:lnTo>
                  <a:lnTo>
                    <a:pt x="278878" y="184266"/>
                  </a:lnTo>
                  <a:lnTo>
                    <a:pt x="255001" y="183432"/>
                  </a:lnTo>
                  <a:lnTo>
                    <a:pt x="231125" y="182599"/>
                  </a:lnTo>
                  <a:lnTo>
                    <a:pt x="207248" y="181765"/>
                  </a:lnTo>
                  <a:lnTo>
                    <a:pt x="183372" y="180931"/>
                  </a:lnTo>
                  <a:lnTo>
                    <a:pt x="159495" y="180097"/>
                  </a:lnTo>
                  <a:lnTo>
                    <a:pt x="135619" y="179263"/>
                  </a:lnTo>
                  <a:lnTo>
                    <a:pt x="111742" y="178430"/>
                  </a:lnTo>
                  <a:lnTo>
                    <a:pt x="87865" y="177596"/>
                  </a:lnTo>
                  <a:lnTo>
                    <a:pt x="63989" y="176762"/>
                  </a:lnTo>
                  <a:lnTo>
                    <a:pt x="40112" y="175928"/>
                  </a:lnTo>
                  <a:lnTo>
                    <a:pt x="16236" y="175094"/>
                  </a:lnTo>
                  <a:lnTo>
                    <a:pt x="0" y="167136"/>
                  </a:lnTo>
                  <a:lnTo>
                    <a:pt x="834" y="143259"/>
                  </a:lnTo>
                  <a:lnTo>
                    <a:pt x="1668" y="119382"/>
                  </a:lnTo>
                  <a:lnTo>
                    <a:pt x="2501" y="95506"/>
                  </a:lnTo>
                  <a:lnTo>
                    <a:pt x="3335" y="71629"/>
                  </a:lnTo>
                  <a:lnTo>
                    <a:pt x="4169" y="47753"/>
                  </a:lnTo>
                  <a:lnTo>
                    <a:pt x="5003" y="23876"/>
                  </a:lnTo>
                  <a:lnTo>
                    <a:pt x="5836" y="0"/>
                  </a:lnTo>
                  <a:close/>
                </a:path>
              </a:pathLst>
            </a:custGeom>
            <a:solidFill>
              <a:srgbClr val="E4EAF2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9676853" y="1726063"/>
              <a:ext cx="1036409" cy="210114"/>
            </a:xfrm>
            <a:custGeom>
              <a:avLst/>
              <a:gdLst/>
              <a:ahLst/>
              <a:cxnLst/>
              <a:rect l="l" t="t" r="r" b="b"/>
              <a:pathLst>
                <a:path w="1036409" h="210114">
                  <a:moveTo>
                    <a:pt x="5837" y="0"/>
                  </a:moveTo>
                  <a:lnTo>
                    <a:pt x="29714" y="834"/>
                  </a:lnTo>
                  <a:lnTo>
                    <a:pt x="53590" y="1668"/>
                  </a:lnTo>
                  <a:lnTo>
                    <a:pt x="77467" y="2501"/>
                  </a:lnTo>
                  <a:lnTo>
                    <a:pt x="101343" y="3335"/>
                  </a:lnTo>
                  <a:lnTo>
                    <a:pt x="125220" y="4169"/>
                  </a:lnTo>
                  <a:lnTo>
                    <a:pt x="149096" y="5003"/>
                  </a:lnTo>
                  <a:lnTo>
                    <a:pt x="172973" y="5837"/>
                  </a:lnTo>
                  <a:lnTo>
                    <a:pt x="196849" y="6670"/>
                  </a:lnTo>
                  <a:lnTo>
                    <a:pt x="220726" y="7504"/>
                  </a:lnTo>
                  <a:lnTo>
                    <a:pt x="244602" y="8338"/>
                  </a:lnTo>
                  <a:lnTo>
                    <a:pt x="268479" y="9172"/>
                  </a:lnTo>
                  <a:lnTo>
                    <a:pt x="292355" y="10006"/>
                  </a:lnTo>
                  <a:lnTo>
                    <a:pt x="316232" y="10839"/>
                  </a:lnTo>
                  <a:lnTo>
                    <a:pt x="340108" y="11673"/>
                  </a:lnTo>
                  <a:lnTo>
                    <a:pt x="363985" y="12507"/>
                  </a:lnTo>
                  <a:lnTo>
                    <a:pt x="387862" y="13341"/>
                  </a:lnTo>
                  <a:lnTo>
                    <a:pt x="411738" y="14174"/>
                  </a:lnTo>
                  <a:lnTo>
                    <a:pt x="435615" y="15008"/>
                  </a:lnTo>
                  <a:lnTo>
                    <a:pt x="459491" y="15842"/>
                  </a:lnTo>
                  <a:lnTo>
                    <a:pt x="483368" y="16676"/>
                  </a:lnTo>
                  <a:lnTo>
                    <a:pt x="507244" y="17510"/>
                  </a:lnTo>
                  <a:lnTo>
                    <a:pt x="531121" y="18343"/>
                  </a:lnTo>
                  <a:lnTo>
                    <a:pt x="554997" y="19177"/>
                  </a:lnTo>
                  <a:lnTo>
                    <a:pt x="578874" y="20011"/>
                  </a:lnTo>
                  <a:lnTo>
                    <a:pt x="602750" y="20845"/>
                  </a:lnTo>
                  <a:lnTo>
                    <a:pt x="626627" y="21679"/>
                  </a:lnTo>
                  <a:lnTo>
                    <a:pt x="650503" y="22512"/>
                  </a:lnTo>
                  <a:lnTo>
                    <a:pt x="674380" y="23346"/>
                  </a:lnTo>
                  <a:lnTo>
                    <a:pt x="698257" y="24180"/>
                  </a:lnTo>
                  <a:lnTo>
                    <a:pt x="722133" y="25014"/>
                  </a:lnTo>
                  <a:lnTo>
                    <a:pt x="746010" y="25848"/>
                  </a:lnTo>
                  <a:lnTo>
                    <a:pt x="769886" y="26681"/>
                  </a:lnTo>
                  <a:lnTo>
                    <a:pt x="793763" y="27515"/>
                  </a:lnTo>
                  <a:lnTo>
                    <a:pt x="817639" y="28349"/>
                  </a:lnTo>
                  <a:lnTo>
                    <a:pt x="841516" y="29183"/>
                  </a:lnTo>
                  <a:lnTo>
                    <a:pt x="865392" y="30016"/>
                  </a:lnTo>
                  <a:lnTo>
                    <a:pt x="889269" y="30850"/>
                  </a:lnTo>
                  <a:lnTo>
                    <a:pt x="913145" y="31684"/>
                  </a:lnTo>
                  <a:lnTo>
                    <a:pt x="937022" y="32518"/>
                  </a:lnTo>
                  <a:lnTo>
                    <a:pt x="960898" y="33352"/>
                  </a:lnTo>
                  <a:lnTo>
                    <a:pt x="984775" y="34185"/>
                  </a:lnTo>
                  <a:lnTo>
                    <a:pt x="1008651" y="35019"/>
                  </a:lnTo>
                  <a:lnTo>
                    <a:pt x="1032528" y="35853"/>
                  </a:lnTo>
                  <a:lnTo>
                    <a:pt x="1036409" y="55333"/>
                  </a:lnTo>
                  <a:lnTo>
                    <a:pt x="1035575" y="79210"/>
                  </a:lnTo>
                  <a:lnTo>
                    <a:pt x="1034741" y="103086"/>
                  </a:lnTo>
                  <a:lnTo>
                    <a:pt x="1033907" y="126963"/>
                  </a:lnTo>
                  <a:lnTo>
                    <a:pt x="1033074" y="150839"/>
                  </a:lnTo>
                  <a:lnTo>
                    <a:pt x="1032240" y="174716"/>
                  </a:lnTo>
                  <a:lnTo>
                    <a:pt x="1031406" y="198592"/>
                  </a:lnTo>
                  <a:lnTo>
                    <a:pt x="1019051" y="210114"/>
                  </a:lnTo>
                  <a:lnTo>
                    <a:pt x="995174" y="209280"/>
                  </a:lnTo>
                  <a:lnTo>
                    <a:pt x="971298" y="208446"/>
                  </a:lnTo>
                  <a:lnTo>
                    <a:pt x="947421" y="207613"/>
                  </a:lnTo>
                  <a:lnTo>
                    <a:pt x="923545" y="206779"/>
                  </a:lnTo>
                  <a:lnTo>
                    <a:pt x="899668" y="205945"/>
                  </a:lnTo>
                  <a:lnTo>
                    <a:pt x="875792" y="205111"/>
                  </a:lnTo>
                  <a:lnTo>
                    <a:pt x="851915" y="204277"/>
                  </a:lnTo>
                  <a:lnTo>
                    <a:pt x="828039" y="203444"/>
                  </a:lnTo>
                  <a:lnTo>
                    <a:pt x="804162" y="202610"/>
                  </a:lnTo>
                  <a:lnTo>
                    <a:pt x="780285" y="201776"/>
                  </a:lnTo>
                  <a:lnTo>
                    <a:pt x="756409" y="200942"/>
                  </a:lnTo>
                  <a:lnTo>
                    <a:pt x="732532" y="200108"/>
                  </a:lnTo>
                  <a:lnTo>
                    <a:pt x="708656" y="199275"/>
                  </a:lnTo>
                  <a:lnTo>
                    <a:pt x="684779" y="198441"/>
                  </a:lnTo>
                  <a:lnTo>
                    <a:pt x="660903" y="197607"/>
                  </a:lnTo>
                  <a:lnTo>
                    <a:pt x="637026" y="196773"/>
                  </a:lnTo>
                  <a:lnTo>
                    <a:pt x="613150" y="195939"/>
                  </a:lnTo>
                  <a:lnTo>
                    <a:pt x="589273" y="195106"/>
                  </a:lnTo>
                  <a:lnTo>
                    <a:pt x="565397" y="194272"/>
                  </a:lnTo>
                  <a:lnTo>
                    <a:pt x="541520" y="193438"/>
                  </a:lnTo>
                  <a:lnTo>
                    <a:pt x="517644" y="192604"/>
                  </a:lnTo>
                  <a:lnTo>
                    <a:pt x="493767" y="191770"/>
                  </a:lnTo>
                  <a:lnTo>
                    <a:pt x="469891" y="190937"/>
                  </a:lnTo>
                  <a:lnTo>
                    <a:pt x="446014" y="190103"/>
                  </a:lnTo>
                  <a:lnTo>
                    <a:pt x="422137" y="189269"/>
                  </a:lnTo>
                  <a:lnTo>
                    <a:pt x="398261" y="188435"/>
                  </a:lnTo>
                  <a:lnTo>
                    <a:pt x="374384" y="187602"/>
                  </a:lnTo>
                  <a:lnTo>
                    <a:pt x="350508" y="186768"/>
                  </a:lnTo>
                  <a:lnTo>
                    <a:pt x="326631" y="185934"/>
                  </a:lnTo>
                  <a:lnTo>
                    <a:pt x="302755" y="185100"/>
                  </a:lnTo>
                  <a:lnTo>
                    <a:pt x="278878" y="184266"/>
                  </a:lnTo>
                  <a:lnTo>
                    <a:pt x="255002" y="183433"/>
                  </a:lnTo>
                  <a:lnTo>
                    <a:pt x="231125" y="182599"/>
                  </a:lnTo>
                  <a:lnTo>
                    <a:pt x="207249" y="181765"/>
                  </a:lnTo>
                  <a:lnTo>
                    <a:pt x="183372" y="180931"/>
                  </a:lnTo>
                  <a:lnTo>
                    <a:pt x="159496" y="180097"/>
                  </a:lnTo>
                  <a:lnTo>
                    <a:pt x="135619" y="179264"/>
                  </a:lnTo>
                  <a:lnTo>
                    <a:pt x="111742" y="178430"/>
                  </a:lnTo>
                  <a:lnTo>
                    <a:pt x="87866" y="177596"/>
                  </a:lnTo>
                  <a:lnTo>
                    <a:pt x="63989" y="176762"/>
                  </a:lnTo>
                  <a:lnTo>
                    <a:pt x="40113" y="175928"/>
                  </a:lnTo>
                  <a:lnTo>
                    <a:pt x="16236" y="175095"/>
                  </a:lnTo>
                  <a:lnTo>
                    <a:pt x="0" y="167136"/>
                  </a:lnTo>
                  <a:lnTo>
                    <a:pt x="834" y="143259"/>
                  </a:lnTo>
                  <a:lnTo>
                    <a:pt x="1668" y="119383"/>
                  </a:lnTo>
                  <a:lnTo>
                    <a:pt x="2502" y="95506"/>
                  </a:lnTo>
                  <a:lnTo>
                    <a:pt x="3336" y="71630"/>
                  </a:lnTo>
                  <a:lnTo>
                    <a:pt x="4169" y="47753"/>
                  </a:lnTo>
                  <a:lnTo>
                    <a:pt x="5003" y="23877"/>
                  </a:lnTo>
                  <a:lnTo>
                    <a:pt x="5837" y="0"/>
                  </a:lnTo>
                  <a:close/>
                </a:path>
              </a:pathLst>
            </a:custGeom>
            <a:solidFill>
              <a:srgbClr val="E4EAF2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20000">
              <a:off x="10434906" y="1009654"/>
              <a:ext cx="666750" cy="666750"/>
            </a:xfrm>
            <a:prstGeom prst="ellipse">
              <a:avLst/>
            </a:prstGeom>
            <a:solidFill>
              <a:srgbClr val="3C78B4">
                <a:alpha val="12000"/>
              </a:srgbClr>
            </a:solidFill>
            <a:ln w="39687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0997951" y="1589319"/>
              <a:ext cx="252082" cy="286785"/>
            </a:xfrm>
            <a:prstGeom prst="line">
              <a:avLst/>
            </a:prstGeom>
            <a:ln w="71437">
              <a:solidFill>
                <a:srgbClr val="3C78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 rot="120000">
              <a:off x="10570667" y="1220639"/>
              <a:ext cx="395120" cy="247953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75" b="0" i="0">
                  <a:solidFill>
                    <a:srgbClr val="6A7385"/>
                  </a:solidFill>
                  <a:latin typeface="Patrick Hand"/>
                </a:rPr>
                <a:t>B?ee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9522853" y="1299538"/>
              <a:ext cx="412499" cy="14404"/>
            </a:xfrm>
            <a:custGeom>
              <a:avLst/>
              <a:gdLst/>
              <a:ahLst/>
              <a:cxnLst/>
              <a:rect l="l" t="t" r="r" b="b"/>
              <a:pathLst>
                <a:path w="412499" h="14404">
                  <a:moveTo>
                    <a:pt x="0" y="0"/>
                  </a:moveTo>
                  <a:lnTo>
                    <a:pt x="24265" y="847"/>
                  </a:lnTo>
                  <a:lnTo>
                    <a:pt x="48529" y="1694"/>
                  </a:lnTo>
                  <a:lnTo>
                    <a:pt x="72794" y="2542"/>
                  </a:lnTo>
                  <a:lnTo>
                    <a:pt x="97059" y="3389"/>
                  </a:lnTo>
                  <a:lnTo>
                    <a:pt x="121323" y="4236"/>
                  </a:lnTo>
                  <a:lnTo>
                    <a:pt x="145588" y="5084"/>
                  </a:lnTo>
                  <a:lnTo>
                    <a:pt x="169852" y="5931"/>
                  </a:lnTo>
                  <a:lnTo>
                    <a:pt x="194117" y="6778"/>
                  </a:lnTo>
                  <a:lnTo>
                    <a:pt x="218382" y="7626"/>
                  </a:lnTo>
                  <a:lnTo>
                    <a:pt x="242646" y="8473"/>
                  </a:lnTo>
                  <a:lnTo>
                    <a:pt x="266911" y="9320"/>
                  </a:lnTo>
                  <a:lnTo>
                    <a:pt x="291176" y="10168"/>
                  </a:lnTo>
                  <a:lnTo>
                    <a:pt x="315440" y="11015"/>
                  </a:lnTo>
                  <a:lnTo>
                    <a:pt x="339705" y="11862"/>
                  </a:lnTo>
                  <a:lnTo>
                    <a:pt x="363969" y="12710"/>
                  </a:lnTo>
                  <a:lnTo>
                    <a:pt x="388234" y="13557"/>
                  </a:lnTo>
                  <a:lnTo>
                    <a:pt x="412499" y="14404"/>
                  </a:lnTo>
                </a:path>
              </a:pathLst>
            </a:custGeom>
            <a:noFill/>
            <a:ln w="23812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869951" y="1256198"/>
              <a:ext cx="81266" cy="111057"/>
            </a:xfrm>
            <a:custGeom>
              <a:avLst/>
              <a:gdLst/>
              <a:ahLst/>
              <a:cxnLst/>
              <a:rect l="l" t="t" r="r" b="b"/>
              <a:pathLst>
                <a:path w="81266" h="111057">
                  <a:moveTo>
                    <a:pt x="3878" y="0"/>
                  </a:moveTo>
                  <a:lnTo>
                    <a:pt x="16776" y="9716"/>
                  </a:lnTo>
                  <a:lnTo>
                    <a:pt x="29674" y="19433"/>
                  </a:lnTo>
                  <a:lnTo>
                    <a:pt x="42572" y="29149"/>
                  </a:lnTo>
                  <a:lnTo>
                    <a:pt x="55470" y="38865"/>
                  </a:lnTo>
                  <a:lnTo>
                    <a:pt x="68368" y="48582"/>
                  </a:lnTo>
                  <a:lnTo>
                    <a:pt x="81266" y="58298"/>
                  </a:lnTo>
                  <a:lnTo>
                    <a:pt x="67722" y="67091"/>
                  </a:lnTo>
                  <a:lnTo>
                    <a:pt x="54177" y="75885"/>
                  </a:lnTo>
                  <a:lnTo>
                    <a:pt x="40633" y="84678"/>
                  </a:lnTo>
                  <a:lnTo>
                    <a:pt x="27089" y="93471"/>
                  </a:lnTo>
                  <a:lnTo>
                    <a:pt x="13545" y="102264"/>
                  </a:lnTo>
                  <a:lnTo>
                    <a:pt x="0" y="111057"/>
                  </a:lnTo>
                </a:path>
              </a:pathLst>
            </a:custGeom>
            <a:noFill/>
            <a:ln w="23812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 rot="120000">
              <a:off x="9494502" y="1030305"/>
              <a:ext cx="348655" cy="179988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3E8E4E"/>
                  </a:solidFill>
                  <a:latin typeface="Patrick Hand"/>
                </a:rPr>
                <a:t>probe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 rot="120000">
              <a:off x="10459669" y="2048860"/>
              <a:ext cx="272025" cy="177662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3C78B4"/>
                  </a:solidFill>
                  <a:latin typeface="Patrick Hand"/>
                </a:rPr>
                <a:t>lens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66750" y="1009650"/>
            <a:ext cx="1129284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A7385"/>
                </a:solidFill>
                <a:latin typeface="Patrick Hand"/>
              </a:rPr>
              <a:t>Line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315343"/>
            <a:ext cx="8122920" cy="838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615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3C78B4"/>
                </a:solidFill>
                <a:latin typeface="Caveat"/>
              </a:rPr>
              <a:t>What can each readout see?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2571899"/>
            <a:ext cx="5038725" cy="952500"/>
          </a:xfrm>
          <a:prstGeom prst="roundRect">
            <a:avLst>
              <a:gd name="adj" fmla="val 14000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tIns="190500" rIns="247650" bIns="1905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14400" y="27640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small samples asked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19574"/>
            <a:ext cx="472516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Is J-Lens better than Vanilla? Is the fitted lens stable?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1225" y="2975074"/>
            <a:ext cx="29718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22304A">
                    <a:alpha val="80000"/>
                  </a:srgbClr>
                </a:solidFill>
                <a:latin typeface="Patrick Han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2725" y="2575024"/>
            <a:ext cx="4962525" cy="1181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772275" y="27259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385"/>
                </a:solidFill>
                <a:latin typeface="Patrick Hand"/>
              </a:rPr>
              <a:t>the full cohort answered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2984599"/>
            <a:ext cx="4725162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22304A"/>
                </a:solidFill>
                <a:latin typeface="Patrick Hand"/>
              </a:rPr>
              <a:t>Lenses read name shape earlier, not paper identity; a probe at the title token reads paper-specific information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3850" y="6467475"/>
            <a:ext cx="15849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23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91800" y="209550"/>
            <a:ext cx="135255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3 · Exp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Two lenses: Public-557 vs Self-100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Can a middle layer approximate the final next-token distribution? (20 generic + 20 paper prompts)</a:t>
            </a:r>
          </a:p>
        </p:txBody>
      </p:sp>
      <p:sp>
        <p:nvSpPr>
          <p:cNvPr id="6" name="Rectangle 5"/>
          <p:cNvSpPr/>
          <p:nvPr/>
        </p:nvSpPr>
        <p:spPr>
          <a:xfrm rot="21552000">
            <a:off x="666750" y="1541785"/>
            <a:ext cx="7048500" cy="262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59bdeda483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52000">
            <a:off x="760604" y="1637045"/>
            <a:ext cx="6858000" cy="2238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552000">
            <a:off x="796925" y="3912134"/>
            <a:ext cx="709422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KL(final ‖ readout), lower is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3102" y="1544538"/>
            <a:ext cx="362464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Both checkpoints numerically valid (63/63 and 6/6 finite)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3102" y="2242840"/>
            <a:ext cx="362464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Self-100 has lower KL on 6/6 generic and 5/6 paper layers (paper L32: 11.1 → 7.2)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3102" y="2939504"/>
            <a:ext cx="3624644" cy="933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F6A65A"/>
                </a:solidFill>
                <a:latin typeface="Patrick Hand"/>
              </a:rPr>
              <a:t>But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at paper L62, Self-100 KL beats Vanilla (0.58 vs 0.81) while Top-10 overlap is worse (0.36 vs 0.72)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3102" y="3950494"/>
            <a:ext cx="362464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Author pilot: both lenses 14/20 full-name wins at L48</a:t>
            </a:r>
          </a:p>
        </p:txBody>
      </p:sp>
      <p:sp>
        <p:nvSpPr>
          <p:cNvPr id="13" name="Rectangle 12"/>
          <p:cNvSpPr/>
          <p:nvPr/>
        </p:nvSpPr>
        <p:spPr>
          <a:xfrm rot="21540000">
            <a:off x="857250" y="5420767"/>
            <a:ext cx="6096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Lesson: a better distribution match does not mean better author ranking. Fidelity cannot stand in for the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24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82275" y="209550"/>
            <a:ext cx="13620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7.4 · Line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Cross-stage audit: does J-Lens add value?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Read-only joins of Stages 5–7.3; 20,000 bootstrap draws</a:t>
            </a:r>
          </a:p>
        </p:txBody>
      </p:sp>
      <p:sp>
        <p:nvSpPr>
          <p:cNvPr id="6" name="Rectangle 5"/>
          <p:cNvSpPr/>
          <p:nvPr/>
        </p:nvSpPr>
        <p:spPr>
          <a:xfrm rot="30000">
            <a:off x="666750" y="1543199"/>
            <a:ext cx="5905500" cy="1952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8b1aa5aacc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">
            <a:off x="762873" y="1638453"/>
            <a:ext cx="5715000" cy="1562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30000">
            <a:off x="774067" y="3238767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J-Lens minus Vanilla title advantage, with leave-one-out ranges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9900" y="1543050"/>
          <a:ext cx="4705350" cy="185737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504950"/>
                <a:gridCol w="3200400"/>
              </a:tblGrid>
              <a:tr h="61912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Stage 5 vs 7.3 at L56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r = 0.45, ρ = 0.47; signs agree 32/50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61912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J-Lens − Vanilla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F8A80"/>
                          </a:solidFill>
                          <a:latin typeface="Patrick Hand"/>
                        </a:rPr>
                        <a:t>+0.002 [−0.008, +0.012]; median −0.002; 24/50 positive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61912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A−B of that increment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−0.014 [−0.033, +0.004]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 rot="72000">
            <a:off x="857250" y="5123631"/>
            <a:ext cx="6667500" cy="11430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Dropping one paper can flip the sign of the J-Lens increment. The pilot shows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no added title-specific value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from J-Lens over Vanilla. Everything so far is exploratory: L56 was inspected repeatedly.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63375" y="6467475"/>
            <a:ext cx="148590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706100" y="209550"/>
            <a:ext cx="123825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9 · Line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Stage 9: is the lens stable across fitting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New FullFit protocol, different from the historical 50+50 split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6750" y="1544910"/>
          <a:ext cx="5695950" cy="18383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657225"/>
                <a:gridCol w="1676400"/>
                <a:gridCol w="336232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Historical split-half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Stage 9 FullFit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Fit data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Self-100 split 50 + 50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two disjoint 100-prompt sets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Holdout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20 generic + 20 paper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independent 100 WikiText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Layers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7 (adds L16)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AAB4C5"/>
                          </a:solidFill>
                          <a:latin typeface="Patrick Hand"/>
                        </a:rPr>
                        <a:t>Status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9ADB8F"/>
                          </a:solidFill>
                          <a:latin typeface="Patrick Hand"/>
                        </a:rPr>
                        <a:t>complete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only Fit A completed; Fit B and holdout not run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8852" y="3516809"/>
            <a:ext cx="63388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WikiText-103 train, 100–1,200 chars, deduplicated by hash, seed 3519001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52" y="3907185"/>
            <a:ext cx="633888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~324 s Jacobian time per prompt, ~62 GiB CPU RAM; per-prompt checkpoints</a:t>
            </a:r>
          </a:p>
        </p:txBody>
      </p:sp>
      <p:sp>
        <p:nvSpPr>
          <p:cNvPr id="9" name="Rectangle 8"/>
          <p:cNvSpPr/>
          <p:nvPr/>
        </p:nvSpPr>
        <p:spPr>
          <a:xfrm rot="42000">
            <a:off x="7048500" y="1544092"/>
            <a:ext cx="447675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10" name="chart image" descr="f8e977b617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">
            <a:off x="7144972" y="1639349"/>
            <a:ext cx="4286250" cy="1228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rot="42000">
            <a:off x="7155049" y="2907161"/>
            <a:ext cx="441960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Archived progress: Fit A 4/100, Fit B 0/100 at the time of writing</a:t>
            </a:r>
          </a:p>
        </p:txBody>
      </p:sp>
      <p:sp>
        <p:nvSpPr>
          <p:cNvPr id="12" name="Rectangle 11"/>
          <p:cNvSpPr/>
          <p:nvPr/>
        </p:nvSpPr>
        <p:spPr>
          <a:xfrm rot="72000">
            <a:off x="857250" y="5401717"/>
            <a:ext cx="62865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Only Fit A was finished, and Stage 10 used it as “fitA”. Without Fit B and the holdout, fitting stability is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untested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63375" y="6467475"/>
            <a:ext cx="148590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AAB4C5"/>
                </a:solidFill>
                <a:latin typeface="Patrick Hand"/>
              </a:rPr>
              <a:t>Stages 1–9 · 20–200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EEF1F5"/>
                </a:solidFill>
                <a:latin typeface="Caveat"/>
              </a:rPr>
              <a:t>What we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299716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Self-100 fits the final distribution better; author ranking not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994892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J-Lens − Vanilla ≈0 (7.4: +0.002; Stage 8: −1.4 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Stage 9: only Fit A fitted, stability not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A7385"/>
                </a:solidFill>
                <a:latin typeface="Patrick Hand"/>
              </a:rPr>
              <a:t>Stages 10–11 · 9,108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22304A"/>
                </a:solidFill>
                <a:latin typeface="Caveat"/>
              </a:rPr>
              <a:t>What scale showed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727" y="1299716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Jacobian lenses: top-10 rate 15–18% at L48 vs 1% for logit 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727" y="1994892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Extra title-specific signal only +0.01–0.03, not target-specific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727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At L62 the plain logit lens is best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727" y="2772519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Linear probe at the title token: +0.05 → +0.08 (re-checked), paper-specific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31</a:t>
            </a:r>
          </a:p>
        </p:txBody>
      </p:sp>
      <p:sp>
        <p:nvSpPr>
          <p:cNvPr id="16" name="Rectangle 15"/>
          <p:cNvSpPr/>
          <p:nvPr/>
        </p:nvSpPr>
        <p:spPr>
          <a:xfrm rot="21570000">
            <a:off x="1809750" y="5088359"/>
            <a:ext cx="8572500" cy="12192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Line B: the information is there, but not in a form the lenses read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Both phases agree: no lens reveals hidden paper knowledge in middle layers. Scale adds the positive side: a trained probe can decode it at the title, so the limit is the readout, not the absence of information.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01325" y="209550"/>
            <a:ext cx="13430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C</a:t>
            </a:r>
          </a:p>
        </p:txBody>
      </p:sp>
      <p:grpSp>
        <p:nvGrpSpPr>
          <p:cNvPr id="4" name="illustration"/>
          <p:cNvGrpSpPr/>
          <p:nvPr/>
        </p:nvGrpSpPr>
        <p:grpSpPr>
          <a:xfrm>
            <a:off x="9548134" y="608701"/>
            <a:ext cx="1900495" cy="1658515"/>
            <a:chOff x="9548134" y="608701"/>
            <a:chExt cx="1900495" cy="1658515"/>
          </a:xfrm>
        </p:grpSpPr>
        <p:sp>
          <p:nvSpPr>
            <p:cNvPr id="5" name="Freeform 4"/>
            <p:cNvSpPr/>
            <p:nvPr/>
          </p:nvSpPr>
          <p:spPr>
            <a:xfrm>
              <a:off x="9749052" y="639795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5"/>
                  </a:lnTo>
                  <a:lnTo>
                    <a:pt x="47448" y="39766"/>
                  </a:lnTo>
                  <a:lnTo>
                    <a:pt x="71172" y="38938"/>
                  </a:lnTo>
                  <a:lnTo>
                    <a:pt x="94896" y="38109"/>
                  </a:lnTo>
                  <a:lnTo>
                    <a:pt x="118620" y="37281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1" y="34795"/>
                  </a:lnTo>
                  <a:lnTo>
                    <a:pt x="213515" y="33967"/>
                  </a:lnTo>
                  <a:lnTo>
                    <a:pt x="237239" y="33138"/>
                  </a:lnTo>
                  <a:lnTo>
                    <a:pt x="260963" y="32310"/>
                  </a:lnTo>
                  <a:lnTo>
                    <a:pt x="284687" y="31482"/>
                  </a:lnTo>
                  <a:lnTo>
                    <a:pt x="308411" y="30653"/>
                  </a:lnTo>
                  <a:lnTo>
                    <a:pt x="332134" y="29825"/>
                  </a:lnTo>
                  <a:lnTo>
                    <a:pt x="355858" y="28996"/>
                  </a:lnTo>
                  <a:lnTo>
                    <a:pt x="379582" y="28168"/>
                  </a:lnTo>
                  <a:lnTo>
                    <a:pt x="403306" y="27339"/>
                  </a:lnTo>
                  <a:lnTo>
                    <a:pt x="427030" y="26511"/>
                  </a:lnTo>
                  <a:lnTo>
                    <a:pt x="450754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9" y="22369"/>
                  </a:lnTo>
                  <a:lnTo>
                    <a:pt x="569373" y="21540"/>
                  </a:lnTo>
                  <a:lnTo>
                    <a:pt x="593097" y="20712"/>
                  </a:lnTo>
                  <a:lnTo>
                    <a:pt x="616821" y="19883"/>
                  </a:lnTo>
                  <a:lnTo>
                    <a:pt x="640544" y="19055"/>
                  </a:lnTo>
                  <a:lnTo>
                    <a:pt x="664268" y="18226"/>
                  </a:lnTo>
                  <a:lnTo>
                    <a:pt x="687992" y="17398"/>
                  </a:lnTo>
                  <a:lnTo>
                    <a:pt x="711716" y="16569"/>
                  </a:lnTo>
                  <a:lnTo>
                    <a:pt x="735440" y="15741"/>
                  </a:lnTo>
                  <a:lnTo>
                    <a:pt x="759164" y="14912"/>
                  </a:lnTo>
                  <a:lnTo>
                    <a:pt x="782888" y="14084"/>
                  </a:lnTo>
                  <a:lnTo>
                    <a:pt x="806612" y="13256"/>
                  </a:lnTo>
                  <a:lnTo>
                    <a:pt x="830335" y="12427"/>
                  </a:lnTo>
                  <a:lnTo>
                    <a:pt x="854059" y="11599"/>
                  </a:lnTo>
                  <a:lnTo>
                    <a:pt x="877783" y="10770"/>
                  </a:lnTo>
                  <a:lnTo>
                    <a:pt x="901507" y="9942"/>
                  </a:lnTo>
                  <a:lnTo>
                    <a:pt x="925231" y="9113"/>
                  </a:lnTo>
                  <a:lnTo>
                    <a:pt x="948955" y="8285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4" y="4143"/>
                  </a:lnTo>
                  <a:lnTo>
                    <a:pt x="1091298" y="3314"/>
                  </a:lnTo>
                  <a:lnTo>
                    <a:pt x="1115022" y="2486"/>
                  </a:lnTo>
                  <a:lnTo>
                    <a:pt x="1138746" y="1657"/>
                  </a:lnTo>
                  <a:lnTo>
                    <a:pt x="1162469" y="829"/>
                  </a:lnTo>
                  <a:lnTo>
                    <a:pt x="1186193" y="0"/>
                  </a:lnTo>
                  <a:lnTo>
                    <a:pt x="1190599" y="19888"/>
                  </a:lnTo>
                  <a:lnTo>
                    <a:pt x="1191428" y="43612"/>
                  </a:lnTo>
                  <a:lnTo>
                    <a:pt x="1192256" y="67336"/>
                  </a:lnTo>
                  <a:lnTo>
                    <a:pt x="1180808" y="79612"/>
                  </a:lnTo>
                  <a:lnTo>
                    <a:pt x="1157084" y="80440"/>
                  </a:lnTo>
                  <a:lnTo>
                    <a:pt x="1133361" y="81269"/>
                  </a:lnTo>
                  <a:lnTo>
                    <a:pt x="1109637" y="82097"/>
                  </a:lnTo>
                  <a:lnTo>
                    <a:pt x="1085913" y="82926"/>
                  </a:lnTo>
                  <a:lnTo>
                    <a:pt x="1062189" y="83754"/>
                  </a:lnTo>
                  <a:lnTo>
                    <a:pt x="1038465" y="84583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4" y="87068"/>
                  </a:lnTo>
                  <a:lnTo>
                    <a:pt x="943570" y="87896"/>
                  </a:lnTo>
                  <a:lnTo>
                    <a:pt x="919846" y="88725"/>
                  </a:lnTo>
                  <a:lnTo>
                    <a:pt x="896122" y="89553"/>
                  </a:lnTo>
                  <a:lnTo>
                    <a:pt x="872398" y="90382"/>
                  </a:lnTo>
                  <a:lnTo>
                    <a:pt x="848674" y="91210"/>
                  </a:lnTo>
                  <a:lnTo>
                    <a:pt x="824950" y="92039"/>
                  </a:lnTo>
                  <a:lnTo>
                    <a:pt x="801227" y="92867"/>
                  </a:lnTo>
                  <a:lnTo>
                    <a:pt x="777503" y="93695"/>
                  </a:lnTo>
                  <a:lnTo>
                    <a:pt x="753779" y="94524"/>
                  </a:lnTo>
                  <a:lnTo>
                    <a:pt x="730055" y="95352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8"/>
                  </a:lnTo>
                  <a:lnTo>
                    <a:pt x="635160" y="98666"/>
                  </a:lnTo>
                  <a:lnTo>
                    <a:pt x="611436" y="99495"/>
                  </a:lnTo>
                  <a:lnTo>
                    <a:pt x="587712" y="100323"/>
                  </a:lnTo>
                  <a:lnTo>
                    <a:pt x="563988" y="101152"/>
                  </a:lnTo>
                  <a:lnTo>
                    <a:pt x="540264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3" y="104465"/>
                  </a:lnTo>
                  <a:lnTo>
                    <a:pt x="445369" y="105294"/>
                  </a:lnTo>
                  <a:lnTo>
                    <a:pt x="421645" y="106122"/>
                  </a:lnTo>
                  <a:lnTo>
                    <a:pt x="397921" y="106951"/>
                  </a:lnTo>
                  <a:lnTo>
                    <a:pt x="374197" y="107779"/>
                  </a:lnTo>
                  <a:lnTo>
                    <a:pt x="350473" y="108608"/>
                  </a:lnTo>
                  <a:lnTo>
                    <a:pt x="326749" y="109436"/>
                  </a:lnTo>
                  <a:lnTo>
                    <a:pt x="303026" y="110265"/>
                  </a:lnTo>
                  <a:lnTo>
                    <a:pt x="279302" y="111093"/>
                  </a:lnTo>
                  <a:lnTo>
                    <a:pt x="255578" y="111921"/>
                  </a:lnTo>
                  <a:lnTo>
                    <a:pt x="231854" y="112750"/>
                  </a:lnTo>
                  <a:lnTo>
                    <a:pt x="208130" y="113578"/>
                  </a:lnTo>
                  <a:lnTo>
                    <a:pt x="184406" y="114407"/>
                  </a:lnTo>
                  <a:lnTo>
                    <a:pt x="160683" y="115235"/>
                  </a:lnTo>
                  <a:lnTo>
                    <a:pt x="136959" y="116064"/>
                  </a:lnTo>
                  <a:lnTo>
                    <a:pt x="113235" y="116892"/>
                  </a:lnTo>
                  <a:lnTo>
                    <a:pt x="89511" y="117721"/>
                  </a:lnTo>
                  <a:lnTo>
                    <a:pt x="65787" y="118549"/>
                  </a:lnTo>
                  <a:lnTo>
                    <a:pt x="42063" y="119378"/>
                  </a:lnTo>
                  <a:lnTo>
                    <a:pt x="18339" y="120206"/>
                  </a:lnTo>
                  <a:lnTo>
                    <a:pt x="2486" y="112595"/>
                  </a:lnTo>
                  <a:lnTo>
                    <a:pt x="1657" y="88871"/>
                  </a:lnTo>
                  <a:lnTo>
                    <a:pt x="829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D977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752931" y="750853"/>
              <a:ext cx="1192255" cy="120205"/>
            </a:xfrm>
            <a:custGeom>
              <a:avLst/>
              <a:gdLst/>
              <a:ahLst/>
              <a:cxnLst/>
              <a:rect l="l" t="t" r="r" b="b"/>
              <a:pathLst>
                <a:path w="1192255" h="120205">
                  <a:moveTo>
                    <a:pt x="0" y="41422"/>
                  </a:moveTo>
                  <a:lnTo>
                    <a:pt x="23723" y="40594"/>
                  </a:lnTo>
                  <a:lnTo>
                    <a:pt x="47447" y="39765"/>
                  </a:lnTo>
                  <a:lnTo>
                    <a:pt x="71171" y="38937"/>
                  </a:lnTo>
                  <a:lnTo>
                    <a:pt x="94895" y="38109"/>
                  </a:lnTo>
                  <a:lnTo>
                    <a:pt x="118619" y="37280"/>
                  </a:lnTo>
                  <a:lnTo>
                    <a:pt x="142343" y="36452"/>
                  </a:lnTo>
                  <a:lnTo>
                    <a:pt x="166067" y="35623"/>
                  </a:lnTo>
                  <a:lnTo>
                    <a:pt x="189790" y="34795"/>
                  </a:lnTo>
                  <a:lnTo>
                    <a:pt x="213514" y="33966"/>
                  </a:lnTo>
                  <a:lnTo>
                    <a:pt x="237238" y="33138"/>
                  </a:lnTo>
                  <a:lnTo>
                    <a:pt x="260962" y="32309"/>
                  </a:lnTo>
                  <a:lnTo>
                    <a:pt x="284686" y="31481"/>
                  </a:lnTo>
                  <a:lnTo>
                    <a:pt x="308410" y="30652"/>
                  </a:lnTo>
                  <a:lnTo>
                    <a:pt x="332134" y="29824"/>
                  </a:lnTo>
                  <a:lnTo>
                    <a:pt x="355857" y="28996"/>
                  </a:lnTo>
                  <a:lnTo>
                    <a:pt x="379581" y="28167"/>
                  </a:lnTo>
                  <a:lnTo>
                    <a:pt x="403305" y="27339"/>
                  </a:lnTo>
                  <a:lnTo>
                    <a:pt x="427029" y="26510"/>
                  </a:lnTo>
                  <a:lnTo>
                    <a:pt x="450753" y="25682"/>
                  </a:lnTo>
                  <a:lnTo>
                    <a:pt x="474477" y="24853"/>
                  </a:lnTo>
                  <a:lnTo>
                    <a:pt x="498201" y="24025"/>
                  </a:lnTo>
                  <a:lnTo>
                    <a:pt x="521924" y="23196"/>
                  </a:lnTo>
                  <a:lnTo>
                    <a:pt x="545648" y="22368"/>
                  </a:lnTo>
                  <a:lnTo>
                    <a:pt x="569372" y="21539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1" y="17397"/>
                  </a:lnTo>
                  <a:lnTo>
                    <a:pt x="711715" y="16569"/>
                  </a:lnTo>
                  <a:lnTo>
                    <a:pt x="735439" y="15740"/>
                  </a:lnTo>
                  <a:lnTo>
                    <a:pt x="759163" y="14912"/>
                  </a:lnTo>
                  <a:lnTo>
                    <a:pt x="782887" y="14083"/>
                  </a:lnTo>
                  <a:lnTo>
                    <a:pt x="806611" y="13255"/>
                  </a:lnTo>
                  <a:lnTo>
                    <a:pt x="830335" y="12426"/>
                  </a:lnTo>
                  <a:lnTo>
                    <a:pt x="854058" y="11598"/>
                  </a:lnTo>
                  <a:lnTo>
                    <a:pt x="877782" y="10769"/>
                  </a:lnTo>
                  <a:lnTo>
                    <a:pt x="901506" y="9941"/>
                  </a:lnTo>
                  <a:lnTo>
                    <a:pt x="925230" y="9113"/>
                  </a:lnTo>
                  <a:lnTo>
                    <a:pt x="948954" y="8284"/>
                  </a:lnTo>
                  <a:lnTo>
                    <a:pt x="972678" y="7456"/>
                  </a:lnTo>
                  <a:lnTo>
                    <a:pt x="996402" y="6627"/>
                  </a:lnTo>
                  <a:lnTo>
                    <a:pt x="1020125" y="5799"/>
                  </a:lnTo>
                  <a:lnTo>
                    <a:pt x="1043849" y="4970"/>
                  </a:lnTo>
                  <a:lnTo>
                    <a:pt x="1067573" y="4142"/>
                  </a:lnTo>
                  <a:lnTo>
                    <a:pt x="1091297" y="3313"/>
                  </a:lnTo>
                  <a:lnTo>
                    <a:pt x="1115021" y="2485"/>
                  </a:lnTo>
                  <a:lnTo>
                    <a:pt x="1138745" y="1656"/>
                  </a:lnTo>
                  <a:lnTo>
                    <a:pt x="1162469" y="828"/>
                  </a:lnTo>
                  <a:lnTo>
                    <a:pt x="1186192" y="0"/>
                  </a:lnTo>
                  <a:lnTo>
                    <a:pt x="1190598" y="19887"/>
                  </a:lnTo>
                  <a:lnTo>
                    <a:pt x="1191427" y="43611"/>
                  </a:lnTo>
                  <a:lnTo>
                    <a:pt x="1192255" y="67335"/>
                  </a:lnTo>
                  <a:lnTo>
                    <a:pt x="1180807" y="79611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6" y="82096"/>
                  </a:lnTo>
                  <a:lnTo>
                    <a:pt x="1085912" y="82925"/>
                  </a:lnTo>
                  <a:lnTo>
                    <a:pt x="1062188" y="83753"/>
                  </a:lnTo>
                  <a:lnTo>
                    <a:pt x="1038464" y="84582"/>
                  </a:lnTo>
                  <a:lnTo>
                    <a:pt x="1014741" y="85410"/>
                  </a:lnTo>
                  <a:lnTo>
                    <a:pt x="991017" y="86239"/>
                  </a:lnTo>
                  <a:lnTo>
                    <a:pt x="967293" y="87067"/>
                  </a:lnTo>
                  <a:lnTo>
                    <a:pt x="943569" y="87896"/>
                  </a:lnTo>
                  <a:lnTo>
                    <a:pt x="919845" y="88724"/>
                  </a:lnTo>
                  <a:lnTo>
                    <a:pt x="896121" y="89553"/>
                  </a:lnTo>
                  <a:lnTo>
                    <a:pt x="872397" y="90381"/>
                  </a:lnTo>
                  <a:lnTo>
                    <a:pt x="848673" y="91209"/>
                  </a:lnTo>
                  <a:lnTo>
                    <a:pt x="824950" y="92038"/>
                  </a:lnTo>
                  <a:lnTo>
                    <a:pt x="801226" y="92866"/>
                  </a:lnTo>
                  <a:lnTo>
                    <a:pt x="777502" y="93695"/>
                  </a:lnTo>
                  <a:lnTo>
                    <a:pt x="753778" y="94523"/>
                  </a:lnTo>
                  <a:lnTo>
                    <a:pt x="730054" y="95352"/>
                  </a:lnTo>
                  <a:lnTo>
                    <a:pt x="706330" y="96180"/>
                  </a:lnTo>
                  <a:lnTo>
                    <a:pt x="682606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5" y="99494"/>
                  </a:lnTo>
                  <a:lnTo>
                    <a:pt x="587711" y="100322"/>
                  </a:lnTo>
                  <a:lnTo>
                    <a:pt x="563987" y="101151"/>
                  </a:lnTo>
                  <a:lnTo>
                    <a:pt x="540263" y="101979"/>
                  </a:lnTo>
                  <a:lnTo>
                    <a:pt x="516539" y="102808"/>
                  </a:lnTo>
                  <a:lnTo>
                    <a:pt x="492816" y="103636"/>
                  </a:lnTo>
                  <a:lnTo>
                    <a:pt x="469092" y="104465"/>
                  </a:lnTo>
                  <a:lnTo>
                    <a:pt x="445368" y="105293"/>
                  </a:lnTo>
                  <a:lnTo>
                    <a:pt x="421644" y="106122"/>
                  </a:lnTo>
                  <a:lnTo>
                    <a:pt x="397920" y="106950"/>
                  </a:lnTo>
                  <a:lnTo>
                    <a:pt x="374196" y="107779"/>
                  </a:lnTo>
                  <a:lnTo>
                    <a:pt x="350473" y="108607"/>
                  </a:lnTo>
                  <a:lnTo>
                    <a:pt x="326749" y="109435"/>
                  </a:lnTo>
                  <a:lnTo>
                    <a:pt x="303025" y="110264"/>
                  </a:lnTo>
                  <a:lnTo>
                    <a:pt x="279301" y="111092"/>
                  </a:lnTo>
                  <a:lnTo>
                    <a:pt x="255577" y="111921"/>
                  </a:lnTo>
                  <a:lnTo>
                    <a:pt x="231853" y="112749"/>
                  </a:lnTo>
                  <a:lnTo>
                    <a:pt x="208129" y="113578"/>
                  </a:lnTo>
                  <a:lnTo>
                    <a:pt x="184405" y="114406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4" y="116891"/>
                  </a:lnTo>
                  <a:lnTo>
                    <a:pt x="89510" y="117720"/>
                  </a:lnTo>
                  <a:lnTo>
                    <a:pt x="65786" y="118548"/>
                  </a:lnTo>
                  <a:lnTo>
                    <a:pt x="42062" y="119377"/>
                  </a:lnTo>
                  <a:lnTo>
                    <a:pt x="18338" y="120205"/>
                  </a:lnTo>
                  <a:lnTo>
                    <a:pt x="2485" y="112594"/>
                  </a:lnTo>
                  <a:lnTo>
                    <a:pt x="1656" y="88870"/>
                  </a:lnTo>
                  <a:lnTo>
                    <a:pt x="828" y="65146"/>
                  </a:lnTo>
                  <a:lnTo>
                    <a:pt x="0" y="41422"/>
                  </a:lnTo>
                  <a:close/>
                </a:path>
              </a:pathLst>
            </a:custGeom>
            <a:solidFill>
              <a:srgbClr val="D977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9756809" y="861910"/>
              <a:ext cx="1192255" cy="120206"/>
            </a:xfrm>
            <a:custGeom>
              <a:avLst/>
              <a:gdLst/>
              <a:ahLst/>
              <a:cxnLst/>
              <a:rect l="l" t="t" r="r" b="b"/>
              <a:pathLst>
                <a:path w="1192255" h="120206">
                  <a:moveTo>
                    <a:pt x="0" y="41423"/>
                  </a:moveTo>
                  <a:lnTo>
                    <a:pt x="23724" y="40594"/>
                  </a:lnTo>
                  <a:lnTo>
                    <a:pt x="47447" y="39766"/>
                  </a:lnTo>
                  <a:lnTo>
                    <a:pt x="71171" y="38937"/>
                  </a:lnTo>
                  <a:lnTo>
                    <a:pt x="94895" y="38109"/>
                  </a:lnTo>
                  <a:lnTo>
                    <a:pt x="118619" y="37280"/>
                  </a:lnTo>
                  <a:lnTo>
                    <a:pt x="142343" y="36452"/>
                  </a:lnTo>
                  <a:lnTo>
                    <a:pt x="166067" y="35623"/>
                  </a:lnTo>
                  <a:lnTo>
                    <a:pt x="189791" y="34795"/>
                  </a:lnTo>
                  <a:lnTo>
                    <a:pt x="213514" y="33967"/>
                  </a:lnTo>
                  <a:lnTo>
                    <a:pt x="237238" y="33138"/>
                  </a:lnTo>
                  <a:lnTo>
                    <a:pt x="260962" y="32310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1" y="28167"/>
                  </a:lnTo>
                  <a:lnTo>
                    <a:pt x="403305" y="27339"/>
                  </a:lnTo>
                  <a:lnTo>
                    <a:pt x="427029" y="26510"/>
                  </a:lnTo>
                  <a:lnTo>
                    <a:pt x="450753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8" y="22368"/>
                  </a:lnTo>
                  <a:lnTo>
                    <a:pt x="569372" y="21540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2" y="17397"/>
                  </a:lnTo>
                  <a:lnTo>
                    <a:pt x="711716" y="16569"/>
                  </a:lnTo>
                  <a:lnTo>
                    <a:pt x="735439" y="15741"/>
                  </a:lnTo>
                  <a:lnTo>
                    <a:pt x="759163" y="14912"/>
                  </a:lnTo>
                  <a:lnTo>
                    <a:pt x="782887" y="14084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9" y="11598"/>
                  </a:lnTo>
                  <a:lnTo>
                    <a:pt x="877782" y="10770"/>
                  </a:lnTo>
                  <a:lnTo>
                    <a:pt x="901506" y="9941"/>
                  </a:lnTo>
                  <a:lnTo>
                    <a:pt x="925230" y="9113"/>
                  </a:lnTo>
                  <a:lnTo>
                    <a:pt x="948954" y="8284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3" y="4142"/>
                  </a:lnTo>
                  <a:lnTo>
                    <a:pt x="1091297" y="3314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8"/>
                  </a:lnTo>
                  <a:lnTo>
                    <a:pt x="1186193" y="0"/>
                  </a:lnTo>
                  <a:lnTo>
                    <a:pt x="1190598" y="19887"/>
                  </a:lnTo>
                  <a:lnTo>
                    <a:pt x="1191427" y="43611"/>
                  </a:lnTo>
                  <a:lnTo>
                    <a:pt x="1192255" y="67335"/>
                  </a:lnTo>
                  <a:lnTo>
                    <a:pt x="1180808" y="79611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6" y="82097"/>
                  </a:lnTo>
                  <a:lnTo>
                    <a:pt x="1085912" y="82925"/>
                  </a:lnTo>
                  <a:lnTo>
                    <a:pt x="1062188" y="83754"/>
                  </a:lnTo>
                  <a:lnTo>
                    <a:pt x="1038465" y="84582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3" y="87067"/>
                  </a:lnTo>
                  <a:lnTo>
                    <a:pt x="943569" y="87896"/>
                  </a:lnTo>
                  <a:lnTo>
                    <a:pt x="919845" y="88724"/>
                  </a:lnTo>
                  <a:lnTo>
                    <a:pt x="896121" y="89553"/>
                  </a:lnTo>
                  <a:lnTo>
                    <a:pt x="872398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6" y="92867"/>
                  </a:lnTo>
                  <a:lnTo>
                    <a:pt x="777502" y="93695"/>
                  </a:lnTo>
                  <a:lnTo>
                    <a:pt x="753778" y="94524"/>
                  </a:lnTo>
                  <a:lnTo>
                    <a:pt x="730054" y="95352"/>
                  </a:lnTo>
                  <a:lnTo>
                    <a:pt x="706331" y="96180"/>
                  </a:lnTo>
                  <a:lnTo>
                    <a:pt x="682607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5" y="99494"/>
                  </a:lnTo>
                  <a:lnTo>
                    <a:pt x="587711" y="100323"/>
                  </a:lnTo>
                  <a:lnTo>
                    <a:pt x="563987" y="101151"/>
                  </a:lnTo>
                  <a:lnTo>
                    <a:pt x="540263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8" y="105293"/>
                  </a:lnTo>
                  <a:lnTo>
                    <a:pt x="421644" y="106122"/>
                  </a:lnTo>
                  <a:lnTo>
                    <a:pt x="397920" y="106950"/>
                  </a:lnTo>
                  <a:lnTo>
                    <a:pt x="374196" y="107779"/>
                  </a:lnTo>
                  <a:lnTo>
                    <a:pt x="350473" y="108607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3"/>
                  </a:lnTo>
                  <a:lnTo>
                    <a:pt x="255577" y="111921"/>
                  </a:lnTo>
                  <a:lnTo>
                    <a:pt x="231853" y="112750"/>
                  </a:lnTo>
                  <a:lnTo>
                    <a:pt x="208130" y="113578"/>
                  </a:lnTo>
                  <a:lnTo>
                    <a:pt x="184406" y="114406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4" y="116892"/>
                  </a:lnTo>
                  <a:lnTo>
                    <a:pt x="89510" y="117720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6"/>
                  </a:lnTo>
                  <a:lnTo>
                    <a:pt x="2485" y="112594"/>
                  </a:lnTo>
                  <a:lnTo>
                    <a:pt x="1657" y="88870"/>
                  </a:lnTo>
                  <a:lnTo>
                    <a:pt x="828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D9772B">
                <a:alpha val="5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760687" y="972967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4"/>
                  </a:lnTo>
                  <a:lnTo>
                    <a:pt x="47448" y="39766"/>
                  </a:lnTo>
                  <a:lnTo>
                    <a:pt x="71172" y="38938"/>
                  </a:lnTo>
                  <a:lnTo>
                    <a:pt x="94895" y="38109"/>
                  </a:lnTo>
                  <a:lnTo>
                    <a:pt x="118619" y="37281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1" y="34795"/>
                  </a:lnTo>
                  <a:lnTo>
                    <a:pt x="213515" y="33967"/>
                  </a:lnTo>
                  <a:lnTo>
                    <a:pt x="237239" y="33138"/>
                  </a:lnTo>
                  <a:lnTo>
                    <a:pt x="260962" y="32310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5"/>
                  </a:lnTo>
                  <a:lnTo>
                    <a:pt x="355858" y="28996"/>
                  </a:lnTo>
                  <a:lnTo>
                    <a:pt x="379582" y="28168"/>
                  </a:lnTo>
                  <a:lnTo>
                    <a:pt x="403306" y="27339"/>
                  </a:lnTo>
                  <a:lnTo>
                    <a:pt x="427029" y="26511"/>
                  </a:lnTo>
                  <a:lnTo>
                    <a:pt x="450753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9" y="22368"/>
                  </a:lnTo>
                  <a:lnTo>
                    <a:pt x="569373" y="21540"/>
                  </a:lnTo>
                  <a:lnTo>
                    <a:pt x="593096" y="20712"/>
                  </a:lnTo>
                  <a:lnTo>
                    <a:pt x="616820" y="19883"/>
                  </a:lnTo>
                  <a:lnTo>
                    <a:pt x="640544" y="19055"/>
                  </a:lnTo>
                  <a:lnTo>
                    <a:pt x="664268" y="18226"/>
                  </a:lnTo>
                  <a:lnTo>
                    <a:pt x="687992" y="17398"/>
                  </a:lnTo>
                  <a:lnTo>
                    <a:pt x="711716" y="16569"/>
                  </a:lnTo>
                  <a:lnTo>
                    <a:pt x="735440" y="15741"/>
                  </a:lnTo>
                  <a:lnTo>
                    <a:pt x="759163" y="14912"/>
                  </a:lnTo>
                  <a:lnTo>
                    <a:pt x="782887" y="14084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9" y="11599"/>
                  </a:lnTo>
                  <a:lnTo>
                    <a:pt x="877783" y="10770"/>
                  </a:lnTo>
                  <a:lnTo>
                    <a:pt x="901507" y="9942"/>
                  </a:lnTo>
                  <a:lnTo>
                    <a:pt x="925230" y="9113"/>
                  </a:lnTo>
                  <a:lnTo>
                    <a:pt x="948954" y="8285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4" y="4142"/>
                  </a:lnTo>
                  <a:lnTo>
                    <a:pt x="1091297" y="3314"/>
                  </a:lnTo>
                  <a:lnTo>
                    <a:pt x="1115021" y="2486"/>
                  </a:lnTo>
                  <a:lnTo>
                    <a:pt x="1138745" y="1657"/>
                  </a:lnTo>
                  <a:lnTo>
                    <a:pt x="1162469" y="829"/>
                  </a:lnTo>
                  <a:lnTo>
                    <a:pt x="1186193" y="0"/>
                  </a:lnTo>
                  <a:lnTo>
                    <a:pt x="1190599" y="19888"/>
                  </a:lnTo>
                  <a:lnTo>
                    <a:pt x="1191427" y="43612"/>
                  </a:lnTo>
                  <a:lnTo>
                    <a:pt x="1192256" y="67335"/>
                  </a:lnTo>
                  <a:lnTo>
                    <a:pt x="1180808" y="79612"/>
                  </a:lnTo>
                  <a:lnTo>
                    <a:pt x="1157084" y="80440"/>
                  </a:lnTo>
                  <a:lnTo>
                    <a:pt x="1133360" y="81269"/>
                  </a:lnTo>
                  <a:lnTo>
                    <a:pt x="1109636" y="82097"/>
                  </a:lnTo>
                  <a:lnTo>
                    <a:pt x="1085912" y="82926"/>
                  </a:lnTo>
                  <a:lnTo>
                    <a:pt x="1062189" y="83754"/>
                  </a:lnTo>
                  <a:lnTo>
                    <a:pt x="1038465" y="84582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3" y="87068"/>
                  </a:lnTo>
                  <a:lnTo>
                    <a:pt x="943569" y="87896"/>
                  </a:lnTo>
                  <a:lnTo>
                    <a:pt x="919846" y="88725"/>
                  </a:lnTo>
                  <a:lnTo>
                    <a:pt x="896122" y="89553"/>
                  </a:lnTo>
                  <a:lnTo>
                    <a:pt x="872398" y="90382"/>
                  </a:lnTo>
                  <a:lnTo>
                    <a:pt x="848674" y="91210"/>
                  </a:lnTo>
                  <a:lnTo>
                    <a:pt x="824950" y="92039"/>
                  </a:lnTo>
                  <a:lnTo>
                    <a:pt x="801226" y="92867"/>
                  </a:lnTo>
                  <a:lnTo>
                    <a:pt x="777502" y="93695"/>
                  </a:lnTo>
                  <a:lnTo>
                    <a:pt x="753778" y="94524"/>
                  </a:lnTo>
                  <a:lnTo>
                    <a:pt x="730055" y="95352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8"/>
                  </a:lnTo>
                  <a:lnTo>
                    <a:pt x="635159" y="98666"/>
                  </a:lnTo>
                  <a:lnTo>
                    <a:pt x="611435" y="99495"/>
                  </a:lnTo>
                  <a:lnTo>
                    <a:pt x="587711" y="100323"/>
                  </a:lnTo>
                  <a:lnTo>
                    <a:pt x="563988" y="101152"/>
                  </a:lnTo>
                  <a:lnTo>
                    <a:pt x="540264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8" y="105294"/>
                  </a:lnTo>
                  <a:lnTo>
                    <a:pt x="421644" y="106122"/>
                  </a:lnTo>
                  <a:lnTo>
                    <a:pt x="397921" y="106951"/>
                  </a:lnTo>
                  <a:lnTo>
                    <a:pt x="374197" y="107779"/>
                  </a:lnTo>
                  <a:lnTo>
                    <a:pt x="350473" y="108608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3"/>
                  </a:lnTo>
                  <a:lnTo>
                    <a:pt x="255578" y="111921"/>
                  </a:lnTo>
                  <a:lnTo>
                    <a:pt x="231854" y="112750"/>
                  </a:lnTo>
                  <a:lnTo>
                    <a:pt x="208130" y="113578"/>
                  </a:lnTo>
                  <a:lnTo>
                    <a:pt x="184406" y="114407"/>
                  </a:lnTo>
                  <a:lnTo>
                    <a:pt x="160682" y="115235"/>
                  </a:lnTo>
                  <a:lnTo>
                    <a:pt x="136958" y="116064"/>
                  </a:lnTo>
                  <a:lnTo>
                    <a:pt x="113234" y="116892"/>
                  </a:lnTo>
                  <a:lnTo>
                    <a:pt x="89510" y="117721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6"/>
                  </a:lnTo>
                  <a:lnTo>
                    <a:pt x="2485" y="112594"/>
                  </a:lnTo>
                  <a:lnTo>
                    <a:pt x="1657" y="88871"/>
                  </a:lnTo>
                  <a:lnTo>
                    <a:pt x="828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9764565" y="1084024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5"/>
                  </a:lnTo>
                  <a:lnTo>
                    <a:pt x="47448" y="39766"/>
                  </a:lnTo>
                  <a:lnTo>
                    <a:pt x="71172" y="38938"/>
                  </a:lnTo>
                  <a:lnTo>
                    <a:pt x="94896" y="38109"/>
                  </a:lnTo>
                  <a:lnTo>
                    <a:pt x="118620" y="37281"/>
                  </a:lnTo>
                  <a:lnTo>
                    <a:pt x="142343" y="36453"/>
                  </a:lnTo>
                  <a:lnTo>
                    <a:pt x="166067" y="35624"/>
                  </a:lnTo>
                  <a:lnTo>
                    <a:pt x="189791" y="34796"/>
                  </a:lnTo>
                  <a:lnTo>
                    <a:pt x="213515" y="33967"/>
                  </a:lnTo>
                  <a:lnTo>
                    <a:pt x="237239" y="33139"/>
                  </a:lnTo>
                  <a:lnTo>
                    <a:pt x="260963" y="32310"/>
                  </a:lnTo>
                  <a:lnTo>
                    <a:pt x="284686" y="31482"/>
                  </a:lnTo>
                  <a:lnTo>
                    <a:pt x="308410" y="30653"/>
                  </a:lnTo>
                  <a:lnTo>
                    <a:pt x="332134" y="29825"/>
                  </a:lnTo>
                  <a:lnTo>
                    <a:pt x="355858" y="28996"/>
                  </a:lnTo>
                  <a:lnTo>
                    <a:pt x="379582" y="28168"/>
                  </a:lnTo>
                  <a:lnTo>
                    <a:pt x="403306" y="27340"/>
                  </a:lnTo>
                  <a:lnTo>
                    <a:pt x="427030" y="26511"/>
                  </a:lnTo>
                  <a:lnTo>
                    <a:pt x="450753" y="25683"/>
                  </a:lnTo>
                  <a:lnTo>
                    <a:pt x="474477" y="24854"/>
                  </a:lnTo>
                  <a:lnTo>
                    <a:pt x="498201" y="24026"/>
                  </a:lnTo>
                  <a:lnTo>
                    <a:pt x="521925" y="23197"/>
                  </a:lnTo>
                  <a:lnTo>
                    <a:pt x="545649" y="22369"/>
                  </a:lnTo>
                  <a:lnTo>
                    <a:pt x="569373" y="21540"/>
                  </a:lnTo>
                  <a:lnTo>
                    <a:pt x="593097" y="20712"/>
                  </a:lnTo>
                  <a:lnTo>
                    <a:pt x="616820" y="19883"/>
                  </a:lnTo>
                  <a:lnTo>
                    <a:pt x="640544" y="19055"/>
                  </a:lnTo>
                  <a:lnTo>
                    <a:pt x="664268" y="18227"/>
                  </a:lnTo>
                  <a:lnTo>
                    <a:pt x="687992" y="17398"/>
                  </a:lnTo>
                  <a:lnTo>
                    <a:pt x="711716" y="16570"/>
                  </a:lnTo>
                  <a:lnTo>
                    <a:pt x="735440" y="15741"/>
                  </a:lnTo>
                  <a:lnTo>
                    <a:pt x="759164" y="14913"/>
                  </a:lnTo>
                  <a:lnTo>
                    <a:pt x="782887" y="14084"/>
                  </a:lnTo>
                  <a:lnTo>
                    <a:pt x="806611" y="13256"/>
                  </a:lnTo>
                  <a:lnTo>
                    <a:pt x="830335" y="12427"/>
                  </a:lnTo>
                  <a:lnTo>
                    <a:pt x="854059" y="11599"/>
                  </a:lnTo>
                  <a:lnTo>
                    <a:pt x="877783" y="10770"/>
                  </a:lnTo>
                  <a:lnTo>
                    <a:pt x="901507" y="9942"/>
                  </a:lnTo>
                  <a:lnTo>
                    <a:pt x="925231" y="9114"/>
                  </a:lnTo>
                  <a:lnTo>
                    <a:pt x="948954" y="8285"/>
                  </a:lnTo>
                  <a:lnTo>
                    <a:pt x="972678" y="7457"/>
                  </a:lnTo>
                  <a:lnTo>
                    <a:pt x="996402" y="6628"/>
                  </a:lnTo>
                  <a:lnTo>
                    <a:pt x="1020126" y="5800"/>
                  </a:lnTo>
                  <a:lnTo>
                    <a:pt x="1043850" y="4971"/>
                  </a:lnTo>
                  <a:lnTo>
                    <a:pt x="1067574" y="4143"/>
                  </a:lnTo>
                  <a:lnTo>
                    <a:pt x="1091298" y="3314"/>
                  </a:lnTo>
                  <a:lnTo>
                    <a:pt x="1115021" y="2486"/>
                  </a:lnTo>
                  <a:lnTo>
                    <a:pt x="1138745" y="1657"/>
                  </a:lnTo>
                  <a:lnTo>
                    <a:pt x="1162469" y="829"/>
                  </a:lnTo>
                  <a:lnTo>
                    <a:pt x="1186193" y="0"/>
                  </a:lnTo>
                  <a:lnTo>
                    <a:pt x="1190599" y="19888"/>
                  </a:lnTo>
                  <a:lnTo>
                    <a:pt x="1191427" y="43612"/>
                  </a:lnTo>
                  <a:lnTo>
                    <a:pt x="1192256" y="67336"/>
                  </a:lnTo>
                  <a:lnTo>
                    <a:pt x="1180808" y="79612"/>
                  </a:lnTo>
                  <a:lnTo>
                    <a:pt x="1157084" y="80440"/>
                  </a:lnTo>
                  <a:lnTo>
                    <a:pt x="1133360" y="81269"/>
                  </a:lnTo>
                  <a:lnTo>
                    <a:pt x="1109637" y="82097"/>
                  </a:lnTo>
                  <a:lnTo>
                    <a:pt x="1085913" y="82926"/>
                  </a:lnTo>
                  <a:lnTo>
                    <a:pt x="1062189" y="83754"/>
                  </a:lnTo>
                  <a:lnTo>
                    <a:pt x="1038465" y="84583"/>
                  </a:lnTo>
                  <a:lnTo>
                    <a:pt x="1014741" y="85411"/>
                  </a:lnTo>
                  <a:lnTo>
                    <a:pt x="991017" y="86240"/>
                  </a:lnTo>
                  <a:lnTo>
                    <a:pt x="967293" y="87068"/>
                  </a:lnTo>
                  <a:lnTo>
                    <a:pt x="943570" y="87897"/>
                  </a:lnTo>
                  <a:lnTo>
                    <a:pt x="919846" y="88725"/>
                  </a:lnTo>
                  <a:lnTo>
                    <a:pt x="896122" y="89553"/>
                  </a:lnTo>
                  <a:lnTo>
                    <a:pt x="872398" y="90382"/>
                  </a:lnTo>
                  <a:lnTo>
                    <a:pt x="848674" y="91210"/>
                  </a:lnTo>
                  <a:lnTo>
                    <a:pt x="824950" y="92039"/>
                  </a:lnTo>
                  <a:lnTo>
                    <a:pt x="801226" y="92867"/>
                  </a:lnTo>
                  <a:lnTo>
                    <a:pt x="777503" y="93696"/>
                  </a:lnTo>
                  <a:lnTo>
                    <a:pt x="753779" y="94524"/>
                  </a:lnTo>
                  <a:lnTo>
                    <a:pt x="730055" y="95353"/>
                  </a:lnTo>
                  <a:lnTo>
                    <a:pt x="706331" y="96181"/>
                  </a:lnTo>
                  <a:lnTo>
                    <a:pt x="682607" y="97010"/>
                  </a:lnTo>
                  <a:lnTo>
                    <a:pt x="658883" y="97838"/>
                  </a:lnTo>
                  <a:lnTo>
                    <a:pt x="635159" y="98666"/>
                  </a:lnTo>
                  <a:lnTo>
                    <a:pt x="611436" y="99495"/>
                  </a:lnTo>
                  <a:lnTo>
                    <a:pt x="587712" y="100323"/>
                  </a:lnTo>
                  <a:lnTo>
                    <a:pt x="563988" y="101152"/>
                  </a:lnTo>
                  <a:lnTo>
                    <a:pt x="540264" y="101980"/>
                  </a:lnTo>
                  <a:lnTo>
                    <a:pt x="516540" y="102809"/>
                  </a:lnTo>
                  <a:lnTo>
                    <a:pt x="492816" y="103637"/>
                  </a:lnTo>
                  <a:lnTo>
                    <a:pt x="469092" y="104466"/>
                  </a:lnTo>
                  <a:lnTo>
                    <a:pt x="445368" y="105294"/>
                  </a:lnTo>
                  <a:lnTo>
                    <a:pt x="421645" y="106123"/>
                  </a:lnTo>
                  <a:lnTo>
                    <a:pt x="397921" y="106951"/>
                  </a:lnTo>
                  <a:lnTo>
                    <a:pt x="374197" y="107779"/>
                  </a:lnTo>
                  <a:lnTo>
                    <a:pt x="350473" y="108608"/>
                  </a:lnTo>
                  <a:lnTo>
                    <a:pt x="326749" y="109436"/>
                  </a:lnTo>
                  <a:lnTo>
                    <a:pt x="303025" y="110265"/>
                  </a:lnTo>
                  <a:lnTo>
                    <a:pt x="279301" y="111093"/>
                  </a:lnTo>
                  <a:lnTo>
                    <a:pt x="255578" y="111922"/>
                  </a:lnTo>
                  <a:lnTo>
                    <a:pt x="231854" y="112750"/>
                  </a:lnTo>
                  <a:lnTo>
                    <a:pt x="208130" y="113579"/>
                  </a:lnTo>
                  <a:lnTo>
                    <a:pt x="184406" y="114407"/>
                  </a:lnTo>
                  <a:lnTo>
                    <a:pt x="160682" y="115235"/>
                  </a:lnTo>
                  <a:lnTo>
                    <a:pt x="136958" y="116064"/>
                  </a:lnTo>
                  <a:lnTo>
                    <a:pt x="113235" y="116892"/>
                  </a:lnTo>
                  <a:lnTo>
                    <a:pt x="89511" y="117721"/>
                  </a:lnTo>
                  <a:lnTo>
                    <a:pt x="65787" y="118549"/>
                  </a:lnTo>
                  <a:lnTo>
                    <a:pt x="42063" y="119378"/>
                  </a:lnTo>
                  <a:lnTo>
                    <a:pt x="18339" y="120206"/>
                  </a:lnTo>
                  <a:lnTo>
                    <a:pt x="2486" y="112595"/>
                  </a:lnTo>
                  <a:lnTo>
                    <a:pt x="1657" y="88871"/>
                  </a:lnTo>
                  <a:lnTo>
                    <a:pt x="829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768443" y="1195082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4"/>
                  </a:lnTo>
                  <a:lnTo>
                    <a:pt x="47448" y="39766"/>
                  </a:lnTo>
                  <a:lnTo>
                    <a:pt x="71172" y="38937"/>
                  </a:lnTo>
                  <a:lnTo>
                    <a:pt x="94896" y="38109"/>
                  </a:lnTo>
                  <a:lnTo>
                    <a:pt x="118620" y="37280"/>
                  </a:lnTo>
                  <a:lnTo>
                    <a:pt x="142344" y="36452"/>
                  </a:lnTo>
                  <a:lnTo>
                    <a:pt x="166067" y="35623"/>
                  </a:lnTo>
                  <a:lnTo>
                    <a:pt x="189791" y="34795"/>
                  </a:lnTo>
                  <a:lnTo>
                    <a:pt x="213515" y="33966"/>
                  </a:lnTo>
                  <a:lnTo>
                    <a:pt x="237239" y="33138"/>
                  </a:lnTo>
                  <a:lnTo>
                    <a:pt x="260963" y="32310"/>
                  </a:lnTo>
                  <a:lnTo>
                    <a:pt x="284687" y="31481"/>
                  </a:lnTo>
                  <a:lnTo>
                    <a:pt x="308411" y="30653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2" y="28167"/>
                  </a:lnTo>
                  <a:lnTo>
                    <a:pt x="403306" y="27339"/>
                  </a:lnTo>
                  <a:lnTo>
                    <a:pt x="427030" y="26510"/>
                  </a:lnTo>
                  <a:lnTo>
                    <a:pt x="450754" y="25682"/>
                  </a:lnTo>
                  <a:lnTo>
                    <a:pt x="474477" y="24853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9" y="22368"/>
                  </a:lnTo>
                  <a:lnTo>
                    <a:pt x="569373" y="21540"/>
                  </a:lnTo>
                  <a:lnTo>
                    <a:pt x="593097" y="20711"/>
                  </a:lnTo>
                  <a:lnTo>
                    <a:pt x="616821" y="19883"/>
                  </a:lnTo>
                  <a:lnTo>
                    <a:pt x="640545" y="19054"/>
                  </a:lnTo>
                  <a:lnTo>
                    <a:pt x="664268" y="18226"/>
                  </a:lnTo>
                  <a:lnTo>
                    <a:pt x="687992" y="17397"/>
                  </a:lnTo>
                  <a:lnTo>
                    <a:pt x="711716" y="16569"/>
                  </a:lnTo>
                  <a:lnTo>
                    <a:pt x="735440" y="15740"/>
                  </a:lnTo>
                  <a:lnTo>
                    <a:pt x="759164" y="14912"/>
                  </a:lnTo>
                  <a:lnTo>
                    <a:pt x="782888" y="14084"/>
                  </a:lnTo>
                  <a:lnTo>
                    <a:pt x="806612" y="13255"/>
                  </a:lnTo>
                  <a:lnTo>
                    <a:pt x="830335" y="12427"/>
                  </a:lnTo>
                  <a:lnTo>
                    <a:pt x="854059" y="11598"/>
                  </a:lnTo>
                  <a:lnTo>
                    <a:pt x="877783" y="10770"/>
                  </a:lnTo>
                  <a:lnTo>
                    <a:pt x="901507" y="9941"/>
                  </a:lnTo>
                  <a:lnTo>
                    <a:pt x="925231" y="9113"/>
                  </a:lnTo>
                  <a:lnTo>
                    <a:pt x="948955" y="8284"/>
                  </a:lnTo>
                  <a:lnTo>
                    <a:pt x="972678" y="7456"/>
                  </a:lnTo>
                  <a:lnTo>
                    <a:pt x="996402" y="6627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4" y="4142"/>
                  </a:lnTo>
                  <a:lnTo>
                    <a:pt x="1091298" y="3314"/>
                  </a:lnTo>
                  <a:lnTo>
                    <a:pt x="1115022" y="2485"/>
                  </a:lnTo>
                  <a:lnTo>
                    <a:pt x="1138746" y="1657"/>
                  </a:lnTo>
                  <a:lnTo>
                    <a:pt x="1162469" y="828"/>
                  </a:lnTo>
                  <a:lnTo>
                    <a:pt x="1186193" y="0"/>
                  </a:lnTo>
                  <a:lnTo>
                    <a:pt x="1190599" y="19887"/>
                  </a:lnTo>
                  <a:lnTo>
                    <a:pt x="1191428" y="43611"/>
                  </a:lnTo>
                  <a:lnTo>
                    <a:pt x="1192256" y="67335"/>
                  </a:lnTo>
                  <a:lnTo>
                    <a:pt x="1180808" y="79611"/>
                  </a:lnTo>
                  <a:lnTo>
                    <a:pt x="1157084" y="80440"/>
                  </a:lnTo>
                  <a:lnTo>
                    <a:pt x="1133361" y="81268"/>
                  </a:lnTo>
                  <a:lnTo>
                    <a:pt x="1109637" y="82097"/>
                  </a:lnTo>
                  <a:lnTo>
                    <a:pt x="1085913" y="82925"/>
                  </a:lnTo>
                  <a:lnTo>
                    <a:pt x="1062189" y="83754"/>
                  </a:lnTo>
                  <a:lnTo>
                    <a:pt x="1038465" y="84582"/>
                  </a:lnTo>
                  <a:lnTo>
                    <a:pt x="1014741" y="85410"/>
                  </a:lnTo>
                  <a:lnTo>
                    <a:pt x="991017" y="86239"/>
                  </a:lnTo>
                  <a:lnTo>
                    <a:pt x="967294" y="87067"/>
                  </a:lnTo>
                  <a:lnTo>
                    <a:pt x="943570" y="87896"/>
                  </a:lnTo>
                  <a:lnTo>
                    <a:pt x="919846" y="88724"/>
                  </a:lnTo>
                  <a:lnTo>
                    <a:pt x="896122" y="89553"/>
                  </a:lnTo>
                  <a:lnTo>
                    <a:pt x="872398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7" y="92867"/>
                  </a:lnTo>
                  <a:lnTo>
                    <a:pt x="777503" y="93695"/>
                  </a:lnTo>
                  <a:lnTo>
                    <a:pt x="753779" y="94523"/>
                  </a:lnTo>
                  <a:lnTo>
                    <a:pt x="730055" y="95352"/>
                  </a:lnTo>
                  <a:lnTo>
                    <a:pt x="706331" y="96180"/>
                  </a:lnTo>
                  <a:lnTo>
                    <a:pt x="682607" y="97009"/>
                  </a:lnTo>
                  <a:lnTo>
                    <a:pt x="658883" y="97837"/>
                  </a:lnTo>
                  <a:lnTo>
                    <a:pt x="635160" y="98666"/>
                  </a:lnTo>
                  <a:lnTo>
                    <a:pt x="611436" y="99494"/>
                  </a:lnTo>
                  <a:lnTo>
                    <a:pt x="587712" y="100323"/>
                  </a:lnTo>
                  <a:lnTo>
                    <a:pt x="563988" y="101151"/>
                  </a:lnTo>
                  <a:lnTo>
                    <a:pt x="540264" y="101980"/>
                  </a:lnTo>
                  <a:lnTo>
                    <a:pt x="516540" y="102808"/>
                  </a:lnTo>
                  <a:lnTo>
                    <a:pt x="492816" y="103636"/>
                  </a:lnTo>
                  <a:lnTo>
                    <a:pt x="469093" y="104465"/>
                  </a:lnTo>
                  <a:lnTo>
                    <a:pt x="445369" y="105293"/>
                  </a:lnTo>
                  <a:lnTo>
                    <a:pt x="421645" y="106122"/>
                  </a:lnTo>
                  <a:lnTo>
                    <a:pt x="397921" y="106950"/>
                  </a:lnTo>
                  <a:lnTo>
                    <a:pt x="374197" y="107779"/>
                  </a:lnTo>
                  <a:lnTo>
                    <a:pt x="350473" y="108607"/>
                  </a:lnTo>
                  <a:lnTo>
                    <a:pt x="326749" y="109436"/>
                  </a:lnTo>
                  <a:lnTo>
                    <a:pt x="303026" y="110264"/>
                  </a:lnTo>
                  <a:lnTo>
                    <a:pt x="279302" y="111093"/>
                  </a:lnTo>
                  <a:lnTo>
                    <a:pt x="255578" y="111921"/>
                  </a:lnTo>
                  <a:lnTo>
                    <a:pt x="231854" y="112749"/>
                  </a:lnTo>
                  <a:lnTo>
                    <a:pt x="208130" y="113578"/>
                  </a:lnTo>
                  <a:lnTo>
                    <a:pt x="184406" y="114406"/>
                  </a:lnTo>
                  <a:lnTo>
                    <a:pt x="160683" y="115235"/>
                  </a:lnTo>
                  <a:lnTo>
                    <a:pt x="136959" y="116063"/>
                  </a:lnTo>
                  <a:lnTo>
                    <a:pt x="113235" y="116892"/>
                  </a:lnTo>
                  <a:lnTo>
                    <a:pt x="89511" y="117720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6"/>
                  </a:lnTo>
                  <a:lnTo>
                    <a:pt x="2486" y="112594"/>
                  </a:lnTo>
                  <a:lnTo>
                    <a:pt x="1657" y="88870"/>
                  </a:lnTo>
                  <a:lnTo>
                    <a:pt x="829" y="65146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772322" y="1306139"/>
              <a:ext cx="1192255" cy="120206"/>
            </a:xfrm>
            <a:custGeom>
              <a:avLst/>
              <a:gdLst/>
              <a:ahLst/>
              <a:cxnLst/>
              <a:rect l="l" t="t" r="r" b="b"/>
              <a:pathLst>
                <a:path w="1192255" h="120206">
                  <a:moveTo>
                    <a:pt x="0" y="41423"/>
                  </a:moveTo>
                  <a:lnTo>
                    <a:pt x="23723" y="40594"/>
                  </a:lnTo>
                  <a:lnTo>
                    <a:pt x="47447" y="39766"/>
                  </a:lnTo>
                  <a:lnTo>
                    <a:pt x="71171" y="38938"/>
                  </a:lnTo>
                  <a:lnTo>
                    <a:pt x="94895" y="38109"/>
                  </a:lnTo>
                  <a:lnTo>
                    <a:pt x="118619" y="37281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0" y="34795"/>
                  </a:lnTo>
                  <a:lnTo>
                    <a:pt x="213514" y="33967"/>
                  </a:lnTo>
                  <a:lnTo>
                    <a:pt x="237238" y="33138"/>
                  </a:lnTo>
                  <a:lnTo>
                    <a:pt x="260962" y="32310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4"/>
                  </a:lnTo>
                  <a:lnTo>
                    <a:pt x="355857" y="28996"/>
                  </a:lnTo>
                  <a:lnTo>
                    <a:pt x="379581" y="28168"/>
                  </a:lnTo>
                  <a:lnTo>
                    <a:pt x="403305" y="27339"/>
                  </a:lnTo>
                  <a:lnTo>
                    <a:pt x="427029" y="26511"/>
                  </a:lnTo>
                  <a:lnTo>
                    <a:pt x="450753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4" y="23197"/>
                  </a:lnTo>
                  <a:lnTo>
                    <a:pt x="545648" y="22368"/>
                  </a:lnTo>
                  <a:lnTo>
                    <a:pt x="569372" y="21540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5"/>
                  </a:lnTo>
                  <a:lnTo>
                    <a:pt x="664268" y="18226"/>
                  </a:lnTo>
                  <a:lnTo>
                    <a:pt x="687991" y="17398"/>
                  </a:lnTo>
                  <a:lnTo>
                    <a:pt x="711715" y="16569"/>
                  </a:lnTo>
                  <a:lnTo>
                    <a:pt x="735439" y="15741"/>
                  </a:lnTo>
                  <a:lnTo>
                    <a:pt x="759163" y="14912"/>
                  </a:lnTo>
                  <a:lnTo>
                    <a:pt x="782887" y="14084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8" y="11598"/>
                  </a:lnTo>
                  <a:lnTo>
                    <a:pt x="877782" y="10770"/>
                  </a:lnTo>
                  <a:lnTo>
                    <a:pt x="901506" y="9942"/>
                  </a:lnTo>
                  <a:lnTo>
                    <a:pt x="925230" y="9113"/>
                  </a:lnTo>
                  <a:lnTo>
                    <a:pt x="948954" y="8285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5" y="5799"/>
                  </a:lnTo>
                  <a:lnTo>
                    <a:pt x="1043849" y="4971"/>
                  </a:lnTo>
                  <a:lnTo>
                    <a:pt x="1067573" y="4142"/>
                  </a:lnTo>
                  <a:lnTo>
                    <a:pt x="1091297" y="3314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9"/>
                  </a:lnTo>
                  <a:lnTo>
                    <a:pt x="1186192" y="0"/>
                  </a:lnTo>
                  <a:lnTo>
                    <a:pt x="1190598" y="19888"/>
                  </a:lnTo>
                  <a:lnTo>
                    <a:pt x="1191427" y="43612"/>
                  </a:lnTo>
                  <a:lnTo>
                    <a:pt x="1192255" y="67335"/>
                  </a:lnTo>
                  <a:lnTo>
                    <a:pt x="1180807" y="79612"/>
                  </a:lnTo>
                  <a:lnTo>
                    <a:pt x="1157084" y="80440"/>
                  </a:lnTo>
                  <a:lnTo>
                    <a:pt x="1133360" y="81269"/>
                  </a:lnTo>
                  <a:lnTo>
                    <a:pt x="1109636" y="82097"/>
                  </a:lnTo>
                  <a:lnTo>
                    <a:pt x="1085912" y="82925"/>
                  </a:lnTo>
                  <a:lnTo>
                    <a:pt x="1062188" y="83754"/>
                  </a:lnTo>
                  <a:lnTo>
                    <a:pt x="1038464" y="84582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3" y="87068"/>
                  </a:lnTo>
                  <a:lnTo>
                    <a:pt x="943569" y="87896"/>
                  </a:lnTo>
                  <a:lnTo>
                    <a:pt x="919845" y="88725"/>
                  </a:lnTo>
                  <a:lnTo>
                    <a:pt x="896121" y="89553"/>
                  </a:lnTo>
                  <a:lnTo>
                    <a:pt x="872397" y="90382"/>
                  </a:lnTo>
                  <a:lnTo>
                    <a:pt x="848673" y="91210"/>
                  </a:lnTo>
                  <a:lnTo>
                    <a:pt x="824950" y="92038"/>
                  </a:lnTo>
                  <a:lnTo>
                    <a:pt x="801226" y="92867"/>
                  </a:lnTo>
                  <a:lnTo>
                    <a:pt x="777502" y="93695"/>
                  </a:lnTo>
                  <a:lnTo>
                    <a:pt x="753778" y="94524"/>
                  </a:lnTo>
                  <a:lnTo>
                    <a:pt x="730054" y="95352"/>
                  </a:lnTo>
                  <a:lnTo>
                    <a:pt x="706330" y="96181"/>
                  </a:lnTo>
                  <a:lnTo>
                    <a:pt x="682606" y="97009"/>
                  </a:lnTo>
                  <a:lnTo>
                    <a:pt x="658883" y="97838"/>
                  </a:lnTo>
                  <a:lnTo>
                    <a:pt x="635159" y="98666"/>
                  </a:lnTo>
                  <a:lnTo>
                    <a:pt x="611435" y="99495"/>
                  </a:lnTo>
                  <a:lnTo>
                    <a:pt x="587711" y="100323"/>
                  </a:lnTo>
                  <a:lnTo>
                    <a:pt x="563987" y="101151"/>
                  </a:lnTo>
                  <a:lnTo>
                    <a:pt x="540263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8" y="105294"/>
                  </a:lnTo>
                  <a:lnTo>
                    <a:pt x="421644" y="106122"/>
                  </a:lnTo>
                  <a:lnTo>
                    <a:pt x="397920" y="106951"/>
                  </a:lnTo>
                  <a:lnTo>
                    <a:pt x="374196" y="107779"/>
                  </a:lnTo>
                  <a:lnTo>
                    <a:pt x="350473" y="108608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3"/>
                  </a:lnTo>
                  <a:lnTo>
                    <a:pt x="255577" y="111921"/>
                  </a:lnTo>
                  <a:lnTo>
                    <a:pt x="231853" y="112750"/>
                  </a:lnTo>
                  <a:lnTo>
                    <a:pt x="208129" y="113578"/>
                  </a:lnTo>
                  <a:lnTo>
                    <a:pt x="184405" y="114407"/>
                  </a:lnTo>
                  <a:lnTo>
                    <a:pt x="160682" y="115235"/>
                  </a:lnTo>
                  <a:lnTo>
                    <a:pt x="136958" y="116064"/>
                  </a:lnTo>
                  <a:lnTo>
                    <a:pt x="113234" y="116892"/>
                  </a:lnTo>
                  <a:lnTo>
                    <a:pt x="89510" y="117720"/>
                  </a:lnTo>
                  <a:lnTo>
                    <a:pt x="65786" y="118549"/>
                  </a:lnTo>
                  <a:lnTo>
                    <a:pt x="42062" y="119377"/>
                  </a:lnTo>
                  <a:lnTo>
                    <a:pt x="18338" y="120206"/>
                  </a:lnTo>
                  <a:lnTo>
                    <a:pt x="2485" y="112594"/>
                  </a:lnTo>
                  <a:lnTo>
                    <a:pt x="1656" y="88871"/>
                  </a:lnTo>
                  <a:lnTo>
                    <a:pt x="828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776200" y="1417196"/>
              <a:ext cx="1192255" cy="120206"/>
            </a:xfrm>
            <a:custGeom>
              <a:avLst/>
              <a:gdLst/>
              <a:ahLst/>
              <a:cxnLst/>
              <a:rect l="l" t="t" r="r" b="b"/>
              <a:pathLst>
                <a:path w="1192255" h="120206">
                  <a:moveTo>
                    <a:pt x="0" y="41423"/>
                  </a:moveTo>
                  <a:lnTo>
                    <a:pt x="23724" y="40595"/>
                  </a:lnTo>
                  <a:lnTo>
                    <a:pt x="47447" y="39766"/>
                  </a:lnTo>
                  <a:lnTo>
                    <a:pt x="71171" y="38938"/>
                  </a:lnTo>
                  <a:lnTo>
                    <a:pt x="94895" y="38109"/>
                  </a:lnTo>
                  <a:lnTo>
                    <a:pt x="118619" y="37281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1" y="34796"/>
                  </a:lnTo>
                  <a:lnTo>
                    <a:pt x="213514" y="33967"/>
                  </a:lnTo>
                  <a:lnTo>
                    <a:pt x="237238" y="33139"/>
                  </a:lnTo>
                  <a:lnTo>
                    <a:pt x="260962" y="32310"/>
                  </a:lnTo>
                  <a:lnTo>
                    <a:pt x="284686" y="31482"/>
                  </a:lnTo>
                  <a:lnTo>
                    <a:pt x="308410" y="30653"/>
                  </a:lnTo>
                  <a:lnTo>
                    <a:pt x="332134" y="29825"/>
                  </a:lnTo>
                  <a:lnTo>
                    <a:pt x="355858" y="28996"/>
                  </a:lnTo>
                  <a:lnTo>
                    <a:pt x="379581" y="28168"/>
                  </a:lnTo>
                  <a:lnTo>
                    <a:pt x="403305" y="27339"/>
                  </a:lnTo>
                  <a:lnTo>
                    <a:pt x="427029" y="26511"/>
                  </a:lnTo>
                  <a:lnTo>
                    <a:pt x="450753" y="25683"/>
                  </a:lnTo>
                  <a:lnTo>
                    <a:pt x="474477" y="24854"/>
                  </a:lnTo>
                  <a:lnTo>
                    <a:pt x="498201" y="24026"/>
                  </a:lnTo>
                  <a:lnTo>
                    <a:pt x="521925" y="23197"/>
                  </a:lnTo>
                  <a:lnTo>
                    <a:pt x="545649" y="22369"/>
                  </a:lnTo>
                  <a:lnTo>
                    <a:pt x="569372" y="21540"/>
                  </a:lnTo>
                  <a:lnTo>
                    <a:pt x="593096" y="20712"/>
                  </a:lnTo>
                  <a:lnTo>
                    <a:pt x="616820" y="19883"/>
                  </a:lnTo>
                  <a:lnTo>
                    <a:pt x="640544" y="19055"/>
                  </a:lnTo>
                  <a:lnTo>
                    <a:pt x="664268" y="18226"/>
                  </a:lnTo>
                  <a:lnTo>
                    <a:pt x="687992" y="17398"/>
                  </a:lnTo>
                  <a:lnTo>
                    <a:pt x="711716" y="16570"/>
                  </a:lnTo>
                  <a:lnTo>
                    <a:pt x="735439" y="15741"/>
                  </a:lnTo>
                  <a:lnTo>
                    <a:pt x="759163" y="14913"/>
                  </a:lnTo>
                  <a:lnTo>
                    <a:pt x="782887" y="14084"/>
                  </a:lnTo>
                  <a:lnTo>
                    <a:pt x="806611" y="13256"/>
                  </a:lnTo>
                  <a:lnTo>
                    <a:pt x="830335" y="12427"/>
                  </a:lnTo>
                  <a:lnTo>
                    <a:pt x="854059" y="11599"/>
                  </a:lnTo>
                  <a:lnTo>
                    <a:pt x="877782" y="10770"/>
                  </a:lnTo>
                  <a:lnTo>
                    <a:pt x="901506" y="9942"/>
                  </a:lnTo>
                  <a:lnTo>
                    <a:pt x="925230" y="9113"/>
                  </a:lnTo>
                  <a:lnTo>
                    <a:pt x="948954" y="8285"/>
                  </a:lnTo>
                  <a:lnTo>
                    <a:pt x="972678" y="7457"/>
                  </a:lnTo>
                  <a:lnTo>
                    <a:pt x="996402" y="6628"/>
                  </a:lnTo>
                  <a:lnTo>
                    <a:pt x="1020126" y="5800"/>
                  </a:lnTo>
                  <a:lnTo>
                    <a:pt x="1043850" y="4971"/>
                  </a:lnTo>
                  <a:lnTo>
                    <a:pt x="1067573" y="4143"/>
                  </a:lnTo>
                  <a:lnTo>
                    <a:pt x="1091297" y="3314"/>
                  </a:lnTo>
                  <a:lnTo>
                    <a:pt x="1115021" y="2486"/>
                  </a:lnTo>
                  <a:lnTo>
                    <a:pt x="1138745" y="1657"/>
                  </a:lnTo>
                  <a:lnTo>
                    <a:pt x="1162469" y="829"/>
                  </a:lnTo>
                  <a:lnTo>
                    <a:pt x="1186193" y="0"/>
                  </a:lnTo>
                  <a:lnTo>
                    <a:pt x="1190598" y="19888"/>
                  </a:lnTo>
                  <a:lnTo>
                    <a:pt x="1191427" y="43612"/>
                  </a:lnTo>
                  <a:lnTo>
                    <a:pt x="1192255" y="67336"/>
                  </a:lnTo>
                  <a:lnTo>
                    <a:pt x="1180808" y="79612"/>
                  </a:lnTo>
                  <a:lnTo>
                    <a:pt x="1157084" y="80440"/>
                  </a:lnTo>
                  <a:lnTo>
                    <a:pt x="1133360" y="81269"/>
                  </a:lnTo>
                  <a:lnTo>
                    <a:pt x="1109636" y="82097"/>
                  </a:lnTo>
                  <a:lnTo>
                    <a:pt x="1085912" y="82926"/>
                  </a:lnTo>
                  <a:lnTo>
                    <a:pt x="1062188" y="83754"/>
                  </a:lnTo>
                  <a:lnTo>
                    <a:pt x="1038465" y="84583"/>
                  </a:lnTo>
                  <a:lnTo>
                    <a:pt x="1014741" y="85411"/>
                  </a:lnTo>
                  <a:lnTo>
                    <a:pt x="991017" y="86240"/>
                  </a:lnTo>
                  <a:lnTo>
                    <a:pt x="967293" y="87068"/>
                  </a:lnTo>
                  <a:lnTo>
                    <a:pt x="943569" y="87897"/>
                  </a:lnTo>
                  <a:lnTo>
                    <a:pt x="919845" y="88725"/>
                  </a:lnTo>
                  <a:lnTo>
                    <a:pt x="896121" y="89553"/>
                  </a:lnTo>
                  <a:lnTo>
                    <a:pt x="872398" y="90382"/>
                  </a:lnTo>
                  <a:lnTo>
                    <a:pt x="848674" y="91210"/>
                  </a:lnTo>
                  <a:lnTo>
                    <a:pt x="824950" y="92039"/>
                  </a:lnTo>
                  <a:lnTo>
                    <a:pt x="801226" y="92867"/>
                  </a:lnTo>
                  <a:lnTo>
                    <a:pt x="777502" y="93696"/>
                  </a:lnTo>
                  <a:lnTo>
                    <a:pt x="753778" y="94524"/>
                  </a:lnTo>
                  <a:lnTo>
                    <a:pt x="730054" y="95353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8"/>
                  </a:lnTo>
                  <a:lnTo>
                    <a:pt x="635159" y="98666"/>
                  </a:lnTo>
                  <a:lnTo>
                    <a:pt x="611435" y="99495"/>
                  </a:lnTo>
                  <a:lnTo>
                    <a:pt x="587711" y="100323"/>
                  </a:lnTo>
                  <a:lnTo>
                    <a:pt x="563987" y="101152"/>
                  </a:lnTo>
                  <a:lnTo>
                    <a:pt x="540264" y="101980"/>
                  </a:lnTo>
                  <a:lnTo>
                    <a:pt x="516540" y="102809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8" y="105294"/>
                  </a:lnTo>
                  <a:lnTo>
                    <a:pt x="421644" y="106122"/>
                  </a:lnTo>
                  <a:lnTo>
                    <a:pt x="397920" y="106951"/>
                  </a:lnTo>
                  <a:lnTo>
                    <a:pt x="374196" y="107779"/>
                  </a:lnTo>
                  <a:lnTo>
                    <a:pt x="350473" y="108608"/>
                  </a:lnTo>
                  <a:lnTo>
                    <a:pt x="326749" y="109436"/>
                  </a:lnTo>
                  <a:lnTo>
                    <a:pt x="303025" y="110265"/>
                  </a:lnTo>
                  <a:lnTo>
                    <a:pt x="279301" y="111093"/>
                  </a:lnTo>
                  <a:lnTo>
                    <a:pt x="255577" y="111922"/>
                  </a:lnTo>
                  <a:lnTo>
                    <a:pt x="231853" y="112750"/>
                  </a:lnTo>
                  <a:lnTo>
                    <a:pt x="208130" y="113579"/>
                  </a:lnTo>
                  <a:lnTo>
                    <a:pt x="184406" y="114407"/>
                  </a:lnTo>
                  <a:lnTo>
                    <a:pt x="160682" y="115235"/>
                  </a:lnTo>
                  <a:lnTo>
                    <a:pt x="136958" y="116064"/>
                  </a:lnTo>
                  <a:lnTo>
                    <a:pt x="113234" y="116892"/>
                  </a:lnTo>
                  <a:lnTo>
                    <a:pt x="89510" y="117721"/>
                  </a:lnTo>
                  <a:lnTo>
                    <a:pt x="65787" y="118549"/>
                  </a:lnTo>
                  <a:lnTo>
                    <a:pt x="42063" y="119378"/>
                  </a:lnTo>
                  <a:lnTo>
                    <a:pt x="18339" y="120206"/>
                  </a:lnTo>
                  <a:lnTo>
                    <a:pt x="2485" y="112595"/>
                  </a:lnTo>
                  <a:lnTo>
                    <a:pt x="1657" y="88871"/>
                  </a:lnTo>
                  <a:lnTo>
                    <a:pt x="828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9780078" y="1528254"/>
              <a:ext cx="1192256" cy="120205"/>
            </a:xfrm>
            <a:custGeom>
              <a:avLst/>
              <a:gdLst/>
              <a:ahLst/>
              <a:cxnLst/>
              <a:rect l="l" t="t" r="r" b="b"/>
              <a:pathLst>
                <a:path w="1192256" h="120205">
                  <a:moveTo>
                    <a:pt x="0" y="41422"/>
                  </a:moveTo>
                  <a:lnTo>
                    <a:pt x="23724" y="40594"/>
                  </a:lnTo>
                  <a:lnTo>
                    <a:pt x="47448" y="39766"/>
                  </a:lnTo>
                  <a:lnTo>
                    <a:pt x="71172" y="38937"/>
                  </a:lnTo>
                  <a:lnTo>
                    <a:pt x="94895" y="38109"/>
                  </a:lnTo>
                  <a:lnTo>
                    <a:pt x="118619" y="37280"/>
                  </a:lnTo>
                  <a:lnTo>
                    <a:pt x="142343" y="36452"/>
                  </a:lnTo>
                  <a:lnTo>
                    <a:pt x="166067" y="35623"/>
                  </a:lnTo>
                  <a:lnTo>
                    <a:pt x="189791" y="34795"/>
                  </a:lnTo>
                  <a:lnTo>
                    <a:pt x="213515" y="33966"/>
                  </a:lnTo>
                  <a:lnTo>
                    <a:pt x="237239" y="33138"/>
                  </a:lnTo>
                  <a:lnTo>
                    <a:pt x="260962" y="32309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2" y="28167"/>
                  </a:lnTo>
                  <a:lnTo>
                    <a:pt x="403306" y="27339"/>
                  </a:lnTo>
                  <a:lnTo>
                    <a:pt x="427029" y="26510"/>
                  </a:lnTo>
                  <a:lnTo>
                    <a:pt x="450753" y="25682"/>
                  </a:lnTo>
                  <a:lnTo>
                    <a:pt x="474477" y="24853"/>
                  </a:lnTo>
                  <a:lnTo>
                    <a:pt x="498201" y="24025"/>
                  </a:lnTo>
                  <a:lnTo>
                    <a:pt x="521925" y="23196"/>
                  </a:lnTo>
                  <a:lnTo>
                    <a:pt x="545649" y="22368"/>
                  </a:lnTo>
                  <a:lnTo>
                    <a:pt x="569373" y="21540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2" y="17397"/>
                  </a:lnTo>
                  <a:lnTo>
                    <a:pt x="711716" y="16569"/>
                  </a:lnTo>
                  <a:lnTo>
                    <a:pt x="735440" y="15740"/>
                  </a:lnTo>
                  <a:lnTo>
                    <a:pt x="759163" y="14912"/>
                  </a:lnTo>
                  <a:lnTo>
                    <a:pt x="782887" y="14083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9" y="11598"/>
                  </a:lnTo>
                  <a:lnTo>
                    <a:pt x="877783" y="10770"/>
                  </a:lnTo>
                  <a:lnTo>
                    <a:pt x="901507" y="9941"/>
                  </a:lnTo>
                  <a:lnTo>
                    <a:pt x="925230" y="9113"/>
                  </a:lnTo>
                  <a:lnTo>
                    <a:pt x="948954" y="8284"/>
                  </a:lnTo>
                  <a:lnTo>
                    <a:pt x="972678" y="7456"/>
                  </a:lnTo>
                  <a:lnTo>
                    <a:pt x="996402" y="6627"/>
                  </a:lnTo>
                  <a:lnTo>
                    <a:pt x="1020126" y="5799"/>
                  </a:lnTo>
                  <a:lnTo>
                    <a:pt x="1043850" y="4970"/>
                  </a:lnTo>
                  <a:lnTo>
                    <a:pt x="1067574" y="4142"/>
                  </a:lnTo>
                  <a:lnTo>
                    <a:pt x="1091297" y="3314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8"/>
                  </a:lnTo>
                  <a:lnTo>
                    <a:pt x="1186193" y="0"/>
                  </a:lnTo>
                  <a:lnTo>
                    <a:pt x="1190599" y="19887"/>
                  </a:lnTo>
                  <a:lnTo>
                    <a:pt x="1191427" y="43611"/>
                  </a:lnTo>
                  <a:lnTo>
                    <a:pt x="1192256" y="67335"/>
                  </a:lnTo>
                  <a:lnTo>
                    <a:pt x="1180808" y="79611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6" y="82097"/>
                  </a:lnTo>
                  <a:lnTo>
                    <a:pt x="1085912" y="82925"/>
                  </a:lnTo>
                  <a:lnTo>
                    <a:pt x="1062189" y="83754"/>
                  </a:lnTo>
                  <a:lnTo>
                    <a:pt x="1038465" y="84582"/>
                  </a:lnTo>
                  <a:lnTo>
                    <a:pt x="1014741" y="85410"/>
                  </a:lnTo>
                  <a:lnTo>
                    <a:pt x="991017" y="86239"/>
                  </a:lnTo>
                  <a:lnTo>
                    <a:pt x="967293" y="87067"/>
                  </a:lnTo>
                  <a:lnTo>
                    <a:pt x="943569" y="87896"/>
                  </a:lnTo>
                  <a:lnTo>
                    <a:pt x="919846" y="88724"/>
                  </a:lnTo>
                  <a:lnTo>
                    <a:pt x="896122" y="89553"/>
                  </a:lnTo>
                  <a:lnTo>
                    <a:pt x="872398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6" y="92867"/>
                  </a:lnTo>
                  <a:lnTo>
                    <a:pt x="777502" y="93695"/>
                  </a:lnTo>
                  <a:lnTo>
                    <a:pt x="753778" y="94523"/>
                  </a:lnTo>
                  <a:lnTo>
                    <a:pt x="730055" y="95352"/>
                  </a:lnTo>
                  <a:lnTo>
                    <a:pt x="706331" y="96180"/>
                  </a:lnTo>
                  <a:lnTo>
                    <a:pt x="682607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5" y="99494"/>
                  </a:lnTo>
                  <a:lnTo>
                    <a:pt x="587711" y="100323"/>
                  </a:lnTo>
                  <a:lnTo>
                    <a:pt x="563988" y="101151"/>
                  </a:lnTo>
                  <a:lnTo>
                    <a:pt x="540264" y="101979"/>
                  </a:lnTo>
                  <a:lnTo>
                    <a:pt x="516540" y="102808"/>
                  </a:lnTo>
                  <a:lnTo>
                    <a:pt x="492816" y="103636"/>
                  </a:lnTo>
                  <a:lnTo>
                    <a:pt x="469092" y="104465"/>
                  </a:lnTo>
                  <a:lnTo>
                    <a:pt x="445368" y="105293"/>
                  </a:lnTo>
                  <a:lnTo>
                    <a:pt x="421645" y="106122"/>
                  </a:lnTo>
                  <a:lnTo>
                    <a:pt x="397921" y="106950"/>
                  </a:lnTo>
                  <a:lnTo>
                    <a:pt x="374197" y="107779"/>
                  </a:lnTo>
                  <a:lnTo>
                    <a:pt x="350473" y="108607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2"/>
                  </a:lnTo>
                  <a:lnTo>
                    <a:pt x="255578" y="111921"/>
                  </a:lnTo>
                  <a:lnTo>
                    <a:pt x="231854" y="112749"/>
                  </a:lnTo>
                  <a:lnTo>
                    <a:pt x="208130" y="113578"/>
                  </a:lnTo>
                  <a:lnTo>
                    <a:pt x="184406" y="114406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4" y="116892"/>
                  </a:lnTo>
                  <a:lnTo>
                    <a:pt x="89510" y="117720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5"/>
                  </a:lnTo>
                  <a:lnTo>
                    <a:pt x="2485" y="112594"/>
                  </a:lnTo>
                  <a:lnTo>
                    <a:pt x="1657" y="88870"/>
                  </a:lnTo>
                  <a:lnTo>
                    <a:pt x="828" y="65146"/>
                  </a:lnTo>
                  <a:lnTo>
                    <a:pt x="0" y="41422"/>
                  </a:lnTo>
                  <a:close/>
                </a:path>
              </a:pathLst>
            </a:custGeom>
            <a:solidFill>
              <a:srgbClr val="3C78B4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783956" y="1639311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4"/>
                  </a:lnTo>
                  <a:lnTo>
                    <a:pt x="47448" y="39766"/>
                  </a:lnTo>
                  <a:lnTo>
                    <a:pt x="71172" y="38937"/>
                  </a:lnTo>
                  <a:lnTo>
                    <a:pt x="94896" y="38109"/>
                  </a:lnTo>
                  <a:lnTo>
                    <a:pt x="118620" y="37281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1" y="34795"/>
                  </a:lnTo>
                  <a:lnTo>
                    <a:pt x="213515" y="33967"/>
                  </a:lnTo>
                  <a:lnTo>
                    <a:pt x="237239" y="33138"/>
                  </a:lnTo>
                  <a:lnTo>
                    <a:pt x="260963" y="32310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2" y="28168"/>
                  </a:lnTo>
                  <a:lnTo>
                    <a:pt x="403306" y="27339"/>
                  </a:lnTo>
                  <a:lnTo>
                    <a:pt x="427030" y="26511"/>
                  </a:lnTo>
                  <a:lnTo>
                    <a:pt x="450754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9" y="22368"/>
                  </a:lnTo>
                  <a:lnTo>
                    <a:pt x="569373" y="21540"/>
                  </a:lnTo>
                  <a:lnTo>
                    <a:pt x="593097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2" y="17398"/>
                  </a:lnTo>
                  <a:lnTo>
                    <a:pt x="711716" y="16569"/>
                  </a:lnTo>
                  <a:lnTo>
                    <a:pt x="735440" y="15741"/>
                  </a:lnTo>
                  <a:lnTo>
                    <a:pt x="759164" y="14912"/>
                  </a:lnTo>
                  <a:lnTo>
                    <a:pt x="782887" y="14084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9" y="11598"/>
                  </a:lnTo>
                  <a:lnTo>
                    <a:pt x="877783" y="10770"/>
                  </a:lnTo>
                  <a:lnTo>
                    <a:pt x="901507" y="9941"/>
                  </a:lnTo>
                  <a:lnTo>
                    <a:pt x="925231" y="9113"/>
                  </a:lnTo>
                  <a:lnTo>
                    <a:pt x="948954" y="8285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4" y="4142"/>
                  </a:lnTo>
                  <a:lnTo>
                    <a:pt x="1091298" y="3314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8"/>
                  </a:lnTo>
                  <a:lnTo>
                    <a:pt x="1186193" y="0"/>
                  </a:lnTo>
                  <a:lnTo>
                    <a:pt x="1190599" y="19888"/>
                  </a:lnTo>
                  <a:lnTo>
                    <a:pt x="1191427" y="43611"/>
                  </a:lnTo>
                  <a:lnTo>
                    <a:pt x="1192256" y="67335"/>
                  </a:lnTo>
                  <a:lnTo>
                    <a:pt x="1180808" y="79612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7" y="82097"/>
                  </a:lnTo>
                  <a:lnTo>
                    <a:pt x="1085913" y="82925"/>
                  </a:lnTo>
                  <a:lnTo>
                    <a:pt x="1062189" y="83754"/>
                  </a:lnTo>
                  <a:lnTo>
                    <a:pt x="1038465" y="84582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3" y="87068"/>
                  </a:lnTo>
                  <a:lnTo>
                    <a:pt x="943570" y="87896"/>
                  </a:lnTo>
                  <a:lnTo>
                    <a:pt x="919846" y="88725"/>
                  </a:lnTo>
                  <a:lnTo>
                    <a:pt x="896122" y="89553"/>
                  </a:lnTo>
                  <a:lnTo>
                    <a:pt x="872398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6" y="92867"/>
                  </a:lnTo>
                  <a:lnTo>
                    <a:pt x="777503" y="93695"/>
                  </a:lnTo>
                  <a:lnTo>
                    <a:pt x="753779" y="94524"/>
                  </a:lnTo>
                  <a:lnTo>
                    <a:pt x="730055" y="95352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6" y="99494"/>
                  </a:lnTo>
                  <a:lnTo>
                    <a:pt x="587712" y="100323"/>
                  </a:lnTo>
                  <a:lnTo>
                    <a:pt x="563988" y="101151"/>
                  </a:lnTo>
                  <a:lnTo>
                    <a:pt x="540264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9" y="105294"/>
                  </a:lnTo>
                  <a:lnTo>
                    <a:pt x="421645" y="106122"/>
                  </a:lnTo>
                  <a:lnTo>
                    <a:pt x="397921" y="106950"/>
                  </a:lnTo>
                  <a:lnTo>
                    <a:pt x="374197" y="107779"/>
                  </a:lnTo>
                  <a:lnTo>
                    <a:pt x="350473" y="108607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3"/>
                  </a:lnTo>
                  <a:lnTo>
                    <a:pt x="255578" y="111921"/>
                  </a:lnTo>
                  <a:lnTo>
                    <a:pt x="231854" y="112750"/>
                  </a:lnTo>
                  <a:lnTo>
                    <a:pt x="208130" y="113578"/>
                  </a:lnTo>
                  <a:lnTo>
                    <a:pt x="184406" y="114407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5" y="116892"/>
                  </a:lnTo>
                  <a:lnTo>
                    <a:pt x="89511" y="117720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6"/>
                  </a:lnTo>
                  <a:lnTo>
                    <a:pt x="2486" y="112594"/>
                  </a:lnTo>
                  <a:lnTo>
                    <a:pt x="1657" y="88871"/>
                  </a:lnTo>
                  <a:lnTo>
                    <a:pt x="829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3C78B4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9787834" y="1750368"/>
              <a:ext cx="1192256" cy="120206"/>
            </a:xfrm>
            <a:custGeom>
              <a:avLst/>
              <a:gdLst/>
              <a:ahLst/>
              <a:cxnLst/>
              <a:rect l="l" t="t" r="r" b="b"/>
              <a:pathLst>
                <a:path w="1192256" h="120206">
                  <a:moveTo>
                    <a:pt x="0" y="41423"/>
                  </a:moveTo>
                  <a:lnTo>
                    <a:pt x="23724" y="40595"/>
                  </a:lnTo>
                  <a:lnTo>
                    <a:pt x="47448" y="39766"/>
                  </a:lnTo>
                  <a:lnTo>
                    <a:pt x="71172" y="38938"/>
                  </a:lnTo>
                  <a:lnTo>
                    <a:pt x="94896" y="38109"/>
                  </a:lnTo>
                  <a:lnTo>
                    <a:pt x="118620" y="37281"/>
                  </a:lnTo>
                  <a:lnTo>
                    <a:pt x="142344" y="36452"/>
                  </a:lnTo>
                  <a:lnTo>
                    <a:pt x="166067" y="35624"/>
                  </a:lnTo>
                  <a:lnTo>
                    <a:pt x="189791" y="34795"/>
                  </a:lnTo>
                  <a:lnTo>
                    <a:pt x="213515" y="33967"/>
                  </a:lnTo>
                  <a:lnTo>
                    <a:pt x="237239" y="33139"/>
                  </a:lnTo>
                  <a:lnTo>
                    <a:pt x="260963" y="32310"/>
                  </a:lnTo>
                  <a:lnTo>
                    <a:pt x="284687" y="31482"/>
                  </a:lnTo>
                  <a:lnTo>
                    <a:pt x="308411" y="30653"/>
                  </a:lnTo>
                  <a:lnTo>
                    <a:pt x="332134" y="29825"/>
                  </a:lnTo>
                  <a:lnTo>
                    <a:pt x="355858" y="28996"/>
                  </a:lnTo>
                  <a:lnTo>
                    <a:pt x="379582" y="28168"/>
                  </a:lnTo>
                  <a:lnTo>
                    <a:pt x="403306" y="27339"/>
                  </a:lnTo>
                  <a:lnTo>
                    <a:pt x="427030" y="26511"/>
                  </a:lnTo>
                  <a:lnTo>
                    <a:pt x="450754" y="25682"/>
                  </a:lnTo>
                  <a:lnTo>
                    <a:pt x="474478" y="24854"/>
                  </a:lnTo>
                  <a:lnTo>
                    <a:pt x="498201" y="24026"/>
                  </a:lnTo>
                  <a:lnTo>
                    <a:pt x="521925" y="23197"/>
                  </a:lnTo>
                  <a:lnTo>
                    <a:pt x="545649" y="22369"/>
                  </a:lnTo>
                  <a:lnTo>
                    <a:pt x="569373" y="21540"/>
                  </a:lnTo>
                  <a:lnTo>
                    <a:pt x="593097" y="20712"/>
                  </a:lnTo>
                  <a:lnTo>
                    <a:pt x="616821" y="19883"/>
                  </a:lnTo>
                  <a:lnTo>
                    <a:pt x="640545" y="19055"/>
                  </a:lnTo>
                  <a:lnTo>
                    <a:pt x="664268" y="18226"/>
                  </a:lnTo>
                  <a:lnTo>
                    <a:pt x="687992" y="17398"/>
                  </a:lnTo>
                  <a:lnTo>
                    <a:pt x="711716" y="16569"/>
                  </a:lnTo>
                  <a:lnTo>
                    <a:pt x="735440" y="15741"/>
                  </a:lnTo>
                  <a:lnTo>
                    <a:pt x="759164" y="14913"/>
                  </a:lnTo>
                  <a:lnTo>
                    <a:pt x="782888" y="14084"/>
                  </a:lnTo>
                  <a:lnTo>
                    <a:pt x="806612" y="13256"/>
                  </a:lnTo>
                  <a:lnTo>
                    <a:pt x="830335" y="12427"/>
                  </a:lnTo>
                  <a:lnTo>
                    <a:pt x="854059" y="11599"/>
                  </a:lnTo>
                  <a:lnTo>
                    <a:pt x="877783" y="10770"/>
                  </a:lnTo>
                  <a:lnTo>
                    <a:pt x="901507" y="9942"/>
                  </a:lnTo>
                  <a:lnTo>
                    <a:pt x="925231" y="9113"/>
                  </a:lnTo>
                  <a:lnTo>
                    <a:pt x="948955" y="8285"/>
                  </a:lnTo>
                  <a:lnTo>
                    <a:pt x="972679" y="7456"/>
                  </a:lnTo>
                  <a:lnTo>
                    <a:pt x="996402" y="6628"/>
                  </a:lnTo>
                  <a:lnTo>
                    <a:pt x="1020126" y="5800"/>
                  </a:lnTo>
                  <a:lnTo>
                    <a:pt x="1043850" y="4971"/>
                  </a:lnTo>
                  <a:lnTo>
                    <a:pt x="1067574" y="4143"/>
                  </a:lnTo>
                  <a:lnTo>
                    <a:pt x="1091298" y="3314"/>
                  </a:lnTo>
                  <a:lnTo>
                    <a:pt x="1115022" y="2486"/>
                  </a:lnTo>
                  <a:lnTo>
                    <a:pt x="1138746" y="1657"/>
                  </a:lnTo>
                  <a:lnTo>
                    <a:pt x="1162469" y="829"/>
                  </a:lnTo>
                  <a:lnTo>
                    <a:pt x="1186193" y="0"/>
                  </a:lnTo>
                  <a:lnTo>
                    <a:pt x="1190599" y="19888"/>
                  </a:lnTo>
                  <a:lnTo>
                    <a:pt x="1191428" y="43612"/>
                  </a:lnTo>
                  <a:lnTo>
                    <a:pt x="1192256" y="67336"/>
                  </a:lnTo>
                  <a:lnTo>
                    <a:pt x="1180808" y="79612"/>
                  </a:lnTo>
                  <a:lnTo>
                    <a:pt x="1157085" y="80440"/>
                  </a:lnTo>
                  <a:lnTo>
                    <a:pt x="1133361" y="81269"/>
                  </a:lnTo>
                  <a:lnTo>
                    <a:pt x="1109637" y="82097"/>
                  </a:lnTo>
                  <a:lnTo>
                    <a:pt x="1085913" y="82926"/>
                  </a:lnTo>
                  <a:lnTo>
                    <a:pt x="1062189" y="83754"/>
                  </a:lnTo>
                  <a:lnTo>
                    <a:pt x="1038465" y="84583"/>
                  </a:lnTo>
                  <a:lnTo>
                    <a:pt x="1014741" y="85411"/>
                  </a:lnTo>
                  <a:lnTo>
                    <a:pt x="991017" y="86240"/>
                  </a:lnTo>
                  <a:lnTo>
                    <a:pt x="967294" y="87068"/>
                  </a:lnTo>
                  <a:lnTo>
                    <a:pt x="943570" y="87896"/>
                  </a:lnTo>
                  <a:lnTo>
                    <a:pt x="919846" y="88725"/>
                  </a:lnTo>
                  <a:lnTo>
                    <a:pt x="896122" y="89553"/>
                  </a:lnTo>
                  <a:lnTo>
                    <a:pt x="872398" y="90382"/>
                  </a:lnTo>
                  <a:lnTo>
                    <a:pt x="848674" y="91210"/>
                  </a:lnTo>
                  <a:lnTo>
                    <a:pt x="824951" y="92039"/>
                  </a:lnTo>
                  <a:lnTo>
                    <a:pt x="801227" y="92867"/>
                  </a:lnTo>
                  <a:lnTo>
                    <a:pt x="777503" y="93696"/>
                  </a:lnTo>
                  <a:lnTo>
                    <a:pt x="753779" y="94524"/>
                  </a:lnTo>
                  <a:lnTo>
                    <a:pt x="730055" y="95353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8"/>
                  </a:lnTo>
                  <a:lnTo>
                    <a:pt x="635160" y="98666"/>
                  </a:lnTo>
                  <a:lnTo>
                    <a:pt x="611436" y="99495"/>
                  </a:lnTo>
                  <a:lnTo>
                    <a:pt x="587712" y="100323"/>
                  </a:lnTo>
                  <a:lnTo>
                    <a:pt x="563988" y="101152"/>
                  </a:lnTo>
                  <a:lnTo>
                    <a:pt x="540264" y="101980"/>
                  </a:lnTo>
                  <a:lnTo>
                    <a:pt x="516540" y="102809"/>
                  </a:lnTo>
                  <a:lnTo>
                    <a:pt x="492816" y="103637"/>
                  </a:lnTo>
                  <a:lnTo>
                    <a:pt x="469093" y="104465"/>
                  </a:lnTo>
                  <a:lnTo>
                    <a:pt x="445369" y="105294"/>
                  </a:lnTo>
                  <a:lnTo>
                    <a:pt x="421645" y="106122"/>
                  </a:lnTo>
                  <a:lnTo>
                    <a:pt x="397921" y="106951"/>
                  </a:lnTo>
                  <a:lnTo>
                    <a:pt x="374197" y="107779"/>
                  </a:lnTo>
                  <a:lnTo>
                    <a:pt x="350473" y="108608"/>
                  </a:lnTo>
                  <a:lnTo>
                    <a:pt x="326750" y="109436"/>
                  </a:lnTo>
                  <a:lnTo>
                    <a:pt x="303026" y="110265"/>
                  </a:lnTo>
                  <a:lnTo>
                    <a:pt x="279302" y="111093"/>
                  </a:lnTo>
                  <a:lnTo>
                    <a:pt x="255578" y="111922"/>
                  </a:lnTo>
                  <a:lnTo>
                    <a:pt x="231854" y="112750"/>
                  </a:lnTo>
                  <a:lnTo>
                    <a:pt x="208130" y="113578"/>
                  </a:lnTo>
                  <a:lnTo>
                    <a:pt x="184406" y="114407"/>
                  </a:lnTo>
                  <a:lnTo>
                    <a:pt x="160683" y="115235"/>
                  </a:lnTo>
                  <a:lnTo>
                    <a:pt x="136959" y="116064"/>
                  </a:lnTo>
                  <a:lnTo>
                    <a:pt x="113235" y="116892"/>
                  </a:lnTo>
                  <a:lnTo>
                    <a:pt x="89511" y="117721"/>
                  </a:lnTo>
                  <a:lnTo>
                    <a:pt x="65787" y="118549"/>
                  </a:lnTo>
                  <a:lnTo>
                    <a:pt x="42063" y="119378"/>
                  </a:lnTo>
                  <a:lnTo>
                    <a:pt x="18339" y="120206"/>
                  </a:lnTo>
                  <a:lnTo>
                    <a:pt x="2486" y="112595"/>
                  </a:lnTo>
                  <a:lnTo>
                    <a:pt x="1657" y="88871"/>
                  </a:lnTo>
                  <a:lnTo>
                    <a:pt x="829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3C78B4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9791713" y="1861426"/>
              <a:ext cx="1192255" cy="120205"/>
            </a:xfrm>
            <a:custGeom>
              <a:avLst/>
              <a:gdLst/>
              <a:ahLst/>
              <a:cxnLst/>
              <a:rect l="l" t="t" r="r" b="b"/>
              <a:pathLst>
                <a:path w="1192255" h="120205">
                  <a:moveTo>
                    <a:pt x="0" y="41422"/>
                  </a:moveTo>
                  <a:lnTo>
                    <a:pt x="23724" y="40594"/>
                  </a:lnTo>
                  <a:lnTo>
                    <a:pt x="47447" y="39765"/>
                  </a:lnTo>
                  <a:lnTo>
                    <a:pt x="71171" y="38937"/>
                  </a:lnTo>
                  <a:lnTo>
                    <a:pt x="94895" y="38109"/>
                  </a:lnTo>
                  <a:lnTo>
                    <a:pt x="118619" y="37280"/>
                  </a:lnTo>
                  <a:lnTo>
                    <a:pt x="142343" y="36452"/>
                  </a:lnTo>
                  <a:lnTo>
                    <a:pt x="166067" y="35623"/>
                  </a:lnTo>
                  <a:lnTo>
                    <a:pt x="189790" y="34795"/>
                  </a:lnTo>
                  <a:lnTo>
                    <a:pt x="213514" y="33966"/>
                  </a:lnTo>
                  <a:lnTo>
                    <a:pt x="237238" y="33138"/>
                  </a:lnTo>
                  <a:lnTo>
                    <a:pt x="260962" y="32309"/>
                  </a:lnTo>
                  <a:lnTo>
                    <a:pt x="284686" y="31481"/>
                  </a:lnTo>
                  <a:lnTo>
                    <a:pt x="308410" y="30652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1" y="28167"/>
                  </a:lnTo>
                  <a:lnTo>
                    <a:pt x="403305" y="27339"/>
                  </a:lnTo>
                  <a:lnTo>
                    <a:pt x="427029" y="26510"/>
                  </a:lnTo>
                  <a:lnTo>
                    <a:pt x="450753" y="25682"/>
                  </a:lnTo>
                  <a:lnTo>
                    <a:pt x="474477" y="24853"/>
                  </a:lnTo>
                  <a:lnTo>
                    <a:pt x="498201" y="24025"/>
                  </a:lnTo>
                  <a:lnTo>
                    <a:pt x="521924" y="23196"/>
                  </a:lnTo>
                  <a:lnTo>
                    <a:pt x="545648" y="22368"/>
                  </a:lnTo>
                  <a:lnTo>
                    <a:pt x="569372" y="21539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1" y="17397"/>
                  </a:lnTo>
                  <a:lnTo>
                    <a:pt x="711715" y="16569"/>
                  </a:lnTo>
                  <a:lnTo>
                    <a:pt x="735439" y="15740"/>
                  </a:lnTo>
                  <a:lnTo>
                    <a:pt x="759163" y="14912"/>
                  </a:lnTo>
                  <a:lnTo>
                    <a:pt x="782887" y="14083"/>
                  </a:lnTo>
                  <a:lnTo>
                    <a:pt x="806611" y="13255"/>
                  </a:lnTo>
                  <a:lnTo>
                    <a:pt x="830335" y="12426"/>
                  </a:lnTo>
                  <a:lnTo>
                    <a:pt x="854058" y="11598"/>
                  </a:lnTo>
                  <a:lnTo>
                    <a:pt x="877782" y="10770"/>
                  </a:lnTo>
                  <a:lnTo>
                    <a:pt x="901506" y="9941"/>
                  </a:lnTo>
                  <a:lnTo>
                    <a:pt x="925230" y="9113"/>
                  </a:lnTo>
                  <a:lnTo>
                    <a:pt x="948954" y="8284"/>
                  </a:lnTo>
                  <a:lnTo>
                    <a:pt x="972678" y="7456"/>
                  </a:lnTo>
                  <a:lnTo>
                    <a:pt x="996402" y="6627"/>
                  </a:lnTo>
                  <a:lnTo>
                    <a:pt x="1020125" y="5799"/>
                  </a:lnTo>
                  <a:lnTo>
                    <a:pt x="1043849" y="4970"/>
                  </a:lnTo>
                  <a:lnTo>
                    <a:pt x="1067573" y="4142"/>
                  </a:lnTo>
                  <a:lnTo>
                    <a:pt x="1091297" y="3313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8"/>
                  </a:lnTo>
                  <a:lnTo>
                    <a:pt x="1186192" y="0"/>
                  </a:lnTo>
                  <a:lnTo>
                    <a:pt x="1190598" y="19887"/>
                  </a:lnTo>
                  <a:lnTo>
                    <a:pt x="1191427" y="43611"/>
                  </a:lnTo>
                  <a:lnTo>
                    <a:pt x="1192255" y="67335"/>
                  </a:lnTo>
                  <a:lnTo>
                    <a:pt x="1180808" y="79611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6" y="82097"/>
                  </a:lnTo>
                  <a:lnTo>
                    <a:pt x="1085912" y="82925"/>
                  </a:lnTo>
                  <a:lnTo>
                    <a:pt x="1062188" y="83753"/>
                  </a:lnTo>
                  <a:lnTo>
                    <a:pt x="1038464" y="84582"/>
                  </a:lnTo>
                  <a:lnTo>
                    <a:pt x="1014741" y="85410"/>
                  </a:lnTo>
                  <a:lnTo>
                    <a:pt x="991017" y="86239"/>
                  </a:lnTo>
                  <a:lnTo>
                    <a:pt x="967293" y="87067"/>
                  </a:lnTo>
                  <a:lnTo>
                    <a:pt x="943569" y="87896"/>
                  </a:lnTo>
                  <a:lnTo>
                    <a:pt x="919845" y="88724"/>
                  </a:lnTo>
                  <a:lnTo>
                    <a:pt x="896121" y="89553"/>
                  </a:lnTo>
                  <a:lnTo>
                    <a:pt x="872397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6" y="92866"/>
                  </a:lnTo>
                  <a:lnTo>
                    <a:pt x="777502" y="93695"/>
                  </a:lnTo>
                  <a:lnTo>
                    <a:pt x="753778" y="94523"/>
                  </a:lnTo>
                  <a:lnTo>
                    <a:pt x="730054" y="95352"/>
                  </a:lnTo>
                  <a:lnTo>
                    <a:pt x="706330" y="96180"/>
                  </a:lnTo>
                  <a:lnTo>
                    <a:pt x="682606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5" y="99494"/>
                  </a:lnTo>
                  <a:lnTo>
                    <a:pt x="587711" y="100322"/>
                  </a:lnTo>
                  <a:lnTo>
                    <a:pt x="563987" y="101151"/>
                  </a:lnTo>
                  <a:lnTo>
                    <a:pt x="540263" y="101979"/>
                  </a:lnTo>
                  <a:lnTo>
                    <a:pt x="516540" y="102808"/>
                  </a:lnTo>
                  <a:lnTo>
                    <a:pt x="492816" y="103636"/>
                  </a:lnTo>
                  <a:lnTo>
                    <a:pt x="469092" y="104465"/>
                  </a:lnTo>
                  <a:lnTo>
                    <a:pt x="445368" y="105293"/>
                  </a:lnTo>
                  <a:lnTo>
                    <a:pt x="421644" y="106122"/>
                  </a:lnTo>
                  <a:lnTo>
                    <a:pt x="397920" y="106950"/>
                  </a:lnTo>
                  <a:lnTo>
                    <a:pt x="374196" y="107779"/>
                  </a:lnTo>
                  <a:lnTo>
                    <a:pt x="350473" y="108607"/>
                  </a:lnTo>
                  <a:lnTo>
                    <a:pt x="326749" y="109435"/>
                  </a:lnTo>
                  <a:lnTo>
                    <a:pt x="303025" y="110264"/>
                  </a:lnTo>
                  <a:lnTo>
                    <a:pt x="279301" y="111092"/>
                  </a:lnTo>
                  <a:lnTo>
                    <a:pt x="255577" y="111921"/>
                  </a:lnTo>
                  <a:lnTo>
                    <a:pt x="231853" y="112749"/>
                  </a:lnTo>
                  <a:lnTo>
                    <a:pt x="208129" y="113578"/>
                  </a:lnTo>
                  <a:lnTo>
                    <a:pt x="184405" y="114406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4" y="116892"/>
                  </a:lnTo>
                  <a:lnTo>
                    <a:pt x="89510" y="117720"/>
                  </a:lnTo>
                  <a:lnTo>
                    <a:pt x="65786" y="118548"/>
                  </a:lnTo>
                  <a:lnTo>
                    <a:pt x="42062" y="119377"/>
                  </a:lnTo>
                  <a:lnTo>
                    <a:pt x="18339" y="120205"/>
                  </a:lnTo>
                  <a:lnTo>
                    <a:pt x="2485" y="112594"/>
                  </a:lnTo>
                  <a:lnTo>
                    <a:pt x="1657" y="88870"/>
                  </a:lnTo>
                  <a:lnTo>
                    <a:pt x="828" y="65146"/>
                  </a:lnTo>
                  <a:lnTo>
                    <a:pt x="0" y="41422"/>
                  </a:lnTo>
                  <a:close/>
                </a:path>
              </a:pathLst>
            </a:custGeom>
            <a:solidFill>
              <a:srgbClr val="3C78B4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795591" y="1972483"/>
              <a:ext cx="1192255" cy="120206"/>
            </a:xfrm>
            <a:custGeom>
              <a:avLst/>
              <a:gdLst/>
              <a:ahLst/>
              <a:cxnLst/>
              <a:rect l="l" t="t" r="r" b="b"/>
              <a:pathLst>
                <a:path w="1192255" h="120206">
                  <a:moveTo>
                    <a:pt x="0" y="41423"/>
                  </a:moveTo>
                  <a:lnTo>
                    <a:pt x="23724" y="40594"/>
                  </a:lnTo>
                  <a:lnTo>
                    <a:pt x="47448" y="39766"/>
                  </a:lnTo>
                  <a:lnTo>
                    <a:pt x="71171" y="38937"/>
                  </a:lnTo>
                  <a:lnTo>
                    <a:pt x="94895" y="38109"/>
                  </a:lnTo>
                  <a:lnTo>
                    <a:pt x="118619" y="37280"/>
                  </a:lnTo>
                  <a:lnTo>
                    <a:pt x="142343" y="36452"/>
                  </a:lnTo>
                  <a:lnTo>
                    <a:pt x="166067" y="35624"/>
                  </a:lnTo>
                  <a:lnTo>
                    <a:pt x="189791" y="34795"/>
                  </a:lnTo>
                  <a:lnTo>
                    <a:pt x="213515" y="33967"/>
                  </a:lnTo>
                  <a:lnTo>
                    <a:pt x="237238" y="33138"/>
                  </a:lnTo>
                  <a:lnTo>
                    <a:pt x="260962" y="32310"/>
                  </a:lnTo>
                  <a:lnTo>
                    <a:pt x="284686" y="31481"/>
                  </a:lnTo>
                  <a:lnTo>
                    <a:pt x="308410" y="30653"/>
                  </a:lnTo>
                  <a:lnTo>
                    <a:pt x="332134" y="29824"/>
                  </a:lnTo>
                  <a:lnTo>
                    <a:pt x="355858" y="28996"/>
                  </a:lnTo>
                  <a:lnTo>
                    <a:pt x="379582" y="28167"/>
                  </a:lnTo>
                  <a:lnTo>
                    <a:pt x="403305" y="27339"/>
                  </a:lnTo>
                  <a:lnTo>
                    <a:pt x="427029" y="26511"/>
                  </a:lnTo>
                  <a:lnTo>
                    <a:pt x="450753" y="25682"/>
                  </a:lnTo>
                  <a:lnTo>
                    <a:pt x="474477" y="24854"/>
                  </a:lnTo>
                  <a:lnTo>
                    <a:pt x="498201" y="24025"/>
                  </a:lnTo>
                  <a:lnTo>
                    <a:pt x="521925" y="23197"/>
                  </a:lnTo>
                  <a:lnTo>
                    <a:pt x="545649" y="22368"/>
                  </a:lnTo>
                  <a:lnTo>
                    <a:pt x="569372" y="21540"/>
                  </a:lnTo>
                  <a:lnTo>
                    <a:pt x="593096" y="20711"/>
                  </a:lnTo>
                  <a:lnTo>
                    <a:pt x="616820" y="19883"/>
                  </a:lnTo>
                  <a:lnTo>
                    <a:pt x="640544" y="19054"/>
                  </a:lnTo>
                  <a:lnTo>
                    <a:pt x="664268" y="18226"/>
                  </a:lnTo>
                  <a:lnTo>
                    <a:pt x="687992" y="17397"/>
                  </a:lnTo>
                  <a:lnTo>
                    <a:pt x="711716" y="16569"/>
                  </a:lnTo>
                  <a:lnTo>
                    <a:pt x="735439" y="15741"/>
                  </a:lnTo>
                  <a:lnTo>
                    <a:pt x="759163" y="14912"/>
                  </a:lnTo>
                  <a:lnTo>
                    <a:pt x="782887" y="14084"/>
                  </a:lnTo>
                  <a:lnTo>
                    <a:pt x="806611" y="13255"/>
                  </a:lnTo>
                  <a:lnTo>
                    <a:pt x="830335" y="12427"/>
                  </a:lnTo>
                  <a:lnTo>
                    <a:pt x="854059" y="11598"/>
                  </a:lnTo>
                  <a:lnTo>
                    <a:pt x="877783" y="10770"/>
                  </a:lnTo>
                  <a:lnTo>
                    <a:pt x="901506" y="9941"/>
                  </a:lnTo>
                  <a:lnTo>
                    <a:pt x="925230" y="9113"/>
                  </a:lnTo>
                  <a:lnTo>
                    <a:pt x="948954" y="8284"/>
                  </a:lnTo>
                  <a:lnTo>
                    <a:pt x="972678" y="7456"/>
                  </a:lnTo>
                  <a:lnTo>
                    <a:pt x="996402" y="6628"/>
                  </a:lnTo>
                  <a:lnTo>
                    <a:pt x="1020126" y="5799"/>
                  </a:lnTo>
                  <a:lnTo>
                    <a:pt x="1043850" y="4971"/>
                  </a:lnTo>
                  <a:lnTo>
                    <a:pt x="1067573" y="4142"/>
                  </a:lnTo>
                  <a:lnTo>
                    <a:pt x="1091297" y="3314"/>
                  </a:lnTo>
                  <a:lnTo>
                    <a:pt x="1115021" y="2485"/>
                  </a:lnTo>
                  <a:lnTo>
                    <a:pt x="1138745" y="1657"/>
                  </a:lnTo>
                  <a:lnTo>
                    <a:pt x="1162469" y="828"/>
                  </a:lnTo>
                  <a:lnTo>
                    <a:pt x="1186193" y="0"/>
                  </a:lnTo>
                  <a:lnTo>
                    <a:pt x="1190599" y="19887"/>
                  </a:lnTo>
                  <a:lnTo>
                    <a:pt x="1191427" y="43611"/>
                  </a:lnTo>
                  <a:lnTo>
                    <a:pt x="1192255" y="67335"/>
                  </a:lnTo>
                  <a:lnTo>
                    <a:pt x="1180808" y="79611"/>
                  </a:lnTo>
                  <a:lnTo>
                    <a:pt x="1157084" y="80440"/>
                  </a:lnTo>
                  <a:lnTo>
                    <a:pt x="1133360" y="81268"/>
                  </a:lnTo>
                  <a:lnTo>
                    <a:pt x="1109636" y="82097"/>
                  </a:lnTo>
                  <a:lnTo>
                    <a:pt x="1085912" y="82925"/>
                  </a:lnTo>
                  <a:lnTo>
                    <a:pt x="1062188" y="83754"/>
                  </a:lnTo>
                  <a:lnTo>
                    <a:pt x="1038465" y="84582"/>
                  </a:lnTo>
                  <a:lnTo>
                    <a:pt x="1014741" y="85411"/>
                  </a:lnTo>
                  <a:lnTo>
                    <a:pt x="991017" y="86239"/>
                  </a:lnTo>
                  <a:lnTo>
                    <a:pt x="967293" y="87068"/>
                  </a:lnTo>
                  <a:lnTo>
                    <a:pt x="943569" y="87896"/>
                  </a:lnTo>
                  <a:lnTo>
                    <a:pt x="919845" y="88724"/>
                  </a:lnTo>
                  <a:lnTo>
                    <a:pt x="896121" y="89553"/>
                  </a:lnTo>
                  <a:lnTo>
                    <a:pt x="872398" y="90381"/>
                  </a:lnTo>
                  <a:lnTo>
                    <a:pt x="848674" y="91210"/>
                  </a:lnTo>
                  <a:lnTo>
                    <a:pt x="824950" y="92038"/>
                  </a:lnTo>
                  <a:lnTo>
                    <a:pt x="801226" y="92867"/>
                  </a:lnTo>
                  <a:lnTo>
                    <a:pt x="777502" y="93695"/>
                  </a:lnTo>
                  <a:lnTo>
                    <a:pt x="753778" y="94524"/>
                  </a:lnTo>
                  <a:lnTo>
                    <a:pt x="730054" y="95352"/>
                  </a:lnTo>
                  <a:lnTo>
                    <a:pt x="706331" y="96181"/>
                  </a:lnTo>
                  <a:lnTo>
                    <a:pt x="682607" y="97009"/>
                  </a:lnTo>
                  <a:lnTo>
                    <a:pt x="658883" y="97837"/>
                  </a:lnTo>
                  <a:lnTo>
                    <a:pt x="635159" y="98666"/>
                  </a:lnTo>
                  <a:lnTo>
                    <a:pt x="611435" y="99494"/>
                  </a:lnTo>
                  <a:lnTo>
                    <a:pt x="587711" y="100323"/>
                  </a:lnTo>
                  <a:lnTo>
                    <a:pt x="563987" y="101151"/>
                  </a:lnTo>
                  <a:lnTo>
                    <a:pt x="540264" y="101980"/>
                  </a:lnTo>
                  <a:lnTo>
                    <a:pt x="516540" y="102808"/>
                  </a:lnTo>
                  <a:lnTo>
                    <a:pt x="492816" y="103637"/>
                  </a:lnTo>
                  <a:lnTo>
                    <a:pt x="469092" y="104465"/>
                  </a:lnTo>
                  <a:lnTo>
                    <a:pt x="445368" y="105293"/>
                  </a:lnTo>
                  <a:lnTo>
                    <a:pt x="421644" y="106122"/>
                  </a:lnTo>
                  <a:lnTo>
                    <a:pt x="397920" y="106950"/>
                  </a:lnTo>
                  <a:lnTo>
                    <a:pt x="374197" y="107779"/>
                  </a:lnTo>
                  <a:lnTo>
                    <a:pt x="350473" y="108607"/>
                  </a:lnTo>
                  <a:lnTo>
                    <a:pt x="326749" y="109436"/>
                  </a:lnTo>
                  <a:lnTo>
                    <a:pt x="303025" y="110264"/>
                  </a:lnTo>
                  <a:lnTo>
                    <a:pt x="279301" y="111093"/>
                  </a:lnTo>
                  <a:lnTo>
                    <a:pt x="255577" y="111921"/>
                  </a:lnTo>
                  <a:lnTo>
                    <a:pt x="231853" y="112750"/>
                  </a:lnTo>
                  <a:lnTo>
                    <a:pt x="208130" y="113578"/>
                  </a:lnTo>
                  <a:lnTo>
                    <a:pt x="184406" y="114406"/>
                  </a:lnTo>
                  <a:lnTo>
                    <a:pt x="160682" y="115235"/>
                  </a:lnTo>
                  <a:lnTo>
                    <a:pt x="136958" y="116063"/>
                  </a:lnTo>
                  <a:lnTo>
                    <a:pt x="113234" y="116892"/>
                  </a:lnTo>
                  <a:lnTo>
                    <a:pt x="89510" y="117720"/>
                  </a:lnTo>
                  <a:lnTo>
                    <a:pt x="65787" y="118549"/>
                  </a:lnTo>
                  <a:lnTo>
                    <a:pt x="42063" y="119377"/>
                  </a:lnTo>
                  <a:lnTo>
                    <a:pt x="18339" y="120206"/>
                  </a:lnTo>
                  <a:lnTo>
                    <a:pt x="2485" y="112594"/>
                  </a:lnTo>
                  <a:lnTo>
                    <a:pt x="1657" y="88871"/>
                  </a:lnTo>
                  <a:lnTo>
                    <a:pt x="828" y="65147"/>
                  </a:lnTo>
                  <a:lnTo>
                    <a:pt x="0" y="41423"/>
                  </a:lnTo>
                  <a:close/>
                </a:path>
              </a:pathLst>
            </a:custGeom>
            <a:solidFill>
              <a:srgbClr val="E4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 rot="21480000">
              <a:off x="11017503" y="608701"/>
              <a:ext cx="261078" cy="177329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D9772B"/>
                  </a:solidFill>
                  <a:latin typeface="Patrick Hand"/>
                </a:rPr>
                <a:t>said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21480000">
              <a:off x="11023154" y="766870"/>
              <a:ext cx="380732" cy="161947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75" b="0" i="0">
                  <a:solidFill>
                    <a:srgbClr val="6A7385"/>
                  </a:solidFill>
                  <a:latin typeface="Patrick Hand"/>
                </a:rPr>
                <a:t>L57–61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 rot="21480000">
              <a:off x="11051299" y="1575821"/>
              <a:ext cx="282972" cy="177994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3C78B4"/>
                  </a:solidFill>
                  <a:latin typeface="Patrick Hand"/>
                </a:rPr>
                <a:t>read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 rot="21480000">
              <a:off x="11056950" y="1734323"/>
              <a:ext cx="391679" cy="1622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75" b="0" i="0">
                  <a:solidFill>
                    <a:srgbClr val="6A7385"/>
                  </a:solidFill>
                  <a:latin typeface="Patrick Hand"/>
                </a:rPr>
                <a:t>L24–50</a:t>
              </a:r>
            </a:p>
          </p:txBody>
        </p:sp>
        <p:sp>
          <p:nvSpPr>
            <p:cNvPr id="22" name="Freeform 21"/>
            <p:cNvSpPr/>
            <p:nvPr/>
          </p:nvSpPr>
          <p:spPr>
            <a:xfrm>
              <a:off x="9548134" y="763315"/>
              <a:ext cx="162590" cy="1094708"/>
            </a:xfrm>
            <a:custGeom>
              <a:avLst/>
              <a:gdLst/>
              <a:ahLst/>
              <a:cxnLst/>
              <a:rect l="l" t="t" r="r" b="b"/>
              <a:pathLst>
                <a:path w="162590" h="1094708">
                  <a:moveTo>
                    <a:pt x="162590" y="1094708"/>
                  </a:moveTo>
                  <a:lnTo>
                    <a:pt x="147016" y="1076467"/>
                  </a:lnTo>
                  <a:lnTo>
                    <a:pt x="132701" y="1057221"/>
                  </a:lnTo>
                  <a:lnTo>
                    <a:pt x="119540" y="1037167"/>
                  </a:lnTo>
                  <a:lnTo>
                    <a:pt x="107432" y="1016460"/>
                  </a:lnTo>
                  <a:lnTo>
                    <a:pt x="96283" y="995220"/>
                  </a:lnTo>
                  <a:lnTo>
                    <a:pt x="86011" y="973543"/>
                  </a:lnTo>
                  <a:lnTo>
                    <a:pt x="76544" y="951501"/>
                  </a:lnTo>
                  <a:lnTo>
                    <a:pt x="67819" y="929155"/>
                  </a:lnTo>
                  <a:lnTo>
                    <a:pt x="59781" y="906553"/>
                  </a:lnTo>
                  <a:lnTo>
                    <a:pt x="52383" y="883733"/>
                  </a:lnTo>
                  <a:lnTo>
                    <a:pt x="45584" y="860727"/>
                  </a:lnTo>
                  <a:lnTo>
                    <a:pt x="39350" y="837562"/>
                  </a:lnTo>
                  <a:lnTo>
                    <a:pt x="33648" y="814260"/>
                  </a:lnTo>
                  <a:lnTo>
                    <a:pt x="28452" y="790840"/>
                  </a:lnTo>
                  <a:lnTo>
                    <a:pt x="23741" y="767318"/>
                  </a:lnTo>
                  <a:lnTo>
                    <a:pt x="19494" y="743707"/>
                  </a:lnTo>
                  <a:lnTo>
                    <a:pt x="15695" y="720021"/>
                  </a:lnTo>
                  <a:lnTo>
                    <a:pt x="12329" y="696268"/>
                  </a:lnTo>
                  <a:lnTo>
                    <a:pt x="9385" y="672460"/>
                  </a:lnTo>
                  <a:lnTo>
                    <a:pt x="6853" y="648604"/>
                  </a:lnTo>
                  <a:lnTo>
                    <a:pt x="4726" y="624709"/>
                  </a:lnTo>
                  <a:lnTo>
                    <a:pt x="2998" y="600782"/>
                  </a:lnTo>
                  <a:lnTo>
                    <a:pt x="1661" y="576830"/>
                  </a:lnTo>
                  <a:lnTo>
                    <a:pt x="716" y="552859"/>
                  </a:lnTo>
                  <a:lnTo>
                    <a:pt x="163" y="528876"/>
                  </a:lnTo>
                  <a:lnTo>
                    <a:pt x="0" y="504886"/>
                  </a:lnTo>
                  <a:lnTo>
                    <a:pt x="231" y="480898"/>
                  </a:lnTo>
                  <a:lnTo>
                    <a:pt x="857" y="456916"/>
                  </a:lnTo>
                  <a:lnTo>
                    <a:pt x="1888" y="432949"/>
                  </a:lnTo>
                  <a:lnTo>
                    <a:pt x="3327" y="409003"/>
                  </a:lnTo>
                  <a:lnTo>
                    <a:pt x="5185" y="385085"/>
                  </a:lnTo>
                  <a:lnTo>
                    <a:pt x="7473" y="361205"/>
                  </a:lnTo>
                  <a:lnTo>
                    <a:pt x="10204" y="337371"/>
                  </a:lnTo>
                  <a:lnTo>
                    <a:pt x="13394" y="313595"/>
                  </a:lnTo>
                  <a:lnTo>
                    <a:pt x="17061" y="289887"/>
                  </a:lnTo>
                  <a:lnTo>
                    <a:pt x="21227" y="266262"/>
                  </a:lnTo>
                  <a:lnTo>
                    <a:pt x="25916" y="242736"/>
                  </a:lnTo>
                  <a:lnTo>
                    <a:pt x="31157" y="219326"/>
                  </a:lnTo>
                  <a:lnTo>
                    <a:pt x="36983" y="196055"/>
                  </a:lnTo>
                  <a:lnTo>
                    <a:pt x="43433" y="172949"/>
                  </a:lnTo>
                  <a:lnTo>
                    <a:pt x="50550" y="150040"/>
                  </a:lnTo>
                  <a:lnTo>
                    <a:pt x="58384" y="127367"/>
                  </a:lnTo>
                  <a:lnTo>
                    <a:pt x="66995" y="104977"/>
                  </a:lnTo>
                  <a:lnTo>
                    <a:pt x="76448" y="82930"/>
                  </a:lnTo>
                  <a:lnTo>
                    <a:pt x="86821" y="61301"/>
                  </a:lnTo>
                  <a:lnTo>
                    <a:pt x="98198" y="40183"/>
                  </a:lnTo>
                  <a:lnTo>
                    <a:pt x="110678" y="19699"/>
                  </a:lnTo>
                  <a:lnTo>
                    <a:pt x="124362" y="0"/>
                  </a:lnTo>
                </a:path>
              </a:pathLst>
            </a:custGeom>
            <a:noFill/>
            <a:ln w="23812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9611251" y="747450"/>
              <a:ext cx="126922" cy="81542"/>
            </a:xfrm>
            <a:custGeom>
              <a:avLst/>
              <a:gdLst/>
              <a:ahLst/>
              <a:cxnLst/>
              <a:rect l="l" t="t" r="r" b="b"/>
              <a:pathLst>
                <a:path w="126922" h="81542">
                  <a:moveTo>
                    <a:pt x="0" y="81542"/>
                  </a:moveTo>
                  <a:lnTo>
                    <a:pt x="10115" y="67952"/>
                  </a:lnTo>
                  <a:lnTo>
                    <a:pt x="20230" y="54361"/>
                  </a:lnTo>
                  <a:lnTo>
                    <a:pt x="30345" y="40771"/>
                  </a:lnTo>
                  <a:lnTo>
                    <a:pt x="40460" y="27180"/>
                  </a:lnTo>
                  <a:lnTo>
                    <a:pt x="50576" y="13590"/>
                  </a:lnTo>
                  <a:lnTo>
                    <a:pt x="60691" y="0"/>
                  </a:lnTo>
                  <a:lnTo>
                    <a:pt x="71729" y="12851"/>
                  </a:lnTo>
                  <a:lnTo>
                    <a:pt x="82768" y="25703"/>
                  </a:lnTo>
                  <a:lnTo>
                    <a:pt x="93807" y="38555"/>
                  </a:lnTo>
                  <a:lnTo>
                    <a:pt x="104845" y="51407"/>
                  </a:lnTo>
                  <a:lnTo>
                    <a:pt x="115884" y="64258"/>
                  </a:lnTo>
                  <a:lnTo>
                    <a:pt x="126922" y="77110"/>
                  </a:lnTo>
                </a:path>
              </a:pathLst>
            </a:custGeom>
            <a:noFill/>
            <a:ln w="23812">
              <a:solidFill>
                <a:srgbClr val="3E8E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9798361" y="2051801"/>
              <a:ext cx="1195580" cy="215415"/>
            </a:xfrm>
            <a:custGeom>
              <a:avLst/>
              <a:gdLst/>
              <a:ahLst/>
              <a:cxnLst/>
              <a:rect l="l" t="t" r="r" b="b"/>
              <a:pathLst>
                <a:path w="1195580" h="215415">
                  <a:moveTo>
                    <a:pt x="0" y="41431"/>
                  </a:moveTo>
                  <a:lnTo>
                    <a:pt x="23729" y="40603"/>
                  </a:lnTo>
                  <a:lnTo>
                    <a:pt x="47458" y="39774"/>
                  </a:lnTo>
                  <a:lnTo>
                    <a:pt x="71187" y="38945"/>
                  </a:lnTo>
                  <a:lnTo>
                    <a:pt x="94916" y="38117"/>
                  </a:lnTo>
                  <a:lnTo>
                    <a:pt x="118645" y="37288"/>
                  </a:lnTo>
                  <a:lnTo>
                    <a:pt x="142374" y="36460"/>
                  </a:lnTo>
                  <a:lnTo>
                    <a:pt x="166103" y="35631"/>
                  </a:lnTo>
                  <a:lnTo>
                    <a:pt x="189832" y="34802"/>
                  </a:lnTo>
                  <a:lnTo>
                    <a:pt x="213561" y="33974"/>
                  </a:lnTo>
                  <a:lnTo>
                    <a:pt x="237290" y="33145"/>
                  </a:lnTo>
                  <a:lnTo>
                    <a:pt x="261019" y="32316"/>
                  </a:lnTo>
                  <a:lnTo>
                    <a:pt x="284748" y="31488"/>
                  </a:lnTo>
                  <a:lnTo>
                    <a:pt x="308477" y="30659"/>
                  </a:lnTo>
                  <a:lnTo>
                    <a:pt x="332206" y="29830"/>
                  </a:lnTo>
                  <a:lnTo>
                    <a:pt x="355935" y="29002"/>
                  </a:lnTo>
                  <a:lnTo>
                    <a:pt x="379664" y="28173"/>
                  </a:lnTo>
                  <a:lnTo>
                    <a:pt x="403393" y="27345"/>
                  </a:lnTo>
                  <a:lnTo>
                    <a:pt x="427122" y="26516"/>
                  </a:lnTo>
                  <a:lnTo>
                    <a:pt x="450851" y="25687"/>
                  </a:lnTo>
                  <a:lnTo>
                    <a:pt x="474580" y="24859"/>
                  </a:lnTo>
                  <a:lnTo>
                    <a:pt x="498309" y="24030"/>
                  </a:lnTo>
                  <a:lnTo>
                    <a:pt x="522038" y="23201"/>
                  </a:lnTo>
                  <a:lnTo>
                    <a:pt x="545767" y="22373"/>
                  </a:lnTo>
                  <a:lnTo>
                    <a:pt x="569496" y="21544"/>
                  </a:lnTo>
                  <a:lnTo>
                    <a:pt x="593225" y="20715"/>
                  </a:lnTo>
                  <a:lnTo>
                    <a:pt x="616954" y="19887"/>
                  </a:lnTo>
                  <a:lnTo>
                    <a:pt x="640683" y="19058"/>
                  </a:lnTo>
                  <a:lnTo>
                    <a:pt x="664412" y="18230"/>
                  </a:lnTo>
                  <a:lnTo>
                    <a:pt x="688141" y="17401"/>
                  </a:lnTo>
                  <a:lnTo>
                    <a:pt x="711870" y="16572"/>
                  </a:lnTo>
                  <a:lnTo>
                    <a:pt x="735599" y="15744"/>
                  </a:lnTo>
                  <a:lnTo>
                    <a:pt x="759328" y="14915"/>
                  </a:lnTo>
                  <a:lnTo>
                    <a:pt x="783057" y="14086"/>
                  </a:lnTo>
                  <a:lnTo>
                    <a:pt x="806786" y="13258"/>
                  </a:lnTo>
                  <a:lnTo>
                    <a:pt x="830515" y="12429"/>
                  </a:lnTo>
                  <a:lnTo>
                    <a:pt x="854244" y="11600"/>
                  </a:lnTo>
                  <a:lnTo>
                    <a:pt x="877973" y="10772"/>
                  </a:lnTo>
                  <a:lnTo>
                    <a:pt x="901702" y="9943"/>
                  </a:lnTo>
                  <a:lnTo>
                    <a:pt x="925431" y="9115"/>
                  </a:lnTo>
                  <a:lnTo>
                    <a:pt x="949161" y="8286"/>
                  </a:lnTo>
                  <a:lnTo>
                    <a:pt x="972890" y="7457"/>
                  </a:lnTo>
                  <a:lnTo>
                    <a:pt x="996619" y="6629"/>
                  </a:lnTo>
                  <a:lnTo>
                    <a:pt x="1020348" y="5800"/>
                  </a:lnTo>
                  <a:lnTo>
                    <a:pt x="1044077" y="4971"/>
                  </a:lnTo>
                  <a:lnTo>
                    <a:pt x="1067806" y="4143"/>
                  </a:lnTo>
                  <a:lnTo>
                    <a:pt x="1091535" y="3314"/>
                  </a:lnTo>
                  <a:lnTo>
                    <a:pt x="1115264" y="2485"/>
                  </a:lnTo>
                  <a:lnTo>
                    <a:pt x="1138993" y="1657"/>
                  </a:lnTo>
                  <a:lnTo>
                    <a:pt x="1162722" y="828"/>
                  </a:lnTo>
                  <a:lnTo>
                    <a:pt x="1186451" y="0"/>
                  </a:lnTo>
                  <a:lnTo>
                    <a:pt x="1190608" y="20159"/>
                  </a:lnTo>
                  <a:lnTo>
                    <a:pt x="1191436" y="43888"/>
                  </a:lnTo>
                  <a:lnTo>
                    <a:pt x="1192265" y="67617"/>
                  </a:lnTo>
                  <a:lnTo>
                    <a:pt x="1193094" y="91346"/>
                  </a:lnTo>
                  <a:lnTo>
                    <a:pt x="1193922" y="115075"/>
                  </a:lnTo>
                  <a:lnTo>
                    <a:pt x="1194751" y="138804"/>
                  </a:lnTo>
                  <a:lnTo>
                    <a:pt x="1195580" y="162533"/>
                  </a:lnTo>
                  <a:lnTo>
                    <a:pt x="1184129" y="174812"/>
                  </a:lnTo>
                  <a:lnTo>
                    <a:pt x="1160400" y="175641"/>
                  </a:lnTo>
                  <a:lnTo>
                    <a:pt x="1136671" y="176469"/>
                  </a:lnTo>
                  <a:lnTo>
                    <a:pt x="1112942" y="177298"/>
                  </a:lnTo>
                  <a:lnTo>
                    <a:pt x="1089213" y="178127"/>
                  </a:lnTo>
                  <a:lnTo>
                    <a:pt x="1065484" y="178955"/>
                  </a:lnTo>
                  <a:lnTo>
                    <a:pt x="1041755" y="179784"/>
                  </a:lnTo>
                  <a:lnTo>
                    <a:pt x="1018026" y="180613"/>
                  </a:lnTo>
                  <a:lnTo>
                    <a:pt x="994297" y="181441"/>
                  </a:lnTo>
                  <a:lnTo>
                    <a:pt x="970568" y="182270"/>
                  </a:lnTo>
                  <a:lnTo>
                    <a:pt x="946839" y="183099"/>
                  </a:lnTo>
                  <a:lnTo>
                    <a:pt x="923110" y="183927"/>
                  </a:lnTo>
                  <a:lnTo>
                    <a:pt x="899381" y="184756"/>
                  </a:lnTo>
                  <a:lnTo>
                    <a:pt x="875652" y="185584"/>
                  </a:lnTo>
                  <a:lnTo>
                    <a:pt x="851923" y="186413"/>
                  </a:lnTo>
                  <a:lnTo>
                    <a:pt x="828194" y="187242"/>
                  </a:lnTo>
                  <a:lnTo>
                    <a:pt x="804465" y="188070"/>
                  </a:lnTo>
                  <a:lnTo>
                    <a:pt x="780736" y="188899"/>
                  </a:lnTo>
                  <a:lnTo>
                    <a:pt x="757007" y="189728"/>
                  </a:lnTo>
                  <a:lnTo>
                    <a:pt x="733278" y="190556"/>
                  </a:lnTo>
                  <a:lnTo>
                    <a:pt x="709549" y="191385"/>
                  </a:lnTo>
                  <a:lnTo>
                    <a:pt x="685820" y="192213"/>
                  </a:lnTo>
                  <a:lnTo>
                    <a:pt x="662091" y="193042"/>
                  </a:lnTo>
                  <a:lnTo>
                    <a:pt x="638362" y="193871"/>
                  </a:lnTo>
                  <a:lnTo>
                    <a:pt x="614633" y="194699"/>
                  </a:lnTo>
                  <a:lnTo>
                    <a:pt x="590904" y="195528"/>
                  </a:lnTo>
                  <a:lnTo>
                    <a:pt x="567175" y="196357"/>
                  </a:lnTo>
                  <a:lnTo>
                    <a:pt x="543446" y="197185"/>
                  </a:lnTo>
                  <a:lnTo>
                    <a:pt x="519717" y="198014"/>
                  </a:lnTo>
                  <a:lnTo>
                    <a:pt x="495988" y="198843"/>
                  </a:lnTo>
                  <a:lnTo>
                    <a:pt x="472259" y="199671"/>
                  </a:lnTo>
                  <a:lnTo>
                    <a:pt x="448530" y="200500"/>
                  </a:lnTo>
                  <a:lnTo>
                    <a:pt x="424801" y="201328"/>
                  </a:lnTo>
                  <a:lnTo>
                    <a:pt x="401072" y="202157"/>
                  </a:lnTo>
                  <a:lnTo>
                    <a:pt x="377343" y="202986"/>
                  </a:lnTo>
                  <a:lnTo>
                    <a:pt x="353614" y="203814"/>
                  </a:lnTo>
                  <a:lnTo>
                    <a:pt x="329885" y="204643"/>
                  </a:lnTo>
                  <a:lnTo>
                    <a:pt x="306156" y="205472"/>
                  </a:lnTo>
                  <a:lnTo>
                    <a:pt x="282427" y="206300"/>
                  </a:lnTo>
                  <a:lnTo>
                    <a:pt x="258698" y="207129"/>
                  </a:lnTo>
                  <a:lnTo>
                    <a:pt x="234969" y="207957"/>
                  </a:lnTo>
                  <a:lnTo>
                    <a:pt x="211240" y="208786"/>
                  </a:lnTo>
                  <a:lnTo>
                    <a:pt x="187511" y="209615"/>
                  </a:lnTo>
                  <a:lnTo>
                    <a:pt x="163782" y="210443"/>
                  </a:lnTo>
                  <a:lnTo>
                    <a:pt x="140053" y="211272"/>
                  </a:lnTo>
                  <a:lnTo>
                    <a:pt x="116324" y="212101"/>
                  </a:lnTo>
                  <a:lnTo>
                    <a:pt x="92595" y="212929"/>
                  </a:lnTo>
                  <a:lnTo>
                    <a:pt x="68866" y="213758"/>
                  </a:lnTo>
                  <a:lnTo>
                    <a:pt x="45137" y="214587"/>
                  </a:lnTo>
                  <a:lnTo>
                    <a:pt x="21408" y="215415"/>
                  </a:lnTo>
                  <a:lnTo>
                    <a:pt x="5800" y="207534"/>
                  </a:lnTo>
                  <a:lnTo>
                    <a:pt x="4972" y="183805"/>
                  </a:lnTo>
                  <a:lnTo>
                    <a:pt x="4143" y="160076"/>
                  </a:lnTo>
                  <a:lnTo>
                    <a:pt x="3315" y="136347"/>
                  </a:lnTo>
                  <a:lnTo>
                    <a:pt x="2486" y="112618"/>
                  </a:lnTo>
                  <a:lnTo>
                    <a:pt x="1657" y="88889"/>
                  </a:lnTo>
                  <a:lnTo>
                    <a:pt x="829" y="65160"/>
                  </a:lnTo>
                  <a:lnTo>
                    <a:pt x="0" y="4143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 rot="21480000">
              <a:off x="10260703" y="2080404"/>
              <a:ext cx="271643" cy="168142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7" b="0" i="0">
                  <a:solidFill>
                    <a:srgbClr val="22304A"/>
                  </a:solidFill>
                  <a:latin typeface="Patrick Hand"/>
                </a:rPr>
                <a:t>title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66750" y="1009650"/>
            <a:ext cx="1129284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A7385"/>
                </a:solidFill>
                <a:latin typeface="Patrick Hand"/>
              </a:rPr>
              <a:t>Line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1316236"/>
            <a:ext cx="812292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615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3E8E4E"/>
                </a:solidFill>
                <a:latin typeface="Caveat"/>
              </a:rPr>
              <a:t>When does it appear, and when is it used?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" y="3411885"/>
            <a:ext cx="5038725" cy="952500"/>
          </a:xfrm>
          <a:prstGeom prst="roundRect">
            <a:avLst>
              <a:gd name="adj" fmla="val 14000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tIns="190500" rIns="247650" bIns="1905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14400" y="3604022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small samples asked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859560"/>
            <a:ext cx="472516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Which layer peaks? (L56 kept standing out)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91225" y="3815060"/>
            <a:ext cx="29718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22304A">
                    <a:alpha val="80000"/>
                  </a:srgbClr>
                </a:solidFill>
                <a:latin typeface="Patrick Hand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2725" y="3415010"/>
            <a:ext cx="4962525" cy="1181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772275" y="3565922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385"/>
                </a:solidFill>
                <a:latin typeface="Patrick Hand"/>
              </a:rPr>
              <a:t>the full cohort answered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2275" y="3824585"/>
            <a:ext cx="4725162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22304A"/>
                </a:solidFill>
                <a:latin typeface="Patrick Hand"/>
              </a:rPr>
              <a:t>Readable late (L57–61) but read from the title early (L24–50)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3850" y="6467475"/>
            <a:ext cx="15849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32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191875" y="209550"/>
            <a:ext cx="7524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First readout: is any author signal there?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20 papers, 93 authors (A8 / B8 / C3 / D1); ~91 s per paper, ~29.5 GiB GPU</a:t>
            </a:r>
          </a:p>
        </p:txBody>
      </p:sp>
      <p:sp>
        <p:nvSpPr>
          <p:cNvPr id="6" name="Rectangle 5"/>
          <p:cNvSpPr/>
          <p:nvPr/>
        </p:nvSpPr>
        <p:spPr>
          <a:xfrm rot="21570000">
            <a:off x="1333500" y="1542231"/>
            <a:ext cx="9525000" cy="307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fd299b67b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70000">
            <a:off x="1427877" y="1637485"/>
            <a:ext cx="9334500" cy="2686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570000">
            <a:off x="1459679" y="4360761"/>
            <a:ext cx="966978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Layer profiles: first-listed first-token RR (left) and conditional full-name JMRR (right)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852" y="4829026"/>
            <a:ext cx="5278946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The pipeline works and J-Lens rises above Vanilla in middle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852" y="5524202"/>
            <a:ext cx="5278946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L56 first-author mean RR 0.0070, median only 0.0009</a:t>
            </a:r>
          </a:p>
        </p:txBody>
      </p:sp>
      <p:sp>
        <p:nvSpPr>
          <p:cNvPr id="11" name="Rectangle 10"/>
          <p:cNvSpPr/>
          <p:nvPr/>
        </p:nvSpPr>
        <p:spPr>
          <a:xfrm rot="21540000">
            <a:off x="6029325" y="4825528"/>
            <a:ext cx="5495925" cy="12192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One paper = 71% of the L56 mean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Dropping it: 0.0070 → 0.0021. A layer peak can be a single easy paper, so every later stage adds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3850" y="6467475"/>
            <a:ext cx="15849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33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72750" y="209550"/>
            <a:ext cx="13716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7.2 · Line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Gold vs 100 real false authors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50 matched (same field, token count, year) + 50 random names per paper; 75,000 scored pairs</a:t>
            </a:r>
          </a:p>
        </p:txBody>
      </p:sp>
      <p:sp>
        <p:nvSpPr>
          <p:cNvPr id="6" name="Rectangle 5"/>
          <p:cNvSpPr/>
          <p:nvPr/>
        </p:nvSpPr>
        <p:spPr>
          <a:xfrm rot="21570000">
            <a:off x="666750" y="1541339"/>
            <a:ext cx="5905500" cy="2162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e93556fb9e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70000">
            <a:off x="761127" y="1636592"/>
            <a:ext cx="5715000" cy="1771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570000">
            <a:off x="788931" y="3444593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Matched A−B gold win rate, 100-candidate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2002" y="1544538"/>
            <a:ext cx="485298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J-Lens A−B: L40 +0.15, L48 </a:t>
            </a:r>
            <a:r>
              <a:rPr sz="1725" b="0" i="0" u="sng">
                <a:solidFill>
                  <a:srgbClr val="F6A65A"/>
                </a:solidFill>
                <a:latin typeface="Patrick Hand"/>
              </a:rPr>
              <a:t>+0.19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, L56 +0.19 (CIs above 0); L62 +0.04 (spans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2002" y="2239714"/>
            <a:ext cx="48529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7-layer integrated: +0.105 [−0.012, +0.228]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2002" y="2626965"/>
            <a:ext cx="48529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156/5,000 false names share the gold first token (ties)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2002" y="3014216"/>
            <a:ext cx="485298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100 names → only ~46 distinct first tokens</a:t>
            </a:r>
          </a:p>
        </p:txBody>
      </p:sp>
      <p:sp>
        <p:nvSpPr>
          <p:cNvPr id="13" name="Rectangle 12"/>
          <p:cNvSpPr/>
          <p:nvPr/>
        </p:nvSpPr>
        <p:spPr>
          <a:xfrm rot="72000">
            <a:off x="6477000" y="5401717"/>
            <a:ext cx="4953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Gold beats real names in middle layers for A more than B. But the same names might win under any title: 7.3 tests that.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34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AAB4C5"/>
                </a:solidFill>
                <a:latin typeface="Patrick Hand"/>
              </a:rPr>
              <a:t>Stages 1–9 · 20–200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EEF1F5"/>
                </a:solidFill>
                <a:latin typeface="Caveat"/>
              </a:rPr>
              <a:t>What we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Stage 4 peak at L56 driven by one paper (71%)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68384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7.2: A−B win-rate positive at L40–L56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071092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7.3, 8: L56 title advantage; L56 became the primary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1325" y="209550"/>
            <a:ext cx="13430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A7385"/>
                </a:solidFill>
                <a:latin typeface="Patrick Hand"/>
              </a:rPr>
              <a:t>Stages 10–11 · 9,108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22304A"/>
                </a:solidFill>
                <a:latin typeface="Caveat"/>
              </a:rPr>
              <a:t>What scale showed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727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L56 is where it </a:t>
            </a:r>
            <a:r>
              <a:rPr sz="1725" b="0" i="1">
                <a:solidFill>
                  <a:srgbClr val="22304A"/>
                </a:solidFill>
                <a:latin typeface="Patrick Hand"/>
              </a:rPr>
              <a:t>starts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; steepest rise L57–L61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727" y="1686967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Patching: copying tail states recovers 80–87% at L48, 100% from L52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727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Knockout: blocking the title from L52 on costs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39</a:t>
            </a:r>
          </a:p>
        </p:txBody>
      </p:sp>
      <p:sp>
        <p:nvSpPr>
          <p:cNvPr id="15" name="Rectangle 14"/>
          <p:cNvSpPr/>
          <p:nvPr/>
        </p:nvSpPr>
        <p:spPr>
          <a:xfrm rot="21570000">
            <a:off x="1809750" y="5088359"/>
            <a:ext cx="8572500" cy="12192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Line C: “read early, spoken late”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L56 was a real landmark, but not the peak. Interventions add what readouts cannot: the title is consumed in L24–50, and the answer only becomes readable at the name a dozen layers later.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D</a:t>
            </a:r>
          </a:p>
        </p:txBody>
      </p:sp>
      <p:grpSp>
        <p:nvGrpSpPr>
          <p:cNvPr id="4" name="illustration"/>
          <p:cNvGrpSpPr/>
          <p:nvPr/>
        </p:nvGrpSpPr>
        <p:grpSpPr>
          <a:xfrm>
            <a:off x="9529637" y="743312"/>
            <a:ext cx="1858418" cy="1479380"/>
            <a:chOff x="9529637" y="743312"/>
            <a:chExt cx="1858418" cy="1479380"/>
          </a:xfrm>
        </p:grpSpPr>
        <p:sp>
          <p:nvSpPr>
            <p:cNvPr id="5" name="Freeform 4"/>
            <p:cNvSpPr/>
            <p:nvPr/>
          </p:nvSpPr>
          <p:spPr>
            <a:xfrm>
              <a:off x="9541315" y="1563314"/>
              <a:ext cx="427520" cy="338040"/>
            </a:xfrm>
            <a:custGeom>
              <a:avLst/>
              <a:gdLst/>
              <a:ahLst/>
              <a:cxnLst/>
              <a:rect l="l" t="t" r="r" b="b"/>
              <a:pathLst>
                <a:path w="427520" h="338040">
                  <a:moveTo>
                    <a:pt x="16289" y="0"/>
                  </a:moveTo>
                  <a:lnTo>
                    <a:pt x="40199" y="1253"/>
                  </a:lnTo>
                  <a:lnTo>
                    <a:pt x="64109" y="2506"/>
                  </a:lnTo>
                  <a:lnTo>
                    <a:pt x="88019" y="3759"/>
                  </a:lnTo>
                  <a:lnTo>
                    <a:pt x="111929" y="5012"/>
                  </a:lnTo>
                  <a:lnTo>
                    <a:pt x="135839" y="6265"/>
                  </a:lnTo>
                  <a:lnTo>
                    <a:pt x="159748" y="7518"/>
                  </a:lnTo>
                  <a:lnTo>
                    <a:pt x="183658" y="8771"/>
                  </a:lnTo>
                  <a:lnTo>
                    <a:pt x="207568" y="10024"/>
                  </a:lnTo>
                  <a:lnTo>
                    <a:pt x="231478" y="11277"/>
                  </a:lnTo>
                  <a:lnTo>
                    <a:pt x="255388" y="12530"/>
                  </a:lnTo>
                  <a:lnTo>
                    <a:pt x="279297" y="13783"/>
                  </a:lnTo>
                  <a:lnTo>
                    <a:pt x="303207" y="15036"/>
                  </a:lnTo>
                  <a:lnTo>
                    <a:pt x="327117" y="16289"/>
                  </a:lnTo>
                  <a:lnTo>
                    <a:pt x="351027" y="17542"/>
                  </a:lnTo>
                  <a:lnTo>
                    <a:pt x="374937" y="18795"/>
                  </a:lnTo>
                  <a:lnTo>
                    <a:pt x="398846" y="20048"/>
                  </a:lnTo>
                  <a:lnTo>
                    <a:pt x="422756" y="21302"/>
                  </a:lnTo>
                  <a:lnTo>
                    <a:pt x="427520" y="39793"/>
                  </a:lnTo>
                  <a:lnTo>
                    <a:pt x="426267" y="63703"/>
                  </a:lnTo>
                  <a:lnTo>
                    <a:pt x="425014" y="87613"/>
                  </a:lnTo>
                  <a:lnTo>
                    <a:pt x="423761" y="111523"/>
                  </a:lnTo>
                  <a:lnTo>
                    <a:pt x="422508" y="135433"/>
                  </a:lnTo>
                  <a:lnTo>
                    <a:pt x="421255" y="159342"/>
                  </a:lnTo>
                  <a:lnTo>
                    <a:pt x="420002" y="183252"/>
                  </a:lnTo>
                  <a:lnTo>
                    <a:pt x="418749" y="207162"/>
                  </a:lnTo>
                  <a:lnTo>
                    <a:pt x="417496" y="231072"/>
                  </a:lnTo>
                  <a:lnTo>
                    <a:pt x="416243" y="254982"/>
                  </a:lnTo>
                  <a:lnTo>
                    <a:pt x="414990" y="278892"/>
                  </a:lnTo>
                  <a:lnTo>
                    <a:pt x="413737" y="302801"/>
                  </a:lnTo>
                  <a:lnTo>
                    <a:pt x="412484" y="326711"/>
                  </a:lnTo>
                  <a:lnTo>
                    <a:pt x="399902" y="338040"/>
                  </a:lnTo>
                  <a:lnTo>
                    <a:pt x="375992" y="336786"/>
                  </a:lnTo>
                  <a:lnTo>
                    <a:pt x="352083" y="335533"/>
                  </a:lnTo>
                  <a:lnTo>
                    <a:pt x="328173" y="334280"/>
                  </a:lnTo>
                  <a:lnTo>
                    <a:pt x="304263" y="333027"/>
                  </a:lnTo>
                  <a:lnTo>
                    <a:pt x="280353" y="331774"/>
                  </a:lnTo>
                  <a:lnTo>
                    <a:pt x="256443" y="330521"/>
                  </a:lnTo>
                  <a:lnTo>
                    <a:pt x="232534" y="329268"/>
                  </a:lnTo>
                  <a:lnTo>
                    <a:pt x="208624" y="328015"/>
                  </a:lnTo>
                  <a:lnTo>
                    <a:pt x="184714" y="326762"/>
                  </a:lnTo>
                  <a:lnTo>
                    <a:pt x="160804" y="325509"/>
                  </a:lnTo>
                  <a:lnTo>
                    <a:pt x="136894" y="324256"/>
                  </a:lnTo>
                  <a:lnTo>
                    <a:pt x="112984" y="323003"/>
                  </a:lnTo>
                  <a:lnTo>
                    <a:pt x="89075" y="321750"/>
                  </a:lnTo>
                  <a:lnTo>
                    <a:pt x="65165" y="320497"/>
                  </a:lnTo>
                  <a:lnTo>
                    <a:pt x="41255" y="319244"/>
                  </a:lnTo>
                  <a:lnTo>
                    <a:pt x="17345" y="317991"/>
                  </a:lnTo>
                  <a:lnTo>
                    <a:pt x="0" y="310827"/>
                  </a:lnTo>
                  <a:lnTo>
                    <a:pt x="1253" y="286917"/>
                  </a:lnTo>
                  <a:lnTo>
                    <a:pt x="2506" y="263007"/>
                  </a:lnTo>
                  <a:lnTo>
                    <a:pt x="3759" y="239098"/>
                  </a:lnTo>
                  <a:lnTo>
                    <a:pt x="5012" y="215188"/>
                  </a:lnTo>
                  <a:lnTo>
                    <a:pt x="6265" y="191278"/>
                  </a:lnTo>
                  <a:lnTo>
                    <a:pt x="7518" y="167368"/>
                  </a:lnTo>
                  <a:lnTo>
                    <a:pt x="8771" y="143458"/>
                  </a:lnTo>
                  <a:lnTo>
                    <a:pt x="10024" y="119549"/>
                  </a:lnTo>
                  <a:lnTo>
                    <a:pt x="11277" y="95639"/>
                  </a:lnTo>
                  <a:lnTo>
                    <a:pt x="12530" y="71729"/>
                  </a:lnTo>
                  <a:lnTo>
                    <a:pt x="13783" y="47819"/>
                  </a:lnTo>
                  <a:lnTo>
                    <a:pt x="15036" y="23909"/>
                  </a:lnTo>
                  <a:lnTo>
                    <a:pt x="16289" y="0"/>
                  </a:lnTo>
                  <a:close/>
                </a:path>
              </a:pathLst>
            </a:custGeom>
            <a:solidFill>
              <a:srgbClr val="FFFFFF"/>
            </a:solidFill>
            <a:ln w="19843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 rot="180000">
              <a:off x="9654958" y="1623439"/>
              <a:ext cx="201027" cy="21524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50" b="0" i="0">
                  <a:solidFill>
                    <a:srgbClr val="22304A"/>
                  </a:solidFill>
                  <a:latin typeface="Patrick Hand"/>
                </a:rPr>
                <a:t>S.</a:t>
              </a:r>
            </a:p>
          </p:txBody>
        </p:sp>
        <p:sp>
          <p:nvSpPr>
            <p:cNvPr id="7" name="Freeform 6"/>
            <p:cNvSpPr/>
            <p:nvPr/>
          </p:nvSpPr>
          <p:spPr>
            <a:xfrm>
              <a:off x="9672731" y="1394744"/>
              <a:ext cx="195224" cy="105089"/>
            </a:xfrm>
            <a:custGeom>
              <a:avLst/>
              <a:gdLst/>
              <a:ahLst/>
              <a:cxnLst/>
              <a:rect l="l" t="t" r="r" b="b"/>
              <a:pathLst>
                <a:path w="195224" h="105089">
                  <a:moveTo>
                    <a:pt x="4985" y="0"/>
                  </a:moveTo>
                  <a:lnTo>
                    <a:pt x="28765" y="1246"/>
                  </a:lnTo>
                  <a:lnTo>
                    <a:pt x="52545" y="2492"/>
                  </a:lnTo>
                  <a:lnTo>
                    <a:pt x="76325" y="3738"/>
                  </a:lnTo>
                  <a:lnTo>
                    <a:pt x="100105" y="4985"/>
                  </a:lnTo>
                  <a:lnTo>
                    <a:pt x="123885" y="6231"/>
                  </a:lnTo>
                  <a:lnTo>
                    <a:pt x="147665" y="7477"/>
                  </a:lnTo>
                  <a:lnTo>
                    <a:pt x="171444" y="8723"/>
                  </a:lnTo>
                  <a:lnTo>
                    <a:pt x="195224" y="9970"/>
                  </a:lnTo>
                  <a:lnTo>
                    <a:pt x="193978" y="33750"/>
                  </a:lnTo>
                  <a:lnTo>
                    <a:pt x="192732" y="57529"/>
                  </a:lnTo>
                  <a:lnTo>
                    <a:pt x="191486" y="81309"/>
                  </a:lnTo>
                  <a:lnTo>
                    <a:pt x="190239" y="105089"/>
                  </a:lnTo>
                  <a:lnTo>
                    <a:pt x="166459" y="103843"/>
                  </a:lnTo>
                  <a:lnTo>
                    <a:pt x="142680" y="102597"/>
                  </a:lnTo>
                  <a:lnTo>
                    <a:pt x="118900" y="101350"/>
                  </a:lnTo>
                  <a:lnTo>
                    <a:pt x="95120" y="100104"/>
                  </a:lnTo>
                  <a:lnTo>
                    <a:pt x="71340" y="98858"/>
                  </a:lnTo>
                  <a:lnTo>
                    <a:pt x="47560" y="97612"/>
                  </a:lnTo>
                  <a:lnTo>
                    <a:pt x="23780" y="96365"/>
                  </a:lnTo>
                  <a:lnTo>
                    <a:pt x="0" y="95119"/>
                  </a:lnTo>
                  <a:lnTo>
                    <a:pt x="1247" y="71339"/>
                  </a:lnTo>
                  <a:lnTo>
                    <a:pt x="2493" y="47559"/>
                  </a:lnTo>
                  <a:lnTo>
                    <a:pt x="3739" y="23780"/>
                  </a:lnTo>
                  <a:lnTo>
                    <a:pt x="4985" y="0"/>
                  </a:lnTo>
                  <a:close/>
                </a:path>
              </a:pathLst>
            </a:custGeom>
            <a:solidFill>
              <a:srgbClr val="C84A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10016906" y="1588239"/>
              <a:ext cx="379973" cy="335547"/>
            </a:xfrm>
            <a:custGeom>
              <a:avLst/>
              <a:gdLst/>
              <a:ahLst/>
              <a:cxnLst/>
              <a:rect l="l" t="t" r="r" b="b"/>
              <a:pathLst>
                <a:path w="379973" h="335547">
                  <a:moveTo>
                    <a:pt x="16296" y="0"/>
                  </a:moveTo>
                  <a:lnTo>
                    <a:pt x="40215" y="1253"/>
                  </a:lnTo>
                  <a:lnTo>
                    <a:pt x="64134" y="2507"/>
                  </a:lnTo>
                  <a:lnTo>
                    <a:pt x="88053" y="3760"/>
                  </a:lnTo>
                  <a:lnTo>
                    <a:pt x="111971" y="5014"/>
                  </a:lnTo>
                  <a:lnTo>
                    <a:pt x="135890" y="6267"/>
                  </a:lnTo>
                  <a:lnTo>
                    <a:pt x="159809" y="7521"/>
                  </a:lnTo>
                  <a:lnTo>
                    <a:pt x="183728" y="8774"/>
                  </a:lnTo>
                  <a:lnTo>
                    <a:pt x="207647" y="10028"/>
                  </a:lnTo>
                  <a:lnTo>
                    <a:pt x="231566" y="11281"/>
                  </a:lnTo>
                  <a:lnTo>
                    <a:pt x="255485" y="12535"/>
                  </a:lnTo>
                  <a:lnTo>
                    <a:pt x="279404" y="13788"/>
                  </a:lnTo>
                  <a:lnTo>
                    <a:pt x="303323" y="15042"/>
                  </a:lnTo>
                  <a:lnTo>
                    <a:pt x="327242" y="16296"/>
                  </a:lnTo>
                  <a:lnTo>
                    <a:pt x="351161" y="17549"/>
                  </a:lnTo>
                  <a:lnTo>
                    <a:pt x="375080" y="18803"/>
                  </a:lnTo>
                  <a:lnTo>
                    <a:pt x="379973" y="37187"/>
                  </a:lnTo>
                  <a:lnTo>
                    <a:pt x="378719" y="61106"/>
                  </a:lnTo>
                  <a:lnTo>
                    <a:pt x="377466" y="85025"/>
                  </a:lnTo>
                  <a:lnTo>
                    <a:pt x="376212" y="108944"/>
                  </a:lnTo>
                  <a:lnTo>
                    <a:pt x="374959" y="132863"/>
                  </a:lnTo>
                  <a:lnTo>
                    <a:pt x="373705" y="156782"/>
                  </a:lnTo>
                  <a:lnTo>
                    <a:pt x="372452" y="180700"/>
                  </a:lnTo>
                  <a:lnTo>
                    <a:pt x="371198" y="204619"/>
                  </a:lnTo>
                  <a:lnTo>
                    <a:pt x="369945" y="228538"/>
                  </a:lnTo>
                  <a:lnTo>
                    <a:pt x="368691" y="252457"/>
                  </a:lnTo>
                  <a:lnTo>
                    <a:pt x="367438" y="276376"/>
                  </a:lnTo>
                  <a:lnTo>
                    <a:pt x="366184" y="300295"/>
                  </a:lnTo>
                  <a:lnTo>
                    <a:pt x="364930" y="324214"/>
                  </a:lnTo>
                  <a:lnTo>
                    <a:pt x="352344" y="335547"/>
                  </a:lnTo>
                  <a:lnTo>
                    <a:pt x="328425" y="334293"/>
                  </a:lnTo>
                  <a:lnTo>
                    <a:pt x="304506" y="333040"/>
                  </a:lnTo>
                  <a:lnTo>
                    <a:pt x="280587" y="331786"/>
                  </a:lnTo>
                  <a:lnTo>
                    <a:pt x="256669" y="330533"/>
                  </a:lnTo>
                  <a:lnTo>
                    <a:pt x="232750" y="329279"/>
                  </a:lnTo>
                  <a:lnTo>
                    <a:pt x="208831" y="328026"/>
                  </a:lnTo>
                  <a:lnTo>
                    <a:pt x="184912" y="326772"/>
                  </a:lnTo>
                  <a:lnTo>
                    <a:pt x="160993" y="325518"/>
                  </a:lnTo>
                  <a:lnTo>
                    <a:pt x="137074" y="324265"/>
                  </a:lnTo>
                  <a:lnTo>
                    <a:pt x="113155" y="323011"/>
                  </a:lnTo>
                  <a:lnTo>
                    <a:pt x="89236" y="321758"/>
                  </a:lnTo>
                  <a:lnTo>
                    <a:pt x="65317" y="320504"/>
                  </a:lnTo>
                  <a:lnTo>
                    <a:pt x="41398" y="319251"/>
                  </a:lnTo>
                  <a:lnTo>
                    <a:pt x="17479" y="317997"/>
                  </a:lnTo>
                  <a:lnTo>
                    <a:pt x="0" y="310946"/>
                  </a:lnTo>
                  <a:lnTo>
                    <a:pt x="1253" y="287027"/>
                  </a:lnTo>
                  <a:lnTo>
                    <a:pt x="2507" y="263108"/>
                  </a:lnTo>
                  <a:lnTo>
                    <a:pt x="3760" y="239189"/>
                  </a:lnTo>
                  <a:lnTo>
                    <a:pt x="5014" y="215270"/>
                  </a:lnTo>
                  <a:lnTo>
                    <a:pt x="6267" y="191351"/>
                  </a:lnTo>
                  <a:lnTo>
                    <a:pt x="7521" y="167432"/>
                  </a:lnTo>
                  <a:lnTo>
                    <a:pt x="8775" y="143513"/>
                  </a:lnTo>
                  <a:lnTo>
                    <a:pt x="10028" y="119594"/>
                  </a:lnTo>
                  <a:lnTo>
                    <a:pt x="11282" y="95675"/>
                  </a:lnTo>
                  <a:lnTo>
                    <a:pt x="12535" y="71756"/>
                  </a:lnTo>
                  <a:lnTo>
                    <a:pt x="13789" y="47837"/>
                  </a:lnTo>
                  <a:lnTo>
                    <a:pt x="15042" y="23918"/>
                  </a:lnTo>
                  <a:lnTo>
                    <a:pt x="16296" y="0"/>
                  </a:lnTo>
                  <a:close/>
                </a:path>
              </a:pathLst>
            </a:custGeom>
            <a:solidFill>
              <a:srgbClr val="FFFFFF"/>
            </a:solidFill>
            <a:ln w="19843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 rot="180000">
              <a:off x="10063020" y="1645124"/>
              <a:ext cx="288537" cy="2192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50" b="0" i="0">
                  <a:solidFill>
                    <a:srgbClr val="22304A"/>
                  </a:solidFill>
                  <a:latin typeface="Patrick Hand"/>
                </a:rPr>
                <a:t>␣B</a:t>
              </a:r>
            </a:p>
          </p:txBody>
        </p:sp>
        <p:sp>
          <p:nvSpPr>
            <p:cNvPr id="10" name="Freeform 9"/>
            <p:cNvSpPr/>
            <p:nvPr/>
          </p:nvSpPr>
          <p:spPr>
            <a:xfrm>
              <a:off x="10125116" y="958678"/>
              <a:ext cx="217744" cy="564214"/>
            </a:xfrm>
            <a:custGeom>
              <a:avLst/>
              <a:gdLst/>
              <a:ahLst/>
              <a:cxnLst/>
              <a:rect l="l" t="t" r="r" b="b"/>
              <a:pathLst>
                <a:path w="217744" h="564214">
                  <a:moveTo>
                    <a:pt x="28512" y="0"/>
                  </a:moveTo>
                  <a:lnTo>
                    <a:pt x="52166" y="1240"/>
                  </a:lnTo>
                  <a:lnTo>
                    <a:pt x="75820" y="2480"/>
                  </a:lnTo>
                  <a:lnTo>
                    <a:pt x="99474" y="3719"/>
                  </a:lnTo>
                  <a:lnTo>
                    <a:pt x="123128" y="4959"/>
                  </a:lnTo>
                  <a:lnTo>
                    <a:pt x="146782" y="6199"/>
                  </a:lnTo>
                  <a:lnTo>
                    <a:pt x="170436" y="7438"/>
                  </a:lnTo>
                  <a:lnTo>
                    <a:pt x="194090" y="8678"/>
                  </a:lnTo>
                  <a:lnTo>
                    <a:pt x="217744" y="9918"/>
                  </a:lnTo>
                  <a:lnTo>
                    <a:pt x="217564" y="32618"/>
                  </a:lnTo>
                  <a:lnTo>
                    <a:pt x="216324" y="56272"/>
                  </a:lnTo>
                  <a:lnTo>
                    <a:pt x="215085" y="79926"/>
                  </a:lnTo>
                  <a:lnTo>
                    <a:pt x="213845" y="103580"/>
                  </a:lnTo>
                  <a:lnTo>
                    <a:pt x="212605" y="127234"/>
                  </a:lnTo>
                  <a:lnTo>
                    <a:pt x="211366" y="150888"/>
                  </a:lnTo>
                  <a:lnTo>
                    <a:pt x="210126" y="174542"/>
                  </a:lnTo>
                  <a:lnTo>
                    <a:pt x="208886" y="198196"/>
                  </a:lnTo>
                  <a:lnTo>
                    <a:pt x="207647" y="221850"/>
                  </a:lnTo>
                  <a:lnTo>
                    <a:pt x="206407" y="245504"/>
                  </a:lnTo>
                  <a:lnTo>
                    <a:pt x="205167" y="269158"/>
                  </a:lnTo>
                  <a:lnTo>
                    <a:pt x="203928" y="292812"/>
                  </a:lnTo>
                  <a:lnTo>
                    <a:pt x="202688" y="316466"/>
                  </a:lnTo>
                  <a:lnTo>
                    <a:pt x="201448" y="340120"/>
                  </a:lnTo>
                  <a:lnTo>
                    <a:pt x="200209" y="363774"/>
                  </a:lnTo>
                  <a:lnTo>
                    <a:pt x="198969" y="387429"/>
                  </a:lnTo>
                  <a:lnTo>
                    <a:pt x="197729" y="411083"/>
                  </a:lnTo>
                  <a:lnTo>
                    <a:pt x="196490" y="434737"/>
                  </a:lnTo>
                  <a:lnTo>
                    <a:pt x="195250" y="458391"/>
                  </a:lnTo>
                  <a:lnTo>
                    <a:pt x="194011" y="482045"/>
                  </a:lnTo>
                  <a:lnTo>
                    <a:pt x="192771" y="505699"/>
                  </a:lnTo>
                  <a:lnTo>
                    <a:pt x="191531" y="529353"/>
                  </a:lnTo>
                  <a:lnTo>
                    <a:pt x="190292" y="553007"/>
                  </a:lnTo>
                  <a:lnTo>
                    <a:pt x="177845" y="564214"/>
                  </a:lnTo>
                  <a:lnTo>
                    <a:pt x="154191" y="562974"/>
                  </a:lnTo>
                  <a:lnTo>
                    <a:pt x="130537" y="561735"/>
                  </a:lnTo>
                  <a:lnTo>
                    <a:pt x="106883" y="560495"/>
                  </a:lnTo>
                  <a:lnTo>
                    <a:pt x="83228" y="559255"/>
                  </a:lnTo>
                  <a:lnTo>
                    <a:pt x="59574" y="558016"/>
                  </a:lnTo>
                  <a:lnTo>
                    <a:pt x="35920" y="556776"/>
                  </a:lnTo>
                  <a:lnTo>
                    <a:pt x="12266" y="555536"/>
                  </a:lnTo>
                  <a:lnTo>
                    <a:pt x="0" y="544043"/>
                  </a:lnTo>
                  <a:lnTo>
                    <a:pt x="1240" y="520389"/>
                  </a:lnTo>
                  <a:lnTo>
                    <a:pt x="2479" y="496735"/>
                  </a:lnTo>
                  <a:lnTo>
                    <a:pt x="3719" y="473081"/>
                  </a:lnTo>
                  <a:lnTo>
                    <a:pt x="4958" y="449427"/>
                  </a:lnTo>
                  <a:lnTo>
                    <a:pt x="6198" y="425773"/>
                  </a:lnTo>
                  <a:lnTo>
                    <a:pt x="7438" y="402119"/>
                  </a:lnTo>
                  <a:lnTo>
                    <a:pt x="8677" y="378465"/>
                  </a:lnTo>
                  <a:lnTo>
                    <a:pt x="9917" y="354811"/>
                  </a:lnTo>
                  <a:lnTo>
                    <a:pt x="11157" y="331157"/>
                  </a:lnTo>
                  <a:lnTo>
                    <a:pt x="12396" y="307503"/>
                  </a:lnTo>
                  <a:lnTo>
                    <a:pt x="13636" y="283849"/>
                  </a:lnTo>
                  <a:lnTo>
                    <a:pt x="14876" y="260195"/>
                  </a:lnTo>
                  <a:lnTo>
                    <a:pt x="16115" y="236541"/>
                  </a:lnTo>
                  <a:lnTo>
                    <a:pt x="17355" y="212887"/>
                  </a:lnTo>
                  <a:lnTo>
                    <a:pt x="18595" y="189233"/>
                  </a:lnTo>
                  <a:lnTo>
                    <a:pt x="19834" y="165579"/>
                  </a:lnTo>
                  <a:lnTo>
                    <a:pt x="21074" y="141925"/>
                  </a:lnTo>
                  <a:lnTo>
                    <a:pt x="22314" y="118271"/>
                  </a:lnTo>
                  <a:lnTo>
                    <a:pt x="23553" y="94617"/>
                  </a:lnTo>
                  <a:lnTo>
                    <a:pt x="24793" y="70962"/>
                  </a:lnTo>
                  <a:lnTo>
                    <a:pt x="26033" y="47308"/>
                  </a:lnTo>
                  <a:lnTo>
                    <a:pt x="27272" y="23654"/>
                  </a:lnTo>
                  <a:lnTo>
                    <a:pt x="28512" y="0"/>
                  </a:lnTo>
                  <a:close/>
                </a:path>
              </a:pathLst>
            </a:custGeom>
            <a:solidFill>
              <a:srgbClr val="C84A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0444943" y="1610671"/>
              <a:ext cx="379974" cy="335547"/>
            </a:xfrm>
            <a:custGeom>
              <a:avLst/>
              <a:gdLst/>
              <a:ahLst/>
              <a:cxnLst/>
              <a:rect l="l" t="t" r="r" b="b"/>
              <a:pathLst>
                <a:path w="379974" h="335547">
                  <a:moveTo>
                    <a:pt x="16296" y="0"/>
                  </a:moveTo>
                  <a:lnTo>
                    <a:pt x="40215" y="1254"/>
                  </a:lnTo>
                  <a:lnTo>
                    <a:pt x="64134" y="2507"/>
                  </a:lnTo>
                  <a:lnTo>
                    <a:pt x="88053" y="3761"/>
                  </a:lnTo>
                  <a:lnTo>
                    <a:pt x="111972" y="5014"/>
                  </a:lnTo>
                  <a:lnTo>
                    <a:pt x="135891" y="6268"/>
                  </a:lnTo>
                  <a:lnTo>
                    <a:pt x="159810" y="7521"/>
                  </a:lnTo>
                  <a:lnTo>
                    <a:pt x="183729" y="8775"/>
                  </a:lnTo>
                  <a:lnTo>
                    <a:pt x="207648" y="10028"/>
                  </a:lnTo>
                  <a:lnTo>
                    <a:pt x="231567" y="11282"/>
                  </a:lnTo>
                  <a:lnTo>
                    <a:pt x="255486" y="12535"/>
                  </a:lnTo>
                  <a:lnTo>
                    <a:pt x="279405" y="13789"/>
                  </a:lnTo>
                  <a:lnTo>
                    <a:pt x="303324" y="15042"/>
                  </a:lnTo>
                  <a:lnTo>
                    <a:pt x="327242" y="16296"/>
                  </a:lnTo>
                  <a:lnTo>
                    <a:pt x="351161" y="17550"/>
                  </a:lnTo>
                  <a:lnTo>
                    <a:pt x="375080" y="18803"/>
                  </a:lnTo>
                  <a:lnTo>
                    <a:pt x="379974" y="37187"/>
                  </a:lnTo>
                  <a:lnTo>
                    <a:pt x="378720" y="61106"/>
                  </a:lnTo>
                  <a:lnTo>
                    <a:pt x="377466" y="85025"/>
                  </a:lnTo>
                  <a:lnTo>
                    <a:pt x="376213" y="108944"/>
                  </a:lnTo>
                  <a:lnTo>
                    <a:pt x="374959" y="132863"/>
                  </a:lnTo>
                  <a:lnTo>
                    <a:pt x="373706" y="156782"/>
                  </a:lnTo>
                  <a:lnTo>
                    <a:pt x="372452" y="180701"/>
                  </a:lnTo>
                  <a:lnTo>
                    <a:pt x="371199" y="204620"/>
                  </a:lnTo>
                  <a:lnTo>
                    <a:pt x="369945" y="228539"/>
                  </a:lnTo>
                  <a:lnTo>
                    <a:pt x="368692" y="252458"/>
                  </a:lnTo>
                  <a:lnTo>
                    <a:pt x="367438" y="276377"/>
                  </a:lnTo>
                  <a:lnTo>
                    <a:pt x="366185" y="300296"/>
                  </a:lnTo>
                  <a:lnTo>
                    <a:pt x="364931" y="324215"/>
                  </a:lnTo>
                  <a:lnTo>
                    <a:pt x="352345" y="335547"/>
                  </a:lnTo>
                  <a:lnTo>
                    <a:pt x="328426" y="334294"/>
                  </a:lnTo>
                  <a:lnTo>
                    <a:pt x="304507" y="333040"/>
                  </a:lnTo>
                  <a:lnTo>
                    <a:pt x="280588" y="331787"/>
                  </a:lnTo>
                  <a:lnTo>
                    <a:pt x="256669" y="330533"/>
                  </a:lnTo>
                  <a:lnTo>
                    <a:pt x="232750" y="329280"/>
                  </a:lnTo>
                  <a:lnTo>
                    <a:pt x="208831" y="328026"/>
                  </a:lnTo>
                  <a:lnTo>
                    <a:pt x="184912" y="326773"/>
                  </a:lnTo>
                  <a:lnTo>
                    <a:pt x="160993" y="325519"/>
                  </a:lnTo>
                  <a:lnTo>
                    <a:pt x="137075" y="324265"/>
                  </a:lnTo>
                  <a:lnTo>
                    <a:pt x="113156" y="323012"/>
                  </a:lnTo>
                  <a:lnTo>
                    <a:pt x="89237" y="321758"/>
                  </a:lnTo>
                  <a:lnTo>
                    <a:pt x="65318" y="320505"/>
                  </a:lnTo>
                  <a:lnTo>
                    <a:pt x="41399" y="319251"/>
                  </a:lnTo>
                  <a:lnTo>
                    <a:pt x="17480" y="317998"/>
                  </a:lnTo>
                  <a:lnTo>
                    <a:pt x="0" y="310946"/>
                  </a:lnTo>
                  <a:lnTo>
                    <a:pt x="1254" y="287027"/>
                  </a:lnTo>
                  <a:lnTo>
                    <a:pt x="2507" y="263108"/>
                  </a:lnTo>
                  <a:lnTo>
                    <a:pt x="3761" y="239189"/>
                  </a:lnTo>
                  <a:lnTo>
                    <a:pt x="5015" y="215270"/>
                  </a:lnTo>
                  <a:lnTo>
                    <a:pt x="6268" y="191351"/>
                  </a:lnTo>
                  <a:lnTo>
                    <a:pt x="7522" y="167432"/>
                  </a:lnTo>
                  <a:lnTo>
                    <a:pt x="8775" y="143514"/>
                  </a:lnTo>
                  <a:lnTo>
                    <a:pt x="10029" y="119595"/>
                  </a:lnTo>
                  <a:lnTo>
                    <a:pt x="11282" y="95676"/>
                  </a:lnTo>
                  <a:lnTo>
                    <a:pt x="12536" y="71757"/>
                  </a:lnTo>
                  <a:lnTo>
                    <a:pt x="13789" y="47838"/>
                  </a:lnTo>
                  <a:lnTo>
                    <a:pt x="15043" y="23919"/>
                  </a:lnTo>
                  <a:lnTo>
                    <a:pt x="16296" y="0"/>
                  </a:lnTo>
                  <a:close/>
                </a:path>
              </a:pathLst>
            </a:custGeom>
            <a:solidFill>
              <a:srgbClr val="FFFFFF"/>
            </a:solidFill>
            <a:ln w="19843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 rot="180000">
              <a:off x="10485589" y="1667307"/>
              <a:ext cx="299475" cy="219731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50" b="0" i="0">
                  <a:solidFill>
                    <a:srgbClr val="22304A"/>
                  </a:solidFill>
                  <a:latin typeface="Patrick Hand"/>
                </a:rPr>
                <a:t>ree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553167" y="743312"/>
              <a:ext cx="230436" cy="802012"/>
            </a:xfrm>
            <a:custGeom>
              <a:avLst/>
              <a:gdLst/>
              <a:ahLst/>
              <a:cxnLst/>
              <a:rect l="l" t="t" r="r" b="b"/>
              <a:pathLst>
                <a:path w="230436" h="802012">
                  <a:moveTo>
                    <a:pt x="40961" y="0"/>
                  </a:moveTo>
                  <a:lnTo>
                    <a:pt x="64645" y="1241"/>
                  </a:lnTo>
                  <a:lnTo>
                    <a:pt x="88330" y="2483"/>
                  </a:lnTo>
                  <a:lnTo>
                    <a:pt x="112014" y="3724"/>
                  </a:lnTo>
                  <a:lnTo>
                    <a:pt x="135699" y="4965"/>
                  </a:lnTo>
                  <a:lnTo>
                    <a:pt x="159383" y="6206"/>
                  </a:lnTo>
                  <a:lnTo>
                    <a:pt x="183067" y="7448"/>
                  </a:lnTo>
                  <a:lnTo>
                    <a:pt x="206752" y="8689"/>
                  </a:lnTo>
                  <a:lnTo>
                    <a:pt x="230436" y="9930"/>
                  </a:lnTo>
                  <a:lnTo>
                    <a:pt x="229999" y="32891"/>
                  </a:lnTo>
                  <a:lnTo>
                    <a:pt x="228758" y="56575"/>
                  </a:lnTo>
                  <a:lnTo>
                    <a:pt x="227516" y="80259"/>
                  </a:lnTo>
                  <a:lnTo>
                    <a:pt x="226275" y="103944"/>
                  </a:lnTo>
                  <a:lnTo>
                    <a:pt x="225034" y="127628"/>
                  </a:lnTo>
                  <a:lnTo>
                    <a:pt x="223793" y="151312"/>
                  </a:lnTo>
                  <a:lnTo>
                    <a:pt x="222551" y="174997"/>
                  </a:lnTo>
                  <a:lnTo>
                    <a:pt x="221310" y="198681"/>
                  </a:lnTo>
                  <a:lnTo>
                    <a:pt x="220069" y="222365"/>
                  </a:lnTo>
                  <a:lnTo>
                    <a:pt x="218828" y="246050"/>
                  </a:lnTo>
                  <a:lnTo>
                    <a:pt x="217586" y="269734"/>
                  </a:lnTo>
                  <a:lnTo>
                    <a:pt x="216345" y="293419"/>
                  </a:lnTo>
                  <a:lnTo>
                    <a:pt x="215104" y="317103"/>
                  </a:lnTo>
                  <a:lnTo>
                    <a:pt x="213863" y="340787"/>
                  </a:lnTo>
                  <a:lnTo>
                    <a:pt x="212621" y="364472"/>
                  </a:lnTo>
                  <a:lnTo>
                    <a:pt x="211380" y="388156"/>
                  </a:lnTo>
                  <a:lnTo>
                    <a:pt x="210139" y="411840"/>
                  </a:lnTo>
                  <a:lnTo>
                    <a:pt x="208898" y="435525"/>
                  </a:lnTo>
                  <a:lnTo>
                    <a:pt x="207656" y="459209"/>
                  </a:lnTo>
                  <a:lnTo>
                    <a:pt x="206415" y="482893"/>
                  </a:lnTo>
                  <a:lnTo>
                    <a:pt x="205174" y="506578"/>
                  </a:lnTo>
                  <a:lnTo>
                    <a:pt x="203933" y="530262"/>
                  </a:lnTo>
                  <a:lnTo>
                    <a:pt x="202691" y="553947"/>
                  </a:lnTo>
                  <a:lnTo>
                    <a:pt x="201450" y="577631"/>
                  </a:lnTo>
                  <a:lnTo>
                    <a:pt x="200209" y="601315"/>
                  </a:lnTo>
                  <a:lnTo>
                    <a:pt x="198968" y="625000"/>
                  </a:lnTo>
                  <a:lnTo>
                    <a:pt x="197726" y="648684"/>
                  </a:lnTo>
                  <a:lnTo>
                    <a:pt x="196485" y="672368"/>
                  </a:lnTo>
                  <a:lnTo>
                    <a:pt x="195244" y="696053"/>
                  </a:lnTo>
                  <a:lnTo>
                    <a:pt x="194003" y="719737"/>
                  </a:lnTo>
                  <a:lnTo>
                    <a:pt x="192761" y="743421"/>
                  </a:lnTo>
                  <a:lnTo>
                    <a:pt x="191520" y="767106"/>
                  </a:lnTo>
                  <a:lnTo>
                    <a:pt x="190279" y="790790"/>
                  </a:lnTo>
                  <a:lnTo>
                    <a:pt x="177816" y="802012"/>
                  </a:lnTo>
                  <a:lnTo>
                    <a:pt x="154132" y="800771"/>
                  </a:lnTo>
                  <a:lnTo>
                    <a:pt x="130447" y="799529"/>
                  </a:lnTo>
                  <a:lnTo>
                    <a:pt x="106763" y="798288"/>
                  </a:lnTo>
                  <a:lnTo>
                    <a:pt x="83079" y="797047"/>
                  </a:lnTo>
                  <a:lnTo>
                    <a:pt x="59394" y="795806"/>
                  </a:lnTo>
                  <a:lnTo>
                    <a:pt x="35710" y="794564"/>
                  </a:lnTo>
                  <a:lnTo>
                    <a:pt x="12026" y="793323"/>
                  </a:lnTo>
                  <a:lnTo>
                    <a:pt x="0" y="781584"/>
                  </a:lnTo>
                  <a:lnTo>
                    <a:pt x="1241" y="757900"/>
                  </a:lnTo>
                  <a:lnTo>
                    <a:pt x="2482" y="734216"/>
                  </a:lnTo>
                  <a:lnTo>
                    <a:pt x="3724" y="710531"/>
                  </a:lnTo>
                  <a:lnTo>
                    <a:pt x="4965" y="686847"/>
                  </a:lnTo>
                  <a:lnTo>
                    <a:pt x="6206" y="663162"/>
                  </a:lnTo>
                  <a:lnTo>
                    <a:pt x="7447" y="639478"/>
                  </a:lnTo>
                  <a:lnTo>
                    <a:pt x="8689" y="615794"/>
                  </a:lnTo>
                  <a:lnTo>
                    <a:pt x="9930" y="592109"/>
                  </a:lnTo>
                  <a:lnTo>
                    <a:pt x="11171" y="568425"/>
                  </a:lnTo>
                  <a:lnTo>
                    <a:pt x="12412" y="544741"/>
                  </a:lnTo>
                  <a:lnTo>
                    <a:pt x="13654" y="521056"/>
                  </a:lnTo>
                  <a:lnTo>
                    <a:pt x="14895" y="497372"/>
                  </a:lnTo>
                  <a:lnTo>
                    <a:pt x="16136" y="473687"/>
                  </a:lnTo>
                  <a:lnTo>
                    <a:pt x="17377" y="450003"/>
                  </a:lnTo>
                  <a:lnTo>
                    <a:pt x="18619" y="426319"/>
                  </a:lnTo>
                  <a:lnTo>
                    <a:pt x="19860" y="402634"/>
                  </a:lnTo>
                  <a:lnTo>
                    <a:pt x="21101" y="378950"/>
                  </a:lnTo>
                  <a:lnTo>
                    <a:pt x="22342" y="355266"/>
                  </a:lnTo>
                  <a:lnTo>
                    <a:pt x="23584" y="331581"/>
                  </a:lnTo>
                  <a:lnTo>
                    <a:pt x="24825" y="307897"/>
                  </a:lnTo>
                  <a:lnTo>
                    <a:pt x="26066" y="284213"/>
                  </a:lnTo>
                  <a:lnTo>
                    <a:pt x="27307" y="260528"/>
                  </a:lnTo>
                  <a:lnTo>
                    <a:pt x="28549" y="236844"/>
                  </a:lnTo>
                  <a:lnTo>
                    <a:pt x="29790" y="213160"/>
                  </a:lnTo>
                  <a:lnTo>
                    <a:pt x="31031" y="189475"/>
                  </a:lnTo>
                  <a:lnTo>
                    <a:pt x="32272" y="165791"/>
                  </a:lnTo>
                  <a:lnTo>
                    <a:pt x="33514" y="142106"/>
                  </a:lnTo>
                  <a:lnTo>
                    <a:pt x="34755" y="118422"/>
                  </a:lnTo>
                  <a:lnTo>
                    <a:pt x="35996" y="94738"/>
                  </a:lnTo>
                  <a:lnTo>
                    <a:pt x="37237" y="71053"/>
                  </a:lnTo>
                  <a:lnTo>
                    <a:pt x="38479" y="47369"/>
                  </a:lnTo>
                  <a:lnTo>
                    <a:pt x="39720" y="23685"/>
                  </a:lnTo>
                  <a:lnTo>
                    <a:pt x="40961" y="0"/>
                  </a:lnTo>
                  <a:close/>
                </a:path>
              </a:pathLst>
            </a:custGeom>
            <a:solidFill>
              <a:srgbClr val="C84A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9529637" y="1490312"/>
              <a:ext cx="1743857" cy="91392"/>
            </a:xfrm>
            <a:prstGeom prst="line">
              <a:avLst/>
            </a:prstGeom>
            <a:ln w="11906">
              <a:solidFill>
                <a:srgbClr val="6A738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 rot="180000">
              <a:off x="9555026" y="1998593"/>
              <a:ext cx="373181" cy="175661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7" b="0" i="0">
                  <a:solidFill>
                    <a:srgbClr val="6A7385"/>
                  </a:solidFill>
                  <a:latin typeface="Patrick Hand"/>
                </a:rPr>
                <a:t>initial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 rot="180000">
              <a:off x="10356567" y="2041049"/>
              <a:ext cx="504445" cy="1816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37" b="0" i="0">
                  <a:solidFill>
                    <a:srgbClr val="6A7385"/>
                  </a:solidFill>
                  <a:latin typeface="Patrick Hand"/>
                </a:rPr>
                <a:t>surname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 rot="180000">
              <a:off x="11003936" y="800206"/>
              <a:ext cx="384119" cy="1761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37" b="0" i="0">
                  <a:solidFill>
                    <a:srgbClr val="C84A3E"/>
                  </a:solidFill>
                  <a:latin typeface="Patrick Hand"/>
                </a:rPr>
                <a:t>signal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66750" y="1009650"/>
            <a:ext cx="1129284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A7385"/>
                </a:solidFill>
                <a:latin typeface="Patrick Hand"/>
              </a:rPr>
              <a:t>Line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315343"/>
            <a:ext cx="8122920" cy="838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615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C84A3E"/>
                </a:solidFill>
                <a:latin typeface="Caveat"/>
              </a:rPr>
              <a:t>Which token carries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2571899"/>
            <a:ext cx="5038725" cy="952500"/>
          </a:xfrm>
          <a:prstGeom prst="roundRect">
            <a:avLst>
              <a:gd name="adj" fmla="val 14000"/>
            </a:avLst>
          </a:prstGeom>
          <a:solidFill>
            <a:srgbClr val="1B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47650" tIns="190500" rIns="247650" bIns="1905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4400" y="27640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4C5"/>
                </a:solidFill>
                <a:latin typeface="Patrick Hand"/>
              </a:rPr>
              <a:t>small samples asked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19574"/>
            <a:ext cx="4725162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First token or the rest of the name?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1225" y="2975074"/>
            <a:ext cx="29718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>
                <a:solidFill>
                  <a:srgbClr val="22304A">
                    <a:alpha val="80000"/>
                  </a:srgbClr>
                </a:solidFill>
                <a:latin typeface="Patrick Han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2725" y="2575024"/>
            <a:ext cx="4962525" cy="11811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tIns="152400" rIns="209550" bIns="1524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772275" y="2725936"/>
            <a:ext cx="472516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385"/>
                </a:solidFill>
                <a:latin typeface="Patrick Hand"/>
              </a:rPr>
              <a:t>the full cohort answered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2984599"/>
            <a:ext cx="4725162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22304A"/>
                </a:solidFill>
                <a:latin typeface="Patrick Hand"/>
              </a:rPr>
              <a:t>Depends on name format; routed through the tokens right after the title; co-authors partly replace the title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40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706100" y="209550"/>
            <a:ext cx="123825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6 · Line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From first token to the full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50 papers, 227 authors, 972 name tokens; every listed author scored with teacher forcing</a:t>
            </a:r>
          </a:p>
        </p:txBody>
      </p:sp>
      <p:sp>
        <p:nvSpPr>
          <p:cNvPr id="6" name="Rectangle 5"/>
          <p:cNvSpPr/>
          <p:nvPr/>
        </p:nvSpPr>
        <p:spPr>
          <a:xfrm rot="21564000">
            <a:off x="666750" y="1544538"/>
            <a:ext cx="5905500" cy="2219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9a5d640e6d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64000">
            <a:off x="760953" y="1639794"/>
            <a:ext cx="57150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564000">
            <a:off x="790840" y="3508125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Conditional full-author JMRR by group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9900" y="1544910"/>
          <a:ext cx="2095500" cy="18383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81025"/>
                <a:gridCol w="151447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Group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Integrated JMRR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A (20)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0.085 [0.075, 0.096]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7DC4F5"/>
                          </a:solidFill>
                          <a:latin typeface="Patrick Hand"/>
                        </a:rPr>
                        <a:t>B (20)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0.068 [0.057, 0.080]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C (7)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0.106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D (3)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0.050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19900" y="3516809"/>
            <a:ext cx="489356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L62 A−B </a:t>
            </a:r>
            <a:r>
              <a:rPr sz="1725" b="0" i="0" u="sng">
                <a:solidFill>
                  <a:srgbClr val="F6A65A"/>
                </a:solidFill>
                <a:latin typeface="Patrick Hand"/>
              </a:rPr>
              <a:t>+0.097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 [0.028, 0.163]; Vanilla also +0.091</a:t>
            </a:r>
          </a:p>
        </p:txBody>
      </p:sp>
      <p:sp>
        <p:nvSpPr>
          <p:cNvPr id="11" name="Rectangle 10"/>
          <p:cNvSpPr/>
          <p:nvPr/>
        </p:nvSpPr>
        <p:spPr>
          <a:xfrm rot="72000">
            <a:off x="6858000" y="5401717"/>
            <a:ext cx="45720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Positive, but each token after the first is given the correct prefix. Next: split first token from the rest (7.1).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1950" y="6467475"/>
            <a:ext cx="11887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41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ea7a4719e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82275" y="209550"/>
            <a:ext cx="136207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6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A65A"/>
                </a:solidFill>
                <a:latin typeface="Patrick Hand"/>
              </a:rPr>
              <a:t>Stage 7.1 · Line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EEF1F5"/>
                </a:solidFill>
                <a:latin typeface="Caveat"/>
              </a:rPr>
              <a:t>The A−B gap sits on the rest of the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EEF1F5">
                    <a:alpha val="75000"/>
                  </a:srgbClr>
                </a:solidFill>
                <a:latin typeface="Patrick Hand"/>
              </a:rPr>
              <a:t>CPU-only re-analysis of Stage 6; 10,000 pair-bootstrap draws</a:t>
            </a:r>
          </a:p>
        </p:txBody>
      </p:sp>
      <p:sp>
        <p:nvSpPr>
          <p:cNvPr id="6" name="Rectangle 5"/>
          <p:cNvSpPr/>
          <p:nvPr/>
        </p:nvSpPr>
        <p:spPr>
          <a:xfrm rot="36000">
            <a:off x="666750" y="1542380"/>
            <a:ext cx="5715000" cy="199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0" tIns="95250" rIns="95250" bIns="5715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hart image" descr="76758d0dc7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">
            <a:off x="763047" y="1637636"/>
            <a:ext cx="55245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36000">
            <a:off x="772479" y="3275216"/>
            <a:ext cx="5707380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55555"/>
                </a:solidFill>
                <a:latin typeface="Patrick Hand"/>
              </a:rPr>
              <a:t>Integrated A−B JMRR by token position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544910"/>
          <a:ext cx="2809875" cy="146685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09650"/>
                <a:gridCol w="1800225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Endpoint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EF1F5">
                              <a:alpha val="70000"/>
                            </a:srgbClr>
                          </a:solidFill>
                          <a:latin typeface="Patrick Hand"/>
                        </a:rPr>
                        <a:t>A−B (7 layers)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EEF1F5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First token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+0.001 [−0.011, +0.015]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Continuation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F6A65A"/>
                          </a:solidFill>
                          <a:latin typeface="Patrick Hand"/>
                        </a:rPr>
                        <a:t>+0.021 [+0.002, +0.039]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All tokens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EEF1F5"/>
                          </a:solidFill>
                          <a:latin typeface="Patrick Hand"/>
                        </a:rPr>
                        <a:t>+0.017 [+0.003, +0.030]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3129409"/>
            <a:ext cx="509168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>
                <a:solidFill>
                  <a:srgbClr val="EEF1F5"/>
                </a:solidFill>
                <a:latin typeface="Patrick Hand"/>
              </a:rPr>
              <a:t>At L62: first +0.014 (12/20 pairs) vs continuation +0.121 (15/20)</a:t>
            </a:r>
          </a:p>
        </p:txBody>
      </p:sp>
      <p:sp>
        <p:nvSpPr>
          <p:cNvPr id="11" name="Rectangle 10"/>
          <p:cNvSpPr/>
          <p:nvPr/>
        </p:nvSpPr>
        <p:spPr>
          <a:xfrm rot="72000">
            <a:off x="857250" y="5401717"/>
            <a:ext cx="5905500" cy="866775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Completing a name is easier than starting it. A continuation gap cannot show unaided recall. </a:t>
            </a:r>
            <a:r>
              <a:rPr sz="1575" b="1" i="0">
                <a:solidFill>
                  <a:srgbClr val="8A4A10"/>
                </a:solidFill>
                <a:latin typeface="Patrick Hand"/>
              </a:rPr>
              <a:t>Open:</a:t>
            </a:r>
            <a:r>
              <a:rPr sz="1575" b="0" i="0">
                <a:solidFill>
                  <a:srgbClr val="2B2A26"/>
                </a:solidFill>
                <a:latin typeface="Patrick Hand"/>
              </a:rPr>
              <a:t> is this about initials vs surnames?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EEF1F5">
                    <a:alpha val="60000"/>
                  </a:srgbClr>
                </a:solidFill>
                <a:latin typeface="Patrick Hand"/>
              </a:rPr>
              <a:t>42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73fb6abf0c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AAB4C5"/>
                </a:solidFill>
                <a:latin typeface="Patrick Hand"/>
              </a:rPr>
              <a:t>Stages 1–9 · 20–200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EEF1F5"/>
                </a:solidFill>
                <a:latin typeface="Caveat"/>
              </a:rPr>
              <a:t>What we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299716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A−B lives on continuation tokens (+0.021), not the first token (+0.001)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994892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EEF1F5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EEF1F5"/>
                </a:solidFill>
                <a:latin typeface="Patrick Hand"/>
              </a:rPr>
              <a:t>Open question: is that teacher forcing, initials or surnames?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10850" y="209550"/>
            <a:ext cx="13335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438150"/>
            <a:ext cx="5299710" cy="247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6A7385"/>
                </a:solidFill>
                <a:latin typeface="Patrick Hand"/>
              </a:rPr>
              <a:t>Stages 10–11 · 9,108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706264"/>
            <a:ext cx="529971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22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22304A"/>
                </a:solidFill>
                <a:latin typeface="Caveat"/>
              </a:rPr>
              <a:t>What scale showed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727" y="1296591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73% of names start with an initial, which carries little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727" y="1686967"/>
            <a:ext cx="5259134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Full given names carry as much as surnames and help predict them (+0.22)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727" y="2382143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Information travels title → tail tokens →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727" y="2769394"/>
            <a:ext cx="5259134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Earlier co-authors make later ones easier, title matters 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72900" y="6467475"/>
            <a:ext cx="138684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47</a:t>
            </a:r>
          </a:p>
        </p:txBody>
      </p:sp>
      <p:sp>
        <p:nvSpPr>
          <p:cNvPr id="15" name="Rectangle 14"/>
          <p:cNvSpPr/>
          <p:nvPr/>
        </p:nvSpPr>
        <p:spPr>
          <a:xfrm rot="21570000">
            <a:off x="1809750" y="5088359"/>
            <a:ext cx="8572500" cy="12192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B2A26"/>
                </a:solidFill>
                <a:latin typeface="Patrick Hand"/>
              </a:rPr>
              <a:t>Line D: the puzzle from 7.1 is explained by name format</a:t>
            </a:r>
          </a:p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The pilot’s “continuation” result was mostly a format effect: for “S. Bree” the surname is a continuation token. Stage 12 P1 now patches single tail positions.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382250" y="209550"/>
            <a:ext cx="1562100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 · Lines A–D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2304A"/>
                </a:solidFill>
                <a:latin typeface="Caveat"/>
              </a:rPr>
              <a:t>Keys and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095375"/>
            <a:ext cx="11292840" cy="2762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2304A">
                    <a:alpha val="75000"/>
                  </a:srgbClr>
                </a:solidFill>
                <a:latin typeface="Patrick Hand"/>
              </a:rPr>
              <a:t>Is the book on the shelf, or is the key failing to get it out?</a:t>
            </a:r>
          </a:p>
        </p:txBody>
      </p:sp>
      <p:grpSp>
        <p:nvGrpSpPr>
          <p:cNvPr id="6" name="Shelf, key and layers"/>
          <p:cNvGrpSpPr/>
          <p:nvPr/>
        </p:nvGrpSpPr>
        <p:grpSpPr>
          <a:xfrm>
            <a:off x="857250" y="1514475"/>
            <a:ext cx="4743450" cy="4514850"/>
            <a:chOff x="857250" y="1514475"/>
            <a:chExt cx="4743450" cy="4514850"/>
          </a:xfrm>
        </p:grpSpPr>
        <p:sp>
          <p:nvSpPr>
            <p:cNvPr id="7" name="TextBox 6"/>
            <p:cNvSpPr txBox="1"/>
            <p:nvPr/>
          </p:nvSpPr>
          <p:spPr>
            <a:xfrm>
              <a:off x="1853089" y="1514475"/>
              <a:ext cx="1437322" cy="2381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A7385"/>
                  </a:solidFill>
                  <a:latin typeface="Patrick Hand"/>
                </a:rPr>
                <a:t>the model’s shelves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47750" y="2247900"/>
              <a:ext cx="209550" cy="66675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295400" y="2362200"/>
              <a:ext cx="209550" cy="5524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504950" y="2190750"/>
              <a:ext cx="209550" cy="72390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809750" y="2305050"/>
              <a:ext cx="209550" cy="60960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057400" y="2152650"/>
              <a:ext cx="209550" cy="76200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343150" y="2419350"/>
              <a:ext cx="209550" cy="49530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571750" y="2228850"/>
              <a:ext cx="285750" cy="685800"/>
            </a:xfrm>
            <a:prstGeom prst="roundRect">
              <a:avLst>
                <a:gd name="adj" fmla="val 10000"/>
              </a:avLst>
            </a:prstGeom>
            <a:solidFill>
              <a:srgbClr val="D9772B"/>
            </a:solidFill>
            <a:ln w="23812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914650" y="2286000"/>
              <a:ext cx="209550" cy="6286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162300" y="2171700"/>
              <a:ext cx="209550" cy="74295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429000" y="2343150"/>
              <a:ext cx="209550" cy="57150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695700" y="2209800"/>
              <a:ext cx="209550" cy="7048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962400" y="2381250"/>
              <a:ext cx="209550" cy="53340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933450" y="2933700"/>
              <a:ext cx="3448050" cy="0"/>
            </a:xfrm>
            <a:prstGeom prst="line">
              <a:avLst/>
            </a:prstGeom>
            <a:ln w="47625">
              <a:solidFill>
                <a:srgbClr val="22304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1047750" y="3486150"/>
              <a:ext cx="209550" cy="57150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95400" y="3371850"/>
              <a:ext cx="209550" cy="68580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543050" y="3543300"/>
              <a:ext cx="209550" cy="5143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90700" y="3314700"/>
              <a:ext cx="209550" cy="74295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095500" y="3429000"/>
              <a:ext cx="209550" cy="62865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343150" y="3505200"/>
              <a:ext cx="209550" cy="5524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628900" y="3352800"/>
              <a:ext cx="209550" cy="70485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876550" y="3467100"/>
              <a:ext cx="209550" cy="59055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124200" y="3390900"/>
              <a:ext cx="209550" cy="66675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409950" y="3524250"/>
              <a:ext cx="209550" cy="533400"/>
            </a:xfrm>
            <a:prstGeom prst="roundRect">
              <a:avLst>
                <a:gd name="adj" fmla="val 13636"/>
              </a:avLst>
            </a:prstGeom>
            <a:solidFill>
              <a:srgbClr val="E8E2D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657600" y="3333750"/>
              <a:ext cx="209550" cy="723900"/>
            </a:xfrm>
            <a:prstGeom prst="roundRect">
              <a:avLst>
                <a:gd name="adj" fmla="val 13636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962400" y="3448050"/>
              <a:ext cx="209550" cy="609600"/>
            </a:xfrm>
            <a:prstGeom prst="roundRect">
              <a:avLst>
                <a:gd name="adj" fmla="val 13636"/>
              </a:avLst>
            </a:prstGeom>
            <a:solidFill>
              <a:srgbClr val="D9DFE8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933450" y="4076700"/>
              <a:ext cx="3448050" cy="0"/>
            </a:xfrm>
            <a:prstGeom prst="line">
              <a:avLst/>
            </a:prstGeom>
            <a:ln w="47625">
              <a:solidFill>
                <a:srgbClr val="22304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91903" y="1943100"/>
              <a:ext cx="1645444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75" b="0" i="0">
                  <a:solidFill>
                    <a:srgbClr val="D9772B"/>
                  </a:solidFill>
                  <a:latin typeface="Patrick Hand"/>
                </a:rPr>
                <a:t>this paper’s authors ①</a:t>
              </a:r>
            </a:p>
          </p:txBody>
        </p:sp>
        <p:sp>
          <p:nvSpPr>
            <p:cNvPr id="35" name="Oval 34"/>
            <p:cNvSpPr/>
            <p:nvPr/>
          </p:nvSpPr>
          <p:spPr>
            <a:xfrm rot="20880000">
              <a:off x="1067689" y="4600053"/>
              <a:ext cx="381000" cy="381000"/>
            </a:xfrm>
            <a:prstGeom prst="ellipse">
              <a:avLst/>
            </a:prstGeom>
            <a:noFill/>
            <a:ln w="57150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 flipV="1">
              <a:off x="1444526" y="4600438"/>
              <a:ext cx="708081" cy="150508"/>
            </a:xfrm>
            <a:prstGeom prst="line">
              <a:avLst/>
            </a:prstGeom>
            <a:ln w="66675">
              <a:solidFill>
                <a:srgbClr val="3C78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/>
            <p:cNvSpPr/>
            <p:nvPr/>
          </p:nvSpPr>
          <p:spPr>
            <a:xfrm>
              <a:off x="1947636" y="4644006"/>
              <a:ext cx="27725" cy="130436"/>
            </a:xfrm>
            <a:custGeom>
              <a:avLst/>
              <a:gdLst/>
              <a:ahLst/>
              <a:cxnLst/>
              <a:rect l="l" t="t" r="r" b="b"/>
              <a:pathLst>
                <a:path w="27725" h="130436">
                  <a:moveTo>
                    <a:pt x="0" y="0"/>
                  </a:moveTo>
                  <a:lnTo>
                    <a:pt x="2310" y="10870"/>
                  </a:lnTo>
                  <a:lnTo>
                    <a:pt x="4621" y="21740"/>
                  </a:lnTo>
                  <a:lnTo>
                    <a:pt x="6931" y="32609"/>
                  </a:lnTo>
                  <a:lnTo>
                    <a:pt x="9242" y="43479"/>
                  </a:lnTo>
                  <a:lnTo>
                    <a:pt x="11552" y="54349"/>
                  </a:lnTo>
                  <a:lnTo>
                    <a:pt x="13863" y="65218"/>
                  </a:lnTo>
                  <a:lnTo>
                    <a:pt x="16173" y="76088"/>
                  </a:lnTo>
                  <a:lnTo>
                    <a:pt x="18483" y="86958"/>
                  </a:lnTo>
                  <a:lnTo>
                    <a:pt x="20794" y="97827"/>
                  </a:lnTo>
                  <a:lnTo>
                    <a:pt x="23104" y="108697"/>
                  </a:lnTo>
                  <a:lnTo>
                    <a:pt x="25415" y="119567"/>
                  </a:lnTo>
                  <a:lnTo>
                    <a:pt x="27725" y="130436"/>
                  </a:lnTo>
                </a:path>
              </a:pathLst>
            </a:custGeom>
            <a:noFill/>
            <a:ln w="57150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078072" y="4616281"/>
              <a:ext cx="19804" cy="93169"/>
            </a:xfrm>
            <a:custGeom>
              <a:avLst/>
              <a:gdLst/>
              <a:ahLst/>
              <a:cxnLst/>
              <a:rect l="l" t="t" r="r" b="b"/>
              <a:pathLst>
                <a:path w="19804" h="93169">
                  <a:moveTo>
                    <a:pt x="0" y="0"/>
                  </a:moveTo>
                  <a:lnTo>
                    <a:pt x="1650" y="7764"/>
                  </a:lnTo>
                  <a:lnTo>
                    <a:pt x="3301" y="15528"/>
                  </a:lnTo>
                  <a:lnTo>
                    <a:pt x="4951" y="23292"/>
                  </a:lnTo>
                  <a:lnTo>
                    <a:pt x="6601" y="31057"/>
                  </a:lnTo>
                  <a:lnTo>
                    <a:pt x="8252" y="38821"/>
                  </a:lnTo>
                  <a:lnTo>
                    <a:pt x="9902" y="46585"/>
                  </a:lnTo>
                  <a:lnTo>
                    <a:pt x="11552" y="54349"/>
                  </a:lnTo>
                  <a:lnTo>
                    <a:pt x="13202" y="62113"/>
                  </a:lnTo>
                  <a:lnTo>
                    <a:pt x="14853" y="69877"/>
                  </a:lnTo>
                  <a:lnTo>
                    <a:pt x="16503" y="77641"/>
                  </a:lnTo>
                  <a:lnTo>
                    <a:pt x="18153" y="85405"/>
                  </a:lnTo>
                  <a:lnTo>
                    <a:pt x="19804" y="93169"/>
                  </a:lnTo>
                </a:path>
              </a:pathLst>
            </a:custGeom>
            <a:noFill/>
            <a:ln w="57150">
              <a:solidFill>
                <a:srgbClr val="3C78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47750" y="5095875"/>
              <a:ext cx="1294924" cy="2381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3C78B4"/>
                  </a:solidFill>
                  <a:latin typeface="Patrick Hand"/>
                </a:rPr>
                <a:t>key = the title ②</a:t>
              </a:r>
            </a:p>
          </p:txBody>
        </p:sp>
        <p:sp>
          <p:nvSpPr>
            <p:cNvPr id="40" name="Freeform 39"/>
            <p:cNvSpPr/>
            <p:nvPr/>
          </p:nvSpPr>
          <p:spPr>
            <a:xfrm>
              <a:off x="2190750" y="2990850"/>
              <a:ext cx="552450" cy="1524000"/>
            </a:xfrm>
            <a:custGeom>
              <a:avLst/>
              <a:gdLst/>
              <a:ahLst/>
              <a:cxnLst/>
              <a:rect l="l" t="t" r="r" b="b"/>
              <a:pathLst>
                <a:path w="552450" h="1524000">
                  <a:moveTo>
                    <a:pt x="0" y="1524000"/>
                  </a:moveTo>
                  <a:lnTo>
                    <a:pt x="18585" y="1501997"/>
                  </a:lnTo>
                  <a:lnTo>
                    <a:pt x="36730" y="1479630"/>
                  </a:lnTo>
                  <a:lnTo>
                    <a:pt x="54436" y="1456915"/>
                  </a:lnTo>
                  <a:lnTo>
                    <a:pt x="71706" y="1433865"/>
                  </a:lnTo>
                  <a:lnTo>
                    <a:pt x="88541" y="1410496"/>
                  </a:lnTo>
                  <a:lnTo>
                    <a:pt x="104944" y="1386823"/>
                  </a:lnTo>
                  <a:lnTo>
                    <a:pt x="120921" y="1362859"/>
                  </a:lnTo>
                  <a:lnTo>
                    <a:pt x="136476" y="1338619"/>
                  </a:lnTo>
                  <a:lnTo>
                    <a:pt x="151614" y="1314117"/>
                  </a:lnTo>
                  <a:lnTo>
                    <a:pt x="166340" y="1289365"/>
                  </a:lnTo>
                  <a:lnTo>
                    <a:pt x="180661" y="1264376"/>
                  </a:lnTo>
                  <a:lnTo>
                    <a:pt x="194582" y="1239162"/>
                  </a:lnTo>
                  <a:lnTo>
                    <a:pt x="208106" y="1213733"/>
                  </a:lnTo>
                  <a:lnTo>
                    <a:pt x="221252" y="1188107"/>
                  </a:lnTo>
                  <a:lnTo>
                    <a:pt x="234011" y="1162286"/>
                  </a:lnTo>
                  <a:lnTo>
                    <a:pt x="246406" y="1136288"/>
                  </a:lnTo>
                  <a:lnTo>
                    <a:pt x="258429" y="1110116"/>
                  </a:lnTo>
                  <a:lnTo>
                    <a:pt x="270102" y="1083786"/>
                  </a:lnTo>
                  <a:lnTo>
                    <a:pt x="281419" y="1057301"/>
                  </a:lnTo>
                  <a:lnTo>
                    <a:pt x="292400" y="1030675"/>
                  </a:lnTo>
                  <a:lnTo>
                    <a:pt x="303042" y="1003911"/>
                  </a:lnTo>
                  <a:lnTo>
                    <a:pt x="313361" y="977021"/>
                  </a:lnTo>
                  <a:lnTo>
                    <a:pt x="323360" y="950011"/>
                  </a:lnTo>
                  <a:lnTo>
                    <a:pt x="333046" y="922887"/>
                  </a:lnTo>
                  <a:lnTo>
                    <a:pt x="342432" y="895658"/>
                  </a:lnTo>
                  <a:lnTo>
                    <a:pt x="351519" y="868327"/>
                  </a:lnTo>
                  <a:lnTo>
                    <a:pt x="360320" y="840903"/>
                  </a:lnTo>
                  <a:lnTo>
                    <a:pt x="368841" y="813391"/>
                  </a:lnTo>
                  <a:lnTo>
                    <a:pt x="377089" y="785795"/>
                  </a:lnTo>
                  <a:lnTo>
                    <a:pt x="385071" y="758122"/>
                  </a:lnTo>
                  <a:lnTo>
                    <a:pt x="392797" y="730376"/>
                  </a:lnTo>
                  <a:lnTo>
                    <a:pt x="400275" y="702562"/>
                  </a:lnTo>
                  <a:lnTo>
                    <a:pt x="407512" y="674684"/>
                  </a:lnTo>
                  <a:lnTo>
                    <a:pt x="414516" y="646747"/>
                  </a:lnTo>
                  <a:lnTo>
                    <a:pt x="421294" y="618754"/>
                  </a:lnTo>
                  <a:lnTo>
                    <a:pt x="427857" y="590710"/>
                  </a:lnTo>
                  <a:lnTo>
                    <a:pt x="434206" y="562617"/>
                  </a:lnTo>
                  <a:lnTo>
                    <a:pt x="440364" y="534481"/>
                  </a:lnTo>
                  <a:lnTo>
                    <a:pt x="446333" y="506305"/>
                  </a:lnTo>
                  <a:lnTo>
                    <a:pt x="452124" y="478091"/>
                  </a:lnTo>
                  <a:lnTo>
                    <a:pt x="457748" y="449844"/>
                  </a:lnTo>
                  <a:lnTo>
                    <a:pt x="463212" y="421565"/>
                  </a:lnTo>
                  <a:lnTo>
                    <a:pt x="468534" y="393259"/>
                  </a:lnTo>
                  <a:lnTo>
                    <a:pt x="473730" y="364930"/>
                  </a:lnTo>
                  <a:lnTo>
                    <a:pt x="478812" y="336580"/>
                  </a:lnTo>
                  <a:lnTo>
                    <a:pt x="483800" y="308214"/>
                  </a:lnTo>
                  <a:lnTo>
                    <a:pt x="488722" y="279836"/>
                  </a:lnTo>
                  <a:lnTo>
                    <a:pt x="493603" y="251450"/>
                  </a:lnTo>
                  <a:lnTo>
                    <a:pt x="498480" y="223064"/>
                  </a:lnTo>
                  <a:lnTo>
                    <a:pt x="503384" y="194683"/>
                  </a:lnTo>
                  <a:lnTo>
                    <a:pt x="508384" y="166319"/>
                  </a:lnTo>
                  <a:lnTo>
                    <a:pt x="513564" y="137987"/>
                  </a:lnTo>
                  <a:lnTo>
                    <a:pt x="519044" y="109711"/>
                  </a:lnTo>
                  <a:lnTo>
                    <a:pt x="525023" y="81538"/>
                  </a:lnTo>
                  <a:lnTo>
                    <a:pt x="531848" y="53558"/>
                  </a:lnTo>
                  <a:lnTo>
                    <a:pt x="540264" y="26022"/>
                  </a:lnTo>
                  <a:lnTo>
                    <a:pt x="552450" y="0"/>
                  </a:lnTo>
                </a:path>
              </a:pathLst>
            </a:custGeom>
            <a:noFill/>
            <a:ln w="28575">
              <a:solidFill>
                <a:srgbClr val="3C78B4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876550" y="2560230"/>
              <a:ext cx="1885950" cy="830670"/>
            </a:xfrm>
            <a:custGeom>
              <a:avLst/>
              <a:gdLst/>
              <a:ahLst/>
              <a:cxnLst/>
              <a:rect l="l" t="t" r="r" b="b"/>
              <a:pathLst>
                <a:path w="1885950" h="830670">
                  <a:moveTo>
                    <a:pt x="0" y="68670"/>
                  </a:moveTo>
                  <a:lnTo>
                    <a:pt x="27722" y="62505"/>
                  </a:lnTo>
                  <a:lnTo>
                    <a:pt x="55499" y="56595"/>
                  </a:lnTo>
                  <a:lnTo>
                    <a:pt x="83330" y="50945"/>
                  </a:lnTo>
                  <a:lnTo>
                    <a:pt x="111214" y="45560"/>
                  </a:lnTo>
                  <a:lnTo>
                    <a:pt x="139148" y="40444"/>
                  </a:lnTo>
                  <a:lnTo>
                    <a:pt x="167132" y="35603"/>
                  </a:lnTo>
                  <a:lnTo>
                    <a:pt x="195162" y="31043"/>
                  </a:lnTo>
                  <a:lnTo>
                    <a:pt x="223238" y="26770"/>
                  </a:lnTo>
                  <a:lnTo>
                    <a:pt x="251356" y="22789"/>
                  </a:lnTo>
                  <a:lnTo>
                    <a:pt x="279515" y="19106"/>
                  </a:lnTo>
                  <a:lnTo>
                    <a:pt x="307712" y="15725"/>
                  </a:lnTo>
                  <a:lnTo>
                    <a:pt x="335945" y="12653"/>
                  </a:lnTo>
                  <a:lnTo>
                    <a:pt x="364209" y="9896"/>
                  </a:lnTo>
                  <a:lnTo>
                    <a:pt x="392504" y="7462"/>
                  </a:lnTo>
                  <a:lnTo>
                    <a:pt x="420825" y="5355"/>
                  </a:lnTo>
                  <a:lnTo>
                    <a:pt x="449168" y="3585"/>
                  </a:lnTo>
                  <a:lnTo>
                    <a:pt x="477531" y="2156"/>
                  </a:lnTo>
                  <a:lnTo>
                    <a:pt x="505910" y="1078"/>
                  </a:lnTo>
                  <a:lnTo>
                    <a:pt x="534299" y="356"/>
                  </a:lnTo>
                  <a:lnTo>
                    <a:pt x="562696" y="0"/>
                  </a:lnTo>
                  <a:lnTo>
                    <a:pt x="591095" y="19"/>
                  </a:lnTo>
                  <a:lnTo>
                    <a:pt x="619491" y="419"/>
                  </a:lnTo>
                  <a:lnTo>
                    <a:pt x="647879" y="1207"/>
                  </a:lnTo>
                  <a:lnTo>
                    <a:pt x="676253" y="2393"/>
                  </a:lnTo>
                  <a:lnTo>
                    <a:pt x="704607" y="3983"/>
                  </a:lnTo>
                  <a:lnTo>
                    <a:pt x="732935" y="5986"/>
                  </a:lnTo>
                  <a:lnTo>
                    <a:pt x="761230" y="8417"/>
                  </a:lnTo>
                  <a:lnTo>
                    <a:pt x="789484" y="11282"/>
                  </a:lnTo>
                  <a:lnTo>
                    <a:pt x="817689" y="14587"/>
                  </a:lnTo>
                  <a:lnTo>
                    <a:pt x="845839" y="18340"/>
                  </a:lnTo>
                  <a:lnTo>
                    <a:pt x="873923" y="22555"/>
                  </a:lnTo>
                  <a:lnTo>
                    <a:pt x="901933" y="27239"/>
                  </a:lnTo>
                  <a:lnTo>
                    <a:pt x="929858" y="32404"/>
                  </a:lnTo>
                  <a:lnTo>
                    <a:pt x="957689" y="38056"/>
                  </a:lnTo>
                  <a:lnTo>
                    <a:pt x="985414" y="44205"/>
                  </a:lnTo>
                  <a:lnTo>
                    <a:pt x="1013022" y="50861"/>
                  </a:lnTo>
                  <a:lnTo>
                    <a:pt x="1040500" y="58031"/>
                  </a:lnTo>
                  <a:lnTo>
                    <a:pt x="1067837" y="65724"/>
                  </a:lnTo>
                  <a:lnTo>
                    <a:pt x="1095019" y="73948"/>
                  </a:lnTo>
                  <a:lnTo>
                    <a:pt x="1122032" y="82712"/>
                  </a:lnTo>
                  <a:lnTo>
                    <a:pt x="1148860" y="92023"/>
                  </a:lnTo>
                  <a:lnTo>
                    <a:pt x="1175491" y="101887"/>
                  </a:lnTo>
                  <a:lnTo>
                    <a:pt x="1201907" y="112310"/>
                  </a:lnTo>
                  <a:lnTo>
                    <a:pt x="1228094" y="123298"/>
                  </a:lnTo>
                  <a:lnTo>
                    <a:pt x="1254034" y="134856"/>
                  </a:lnTo>
                  <a:lnTo>
                    <a:pt x="1279711" y="146988"/>
                  </a:lnTo>
                  <a:lnTo>
                    <a:pt x="1305108" y="159695"/>
                  </a:lnTo>
                  <a:lnTo>
                    <a:pt x="1330206" y="172982"/>
                  </a:lnTo>
                  <a:lnTo>
                    <a:pt x="1354990" y="186847"/>
                  </a:lnTo>
                  <a:lnTo>
                    <a:pt x="1379441" y="201292"/>
                  </a:lnTo>
                  <a:lnTo>
                    <a:pt x="1403540" y="216314"/>
                  </a:lnTo>
                  <a:lnTo>
                    <a:pt x="1427272" y="231910"/>
                  </a:lnTo>
                  <a:lnTo>
                    <a:pt x="1450620" y="248078"/>
                  </a:lnTo>
                  <a:lnTo>
                    <a:pt x="1473565" y="264811"/>
                  </a:lnTo>
                  <a:lnTo>
                    <a:pt x="1496092" y="282102"/>
                  </a:lnTo>
                  <a:lnTo>
                    <a:pt x="1518185" y="299944"/>
                  </a:lnTo>
                  <a:lnTo>
                    <a:pt x="1539829" y="318329"/>
                  </a:lnTo>
                  <a:lnTo>
                    <a:pt x="1561011" y="337245"/>
                  </a:lnTo>
                  <a:lnTo>
                    <a:pt x="1581716" y="356681"/>
                  </a:lnTo>
                  <a:lnTo>
                    <a:pt x="1601933" y="376624"/>
                  </a:lnTo>
                  <a:lnTo>
                    <a:pt x="1621652" y="397061"/>
                  </a:lnTo>
                  <a:lnTo>
                    <a:pt x="1640861" y="417976"/>
                  </a:lnTo>
                  <a:lnTo>
                    <a:pt x="1659552" y="439356"/>
                  </a:lnTo>
                  <a:lnTo>
                    <a:pt x="1677719" y="461184"/>
                  </a:lnTo>
                  <a:lnTo>
                    <a:pt x="1695354" y="483443"/>
                  </a:lnTo>
                  <a:lnTo>
                    <a:pt x="1712452" y="506117"/>
                  </a:lnTo>
                  <a:lnTo>
                    <a:pt x="1729013" y="529187"/>
                  </a:lnTo>
                  <a:lnTo>
                    <a:pt x="1745031" y="552637"/>
                  </a:lnTo>
                  <a:lnTo>
                    <a:pt x="1760506" y="576448"/>
                  </a:lnTo>
                  <a:lnTo>
                    <a:pt x="1775440" y="600603"/>
                  </a:lnTo>
                  <a:lnTo>
                    <a:pt x="1789831" y="625085"/>
                  </a:lnTo>
                  <a:lnTo>
                    <a:pt x="1803685" y="649876"/>
                  </a:lnTo>
                  <a:lnTo>
                    <a:pt x="1817002" y="674958"/>
                  </a:lnTo>
                  <a:lnTo>
                    <a:pt x="1829787" y="700315"/>
                  </a:lnTo>
                  <a:lnTo>
                    <a:pt x="1842047" y="725931"/>
                  </a:lnTo>
                  <a:lnTo>
                    <a:pt x="1853787" y="751790"/>
                  </a:lnTo>
                  <a:lnTo>
                    <a:pt x="1865013" y="777875"/>
                  </a:lnTo>
                  <a:lnTo>
                    <a:pt x="1875731" y="804174"/>
                  </a:lnTo>
                  <a:lnTo>
                    <a:pt x="1885950" y="830670"/>
                  </a:lnTo>
                </a:path>
              </a:pathLst>
            </a:custGeom>
            <a:noFill/>
            <a:ln w="28575">
              <a:solidFill>
                <a:srgbClr val="D9772B"/>
              </a:solidFill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4343400" y="3438525"/>
              <a:ext cx="1257300" cy="698520"/>
            </a:xfrm>
            <a:custGeom>
              <a:avLst/>
              <a:gdLst/>
              <a:ahLst/>
              <a:cxnLst/>
              <a:rect l="l" t="t" r="r" b="b"/>
              <a:pathLst>
                <a:path w="1257300" h="698520">
                  <a:moveTo>
                    <a:pt x="133350" y="0"/>
                  </a:moveTo>
                  <a:lnTo>
                    <a:pt x="162019" y="0"/>
                  </a:lnTo>
                  <a:lnTo>
                    <a:pt x="190687" y="0"/>
                  </a:lnTo>
                  <a:lnTo>
                    <a:pt x="219356" y="0"/>
                  </a:lnTo>
                  <a:lnTo>
                    <a:pt x="248024" y="0"/>
                  </a:lnTo>
                  <a:lnTo>
                    <a:pt x="276693" y="0"/>
                  </a:lnTo>
                  <a:lnTo>
                    <a:pt x="305361" y="0"/>
                  </a:lnTo>
                  <a:lnTo>
                    <a:pt x="334030" y="0"/>
                  </a:lnTo>
                  <a:lnTo>
                    <a:pt x="362699" y="0"/>
                  </a:lnTo>
                  <a:lnTo>
                    <a:pt x="391367" y="0"/>
                  </a:lnTo>
                  <a:lnTo>
                    <a:pt x="420036" y="0"/>
                  </a:lnTo>
                  <a:lnTo>
                    <a:pt x="448704" y="0"/>
                  </a:lnTo>
                  <a:lnTo>
                    <a:pt x="477373" y="0"/>
                  </a:lnTo>
                  <a:lnTo>
                    <a:pt x="506041" y="0"/>
                  </a:lnTo>
                  <a:lnTo>
                    <a:pt x="534710" y="0"/>
                  </a:lnTo>
                  <a:lnTo>
                    <a:pt x="563378" y="0"/>
                  </a:lnTo>
                  <a:lnTo>
                    <a:pt x="592047" y="0"/>
                  </a:lnTo>
                  <a:lnTo>
                    <a:pt x="620716" y="0"/>
                  </a:lnTo>
                  <a:lnTo>
                    <a:pt x="649384" y="0"/>
                  </a:lnTo>
                  <a:lnTo>
                    <a:pt x="678053" y="0"/>
                  </a:lnTo>
                  <a:lnTo>
                    <a:pt x="706721" y="0"/>
                  </a:lnTo>
                  <a:lnTo>
                    <a:pt x="735390" y="0"/>
                  </a:lnTo>
                  <a:lnTo>
                    <a:pt x="764059" y="0"/>
                  </a:lnTo>
                  <a:lnTo>
                    <a:pt x="792727" y="0"/>
                  </a:lnTo>
                  <a:lnTo>
                    <a:pt x="821396" y="0"/>
                  </a:lnTo>
                  <a:lnTo>
                    <a:pt x="850064" y="0"/>
                  </a:lnTo>
                  <a:lnTo>
                    <a:pt x="878733" y="0"/>
                  </a:lnTo>
                  <a:lnTo>
                    <a:pt x="907401" y="0"/>
                  </a:lnTo>
                  <a:lnTo>
                    <a:pt x="936070" y="0"/>
                  </a:lnTo>
                  <a:lnTo>
                    <a:pt x="964738" y="0"/>
                  </a:lnTo>
                  <a:lnTo>
                    <a:pt x="993407" y="0"/>
                  </a:lnTo>
                  <a:lnTo>
                    <a:pt x="1022075" y="0"/>
                  </a:lnTo>
                  <a:lnTo>
                    <a:pt x="1050744" y="0"/>
                  </a:lnTo>
                  <a:lnTo>
                    <a:pt x="1079413" y="0"/>
                  </a:lnTo>
                  <a:lnTo>
                    <a:pt x="1108081" y="0"/>
                  </a:lnTo>
                  <a:lnTo>
                    <a:pt x="1136730" y="607"/>
                  </a:lnTo>
                  <a:lnTo>
                    <a:pt x="1164758" y="6362"/>
                  </a:lnTo>
                  <a:lnTo>
                    <a:pt x="1190896" y="18000"/>
                  </a:lnTo>
                  <a:lnTo>
                    <a:pt x="1213947" y="34951"/>
                  </a:lnTo>
                  <a:lnTo>
                    <a:pt x="1232876" y="56409"/>
                  </a:lnTo>
                  <a:lnTo>
                    <a:pt x="1246804" y="81403"/>
                  </a:lnTo>
                  <a:lnTo>
                    <a:pt x="1255043" y="108804"/>
                  </a:lnTo>
                  <a:lnTo>
                    <a:pt x="1257300" y="137333"/>
                  </a:lnTo>
                  <a:lnTo>
                    <a:pt x="1257300" y="166002"/>
                  </a:lnTo>
                  <a:lnTo>
                    <a:pt x="1257300" y="194670"/>
                  </a:lnTo>
                  <a:lnTo>
                    <a:pt x="1257300" y="223339"/>
                  </a:lnTo>
                  <a:lnTo>
                    <a:pt x="1257300" y="252008"/>
                  </a:lnTo>
                  <a:lnTo>
                    <a:pt x="1257300" y="280676"/>
                  </a:lnTo>
                  <a:lnTo>
                    <a:pt x="1257300" y="309345"/>
                  </a:lnTo>
                  <a:lnTo>
                    <a:pt x="1257300" y="338013"/>
                  </a:lnTo>
                  <a:lnTo>
                    <a:pt x="1257300" y="366682"/>
                  </a:lnTo>
                  <a:lnTo>
                    <a:pt x="1257300" y="395350"/>
                  </a:lnTo>
                  <a:lnTo>
                    <a:pt x="1257210" y="424018"/>
                  </a:lnTo>
                  <a:lnTo>
                    <a:pt x="1253124" y="452338"/>
                  </a:lnTo>
                  <a:lnTo>
                    <a:pt x="1243059" y="479121"/>
                  </a:lnTo>
                  <a:lnTo>
                    <a:pt x="1227495" y="503131"/>
                  </a:lnTo>
                  <a:lnTo>
                    <a:pt x="1207186" y="523286"/>
                  </a:lnTo>
                  <a:lnTo>
                    <a:pt x="1183057" y="538666"/>
                  </a:lnTo>
                  <a:lnTo>
                    <a:pt x="1156197" y="548523"/>
                  </a:lnTo>
                  <a:lnTo>
                    <a:pt x="1127847" y="552392"/>
                  </a:lnTo>
                  <a:lnTo>
                    <a:pt x="1099179" y="552450"/>
                  </a:lnTo>
                  <a:lnTo>
                    <a:pt x="1070511" y="552450"/>
                  </a:lnTo>
                  <a:lnTo>
                    <a:pt x="1041842" y="552450"/>
                  </a:lnTo>
                  <a:lnTo>
                    <a:pt x="1013173" y="552450"/>
                  </a:lnTo>
                  <a:lnTo>
                    <a:pt x="984505" y="552450"/>
                  </a:lnTo>
                  <a:lnTo>
                    <a:pt x="955836" y="552450"/>
                  </a:lnTo>
                  <a:lnTo>
                    <a:pt x="927168" y="552450"/>
                  </a:lnTo>
                  <a:lnTo>
                    <a:pt x="898499" y="552450"/>
                  </a:lnTo>
                  <a:lnTo>
                    <a:pt x="869831" y="552450"/>
                  </a:lnTo>
                  <a:lnTo>
                    <a:pt x="841162" y="552450"/>
                  </a:lnTo>
                  <a:lnTo>
                    <a:pt x="812493" y="552450"/>
                  </a:lnTo>
                  <a:lnTo>
                    <a:pt x="783825" y="552450"/>
                  </a:lnTo>
                  <a:lnTo>
                    <a:pt x="755156" y="552450"/>
                  </a:lnTo>
                  <a:lnTo>
                    <a:pt x="726488" y="552450"/>
                  </a:lnTo>
                  <a:lnTo>
                    <a:pt x="697819" y="552450"/>
                  </a:lnTo>
                  <a:lnTo>
                    <a:pt x="669150" y="552450"/>
                  </a:lnTo>
                  <a:lnTo>
                    <a:pt x="640482" y="552450"/>
                  </a:lnTo>
                  <a:lnTo>
                    <a:pt x="611813" y="552450"/>
                  </a:lnTo>
                  <a:lnTo>
                    <a:pt x="583145" y="552450"/>
                  </a:lnTo>
                  <a:lnTo>
                    <a:pt x="554476" y="552450"/>
                  </a:lnTo>
                  <a:lnTo>
                    <a:pt x="525808" y="552450"/>
                  </a:lnTo>
                  <a:lnTo>
                    <a:pt x="497139" y="552450"/>
                  </a:lnTo>
                  <a:lnTo>
                    <a:pt x="468471" y="552450"/>
                  </a:lnTo>
                  <a:lnTo>
                    <a:pt x="439802" y="552450"/>
                  </a:lnTo>
                  <a:lnTo>
                    <a:pt x="411134" y="552450"/>
                  </a:lnTo>
                  <a:lnTo>
                    <a:pt x="382465" y="552450"/>
                  </a:lnTo>
                  <a:lnTo>
                    <a:pt x="356581" y="558586"/>
                  </a:lnTo>
                  <a:lnTo>
                    <a:pt x="337702" y="580162"/>
                  </a:lnTo>
                  <a:lnTo>
                    <a:pt x="318824" y="601737"/>
                  </a:lnTo>
                  <a:lnTo>
                    <a:pt x="299946" y="623312"/>
                  </a:lnTo>
                  <a:lnTo>
                    <a:pt x="281067" y="644887"/>
                  </a:lnTo>
                  <a:lnTo>
                    <a:pt x="262189" y="666463"/>
                  </a:lnTo>
                  <a:lnTo>
                    <a:pt x="243310" y="688038"/>
                  </a:lnTo>
                  <a:lnTo>
                    <a:pt x="228600" y="698520"/>
                  </a:lnTo>
                  <a:lnTo>
                    <a:pt x="228600" y="669852"/>
                  </a:lnTo>
                  <a:lnTo>
                    <a:pt x="228600" y="641184"/>
                  </a:lnTo>
                  <a:lnTo>
                    <a:pt x="228600" y="612515"/>
                  </a:lnTo>
                  <a:lnTo>
                    <a:pt x="228600" y="583846"/>
                  </a:lnTo>
                  <a:lnTo>
                    <a:pt x="228600" y="555178"/>
                  </a:lnTo>
                  <a:lnTo>
                    <a:pt x="202659" y="552450"/>
                  </a:lnTo>
                  <a:lnTo>
                    <a:pt x="173991" y="552450"/>
                  </a:lnTo>
                  <a:lnTo>
                    <a:pt x="145322" y="552450"/>
                  </a:lnTo>
                  <a:lnTo>
                    <a:pt x="116696" y="551420"/>
                  </a:lnTo>
                  <a:lnTo>
                    <a:pt x="88850" y="544843"/>
                  </a:lnTo>
                  <a:lnTo>
                    <a:pt x="63064" y="532443"/>
                  </a:lnTo>
                  <a:lnTo>
                    <a:pt x="40516" y="514827"/>
                  </a:lnTo>
                  <a:lnTo>
                    <a:pt x="22220" y="492827"/>
                  </a:lnTo>
                  <a:lnTo>
                    <a:pt x="9033" y="467435"/>
                  </a:lnTo>
                  <a:lnTo>
                    <a:pt x="1600" y="439805"/>
                  </a:lnTo>
                  <a:lnTo>
                    <a:pt x="0" y="411219"/>
                  </a:lnTo>
                  <a:lnTo>
                    <a:pt x="0" y="382550"/>
                  </a:lnTo>
                  <a:lnTo>
                    <a:pt x="0" y="353882"/>
                  </a:lnTo>
                  <a:lnTo>
                    <a:pt x="0" y="325213"/>
                  </a:lnTo>
                  <a:lnTo>
                    <a:pt x="0" y="296545"/>
                  </a:lnTo>
                  <a:lnTo>
                    <a:pt x="0" y="267876"/>
                  </a:lnTo>
                  <a:lnTo>
                    <a:pt x="0" y="239208"/>
                  </a:lnTo>
                  <a:lnTo>
                    <a:pt x="0" y="210539"/>
                  </a:lnTo>
                  <a:lnTo>
                    <a:pt x="0" y="181871"/>
                  </a:lnTo>
                  <a:lnTo>
                    <a:pt x="0" y="153202"/>
                  </a:lnTo>
                  <a:lnTo>
                    <a:pt x="287" y="124540"/>
                  </a:lnTo>
                  <a:lnTo>
                    <a:pt x="5200" y="96352"/>
                  </a:lnTo>
                  <a:lnTo>
                    <a:pt x="16048" y="69875"/>
                  </a:lnTo>
                  <a:lnTo>
                    <a:pt x="32306" y="46330"/>
                  </a:lnTo>
                  <a:lnTo>
                    <a:pt x="53193" y="26773"/>
                  </a:lnTo>
                  <a:lnTo>
                    <a:pt x="77760" y="12104"/>
                  </a:lnTo>
                  <a:lnTo>
                    <a:pt x="104899" y="3042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 w="23812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59379" y="3571875"/>
              <a:ext cx="834866" cy="2571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 i="0">
                  <a:solidFill>
                    <a:srgbClr val="22304A">
                      <a:alpha val="55000"/>
                    </a:srgbClr>
                  </a:solidFill>
                  <a:latin typeface="Patrick Hand"/>
                </a:rPr>
                <a:t>S. Bree…?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01929" y="4229100"/>
              <a:ext cx="1579721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6A7385"/>
                  </a:solidFill>
                  <a:latin typeface="Patrick Hand"/>
                </a:rPr>
                <a:t>handed out late, faintly ③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800350" y="4152900"/>
              <a:ext cx="1251109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6A7385"/>
                  </a:solidFill>
                  <a:latin typeface="Patrick Hand"/>
                </a:rPr>
                <a:t>attention → MLP ④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57250" y="5353050"/>
              <a:ext cx="429577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6A7385"/>
                  </a:solidFill>
                  <a:latin typeface="Patrick Hand"/>
                </a:rPr>
                <a:t>layers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57250" y="5581650"/>
              <a:ext cx="4572000" cy="190500"/>
            </a:xfrm>
            <a:prstGeom prst="roundRect">
              <a:avLst>
                <a:gd name="adj" fmla="val 50000"/>
              </a:avLst>
            </a:prstGeom>
            <a:solidFill>
              <a:srgbClr val="E4EAF2"/>
            </a:solidFill>
            <a:ln w="14287">
              <a:solidFill>
                <a:srgbClr val="2230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048125" y="5581650"/>
              <a:ext cx="581025" cy="190500"/>
            </a:xfrm>
            <a:prstGeom prst="rect">
              <a:avLst/>
            </a:prstGeom>
            <a:solidFill>
              <a:srgbClr val="3C78B4">
                <a:alpha val="7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991100" y="5581650"/>
              <a:ext cx="361950" cy="190500"/>
            </a:xfrm>
            <a:prstGeom prst="rect">
              <a:avLst/>
            </a:prstGeom>
            <a:solidFill>
              <a:srgbClr val="D977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57250" y="5838825"/>
              <a:ext cx="177641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50" b="0" i="0">
                  <a:solidFill>
                    <a:srgbClr val="6A7385"/>
                  </a:solidFill>
                  <a:latin typeface="Patrick Hand"/>
                </a:rPr>
                <a:t>L0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575209" y="5829300"/>
              <a:ext cx="1053941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3C78B4"/>
                  </a:solidFill>
                  <a:latin typeface="Patrick Hand"/>
                </a:rPr>
                <a:t>L44–52 key turns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714875" y="5829300"/>
              <a:ext cx="714375" cy="2000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125" b="0" i="0">
                  <a:solidFill>
                    <a:srgbClr val="D9772B"/>
                  </a:solidFill>
                  <a:latin typeface="Patrick Hand"/>
                </a:rPr>
                <a:t>L57–61 said</a:t>
              </a:r>
            </a:p>
          </p:txBody>
        </p:sp>
      </p:grpSp>
      <p:sp>
        <p:nvSpPr>
          <p:cNvPr id="53" name="Rounded Rectangle 52"/>
          <p:cNvSpPr/>
          <p:nvPr/>
        </p:nvSpPr>
        <p:spPr>
          <a:xfrm>
            <a:off x="5867400" y="1543050"/>
            <a:ext cx="342900" cy="3429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9050" tIns="19050" rIns="19050" bIns="1905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2304A"/>
                </a:solidFill>
                <a:latin typeface="Patrick Hand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4600" y="1543050"/>
            <a:ext cx="2298192" cy="295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2304A"/>
                </a:solidFill>
                <a:latin typeface="Patrick Hand"/>
              </a:rPr>
              <a:t>Is the book on the shelf? </a:t>
            </a:r>
            <a:r>
              <a:rPr sz="1725" b="1" i="0">
                <a:solidFill>
                  <a:srgbClr val="3E8E4E"/>
                </a:solidFill>
                <a:latin typeface="Patrick Hand"/>
              </a:rPr>
              <a:t>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4600" y="1836390"/>
            <a:ext cx="5408676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304A">
                    <a:alpha val="85000"/>
                  </a:srgbClr>
                </a:solidFill>
                <a:latin typeface="Patrick Hand"/>
              </a:rPr>
              <a:t>True title beats false titles (≈0.44 at L62); a probe on the title token reads paper-specific authors from L24 (re-checked)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4600" y="2301180"/>
            <a:ext cx="5408676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Lines A, B · Stage 5, 7.3, 8D, 10, 11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67400" y="2653605"/>
            <a:ext cx="342900" cy="3429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9050" tIns="19050" rIns="19050" bIns="1905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2304A"/>
                </a:solidFill>
                <a:latin typeface="Patrick Hand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600" y="2653605"/>
            <a:ext cx="4457700" cy="295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2304A"/>
                </a:solidFill>
                <a:latin typeface="Patrick Hand"/>
              </a:rPr>
              <a:t>Key = the title, read into the name positions at L44–52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4600" y="2946946"/>
            <a:ext cx="5408676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304A">
                    <a:alpha val="85000"/>
                  </a:srgbClr>
                </a:solidFill>
                <a:latin typeface="Patrick Hand"/>
              </a:rPr>
              <a:t>Whole prompt: 0.83 at L48, ≈1.0 from L52; name positions alone 0.61 → 0.85; ‘:’ alone ≤ 0.17; knockout after L52 costs almost nothing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4600" y="3411736"/>
            <a:ext cx="5408676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Line C · Stage 11, 12 P1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67400" y="3764161"/>
            <a:ext cx="342900" cy="3429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9050" tIns="19050" rIns="19050" bIns="1905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2304A"/>
                </a:solidFill>
                <a:latin typeface="Patrick Hand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4600" y="3764161"/>
            <a:ext cx="2971800" cy="295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2304A"/>
                </a:solidFill>
                <a:latin typeface="Patrick Hand"/>
              </a:rPr>
              <a:t>Book there but stuck? </a:t>
            </a:r>
            <a:r>
              <a:rPr sz="1725" b="1" i="0">
                <a:solidFill>
                  <a:srgbClr val="C84A3E"/>
                </a:solidFill>
                <a:latin typeface="Patrick Hand"/>
              </a:rPr>
              <a:t>Not supported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24600" y="4057501"/>
            <a:ext cx="5408676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304A">
                    <a:alpha val="85000"/>
                  </a:srgbClr>
                </a:solidFill>
                <a:latin typeface="Patrick Hand"/>
              </a:rPr>
              <a:t>Target − control ≈ 0 in middle layers, grows only at L57–61 (+0.21 at output): retrieval itself is weak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4600" y="4522291"/>
            <a:ext cx="5408676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Lines A, C · Stage 7.2, 10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67400" y="4874716"/>
            <a:ext cx="342900" cy="3429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9050" tIns="19050" rIns="19050" bIns="1905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2304A"/>
                </a:solidFill>
                <a:latin typeface="Patrick Hand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4600" y="4874716"/>
            <a:ext cx="2199132" cy="2952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2304A"/>
                </a:solidFill>
                <a:latin typeface="Patrick Hand"/>
              </a:rPr>
              <a:t>Which shelf? </a:t>
            </a:r>
            <a:r>
              <a:rPr sz="1725" b="1" i="0">
                <a:solidFill>
                  <a:srgbClr val="6A7385"/>
                </a:solidFill>
                <a:latin typeface="Patrick Hand"/>
              </a:rPr>
              <a:t>Both, in order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4600" y="5169471"/>
            <a:ext cx="5408676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304A">
                    <a:alpha val="85000"/>
                  </a:srgbClr>
                </a:solidFill>
                <a:latin typeface="Patrick Hand"/>
              </a:rPr>
              <a:t>Attention brings the title in at L48 (0.23); MLP takes over at L52–56 (0.18, 0.22). One-layer patching is a lower bound; whether the MLP step is memory lookup is not yet separable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4600" y="5864275"/>
            <a:ext cx="5408676" cy="2000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Stage 12 P2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67400" y="6214318"/>
            <a:ext cx="5884164" cy="390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2304A">
                    <a:alpha val="70000"/>
                  </a:srgbClr>
                </a:solidFill>
                <a:latin typeface="Patrick Hand"/>
              </a:rPr>
              <a:t>Caveat: a readout not finding it ≠ absent. Middle layers may hold the task or the paper’s identity, which rank-based lenses cannot score.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82425" y="6467475"/>
            <a:ext cx="128778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48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096625" y="209550"/>
            <a:ext cx="8477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2304A"/>
                </a:solidFill>
                <a:latin typeface="Caveat"/>
              </a:rPr>
              <a:t>What the small samples taught us to watch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852" y="1169938"/>
            <a:ext cx="549687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Single-paper leverage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one paper = 71% of the Stage 4 L56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852" y="1560314"/>
            <a:ext cx="549687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Tail-driven contrasts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Stage 8 A−B disappears after removing 10 of 100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852" y="2255490"/>
            <a:ext cx="549687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Forking paths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L56 inspected repeatedly, then made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52" y="2645866"/>
            <a:ext cx="549687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Candidate artefacts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100 false names share ~46 first tokens; 3% tie with 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2877" y="1169938"/>
            <a:ext cx="549687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Label noise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strict “pass” 25.5% in the 0–2 citation 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2877" y="1557189"/>
            <a:ext cx="549687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Partial coverage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first-listed author stands in for the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2877" y="1944439"/>
            <a:ext cx="5496878" cy="314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Metric choice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KL fidelity and author ranking disagree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2877" y="2334816"/>
            <a:ext cx="5496878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97168" indent="-197168"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>
                <a:solidFill>
                  <a:srgbClr val="22304A"/>
                </a:solidFill>
                <a:latin typeface="Patrick Hand"/>
              </a:rPr>
              <a:t>•  </a:t>
            </a:r>
            <a:r>
              <a:rPr sz="1725" b="1" i="0">
                <a:solidFill>
                  <a:srgbClr val="22304A"/>
                </a:solidFill>
                <a:latin typeface="Patrick Hand"/>
              </a:rPr>
              <a:t>Protocol drift</a:t>
            </a:r>
            <a:r>
              <a:rPr sz="1725" b="0" i="0">
                <a:solidFill>
                  <a:srgbClr val="22304A"/>
                </a:solidFill>
                <a:latin typeface="Patrick Hand"/>
              </a:rPr>
              <a:t>: primary endpoint changed between README and run</a:t>
            </a:r>
          </a:p>
        </p:txBody>
      </p:sp>
      <p:sp>
        <p:nvSpPr>
          <p:cNvPr id="13" name="Rectangle 12"/>
          <p:cNvSpPr/>
          <p:nvPr/>
        </p:nvSpPr>
        <p:spPr>
          <a:xfrm rot="72000">
            <a:off x="1809750" y="3629248"/>
            <a:ext cx="8572500" cy="1143000"/>
          </a:xfrm>
          <a:prstGeom prst="rect">
            <a:avLst/>
          </a:prstGeom>
          <a:solidFill>
            <a:srgbClr val="F2E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tIns="152400" rIns="190500" bIns="152400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B2A26"/>
                </a:solidFill>
                <a:latin typeface="Patrick Hand"/>
              </a:rPr>
              <a:t>Stage 10 answered each one by design: full cohort, every author and token, all layers reported, full-vocabulary ranks, within-bin comparison, frozen inputs with parity checks. What it cannot fix: groups still come from one labelling run of the same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1950" y="6467475"/>
            <a:ext cx="118872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49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_a3f18a89f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096625" y="209550"/>
            <a:ext cx="847725" cy="333375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9B7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2400" tIns="47625" rIns="152400" bIns="47625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7BD8"/>
                </a:solidFill>
                <a:latin typeface="Patrick Han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438150"/>
            <a:ext cx="11292840" cy="600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2304A"/>
                </a:solidFill>
                <a:latin typeface="Caveat"/>
              </a:rPr>
              <a:t>Small vs large, in one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6750" y="1116285"/>
          <a:ext cx="10868025" cy="33242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257425"/>
                <a:gridCol w="2771775"/>
                <a:gridCol w="4086225"/>
                <a:gridCol w="1752600"/>
              </a:tblGrid>
              <a:tr h="3429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Finding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Stages 1–9 (20–200 papers)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Stages 10–11 (9,108 papers)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2304A">
                              <a:alpha val="70000"/>
                            </a:srgbClr>
                          </a:solidFill>
                          <a:latin typeface="Patrick Hand"/>
                        </a:rPr>
                        <a:t>Verdict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22304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True title helps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+9.3 pp pilot, +5.2 pp new 200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≈0.44 title-specific at L62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3E8E4E"/>
                          </a:solidFill>
                          <a:latin typeface="Patrick Hand"/>
                        </a:rPr>
                        <a:t>confirmed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Recognised &gt; not recognised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uncertain, tail-driven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+0.21 at output, ≈0 middle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3E8E4E"/>
                          </a:solidFill>
                          <a:latin typeface="Patrick Hand"/>
                        </a:rPr>
                        <a:t>confirmed, late only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Same groups (A vs B, R0 only)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A − B as above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+0.20 at output, ≈0 middle; R1 adds strength, not timing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3E8E4E"/>
                          </a:solidFill>
                          <a:latin typeface="Patrick Hand"/>
                        </a:rPr>
                        <a:t>comparable, unchanged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Key layer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L56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starts L56, rises L57–61; read L24–50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D9772B"/>
                          </a:solidFill>
                          <a:latin typeface="Patrick Hand"/>
                        </a:rPr>
                        <a:t>refined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J-Lens over Vanilla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no increment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more name shape, no paper identity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3E8E4E"/>
                          </a:solidFill>
                          <a:latin typeface="Patrick Hand"/>
                        </a:rPr>
                        <a:t>consistent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First vs rest of name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gap on continuation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explained by initials vs given names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D9772B"/>
                          </a:solidFill>
                          <a:latin typeface="Patrick Hand"/>
                        </a:rPr>
                        <a:t>explained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Citations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low−high inconclusive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monotonic, ρ = 0.45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D9772B"/>
                          </a:solidFill>
                          <a:latin typeface="Patrick Hand"/>
                        </a:rPr>
                        <a:t>resolved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  <a:tr h="371475"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Lens stability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split-half one split; Stage 9 only Fit A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22304A"/>
                          </a:solidFill>
                          <a:latin typeface="Patrick Hand"/>
                        </a:rPr>
                        <a:t>three Jacobian lenses agree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lIns="0" tIns="57150" rIns="19050" bIns="57150" anchor="t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C84A3E"/>
                          </a:solidFill>
                          <a:latin typeface="Patrick Hand"/>
                        </a:rPr>
                        <a:t>still to verify</a:t>
                      </a:r>
                    </a:p>
                  </a:txBody>
                  <a:tcPr anchor="t" marL="0" marT="57150" marR="19050" marB="571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AAB4C5">
                          <a:alpha val="45000"/>
                        </a:srgbClr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63375" y="6467475"/>
            <a:ext cx="148590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2304A">
                    <a:alpha val="60000"/>
                  </a:srgbClr>
                </a:solidFill>
                <a:latin typeface="Patrick Hand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